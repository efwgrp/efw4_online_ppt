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tags/tag9.xml" ContentType="application/vnd.openxmlformats-officedocument.presentationml.tags+xml"/>
  <Override PartName="/ppt/notesSlides/notesSlide8.xml" ContentType="application/vnd.openxmlformats-officedocument.presentationml.notesSlide+xml"/>
  <Override PartName="/ppt/tags/tag10.xml" ContentType="application/vnd.openxmlformats-officedocument.presentationml.tags+xml"/>
  <Override PartName="/ppt/notesSlides/notesSlide9.xml" ContentType="application/vnd.openxmlformats-officedocument.presentationml.notesSlide+xml"/>
  <Override PartName="/ppt/tags/tag11.xml" ContentType="application/vnd.openxmlformats-officedocument.presentationml.tags+xml"/>
  <Override PartName="/ppt/notesSlides/notesSlide10.xml" ContentType="application/vnd.openxmlformats-officedocument.presentationml.notesSlide+xml"/>
  <Override PartName="/ppt/tags/tag12.xml" ContentType="application/vnd.openxmlformats-officedocument.presentationml.tags+xml"/>
  <Override PartName="/ppt/notesSlides/notesSlide11.xml" ContentType="application/vnd.openxmlformats-officedocument.presentationml.notesSlide+xml"/>
  <Override PartName="/ppt/tags/tag13.xml" ContentType="application/vnd.openxmlformats-officedocument.presentationml.tags+xml"/>
  <Override PartName="/ppt/notesSlides/notesSlide12.xml" ContentType="application/vnd.openxmlformats-officedocument.presentationml.notesSlide+xml"/>
  <Override PartName="/ppt/tags/tag14.xml" ContentType="application/vnd.openxmlformats-officedocument.presentationml.tags+xml"/>
  <Override PartName="/ppt/notesSlides/notesSlide13.xml" ContentType="application/vnd.openxmlformats-officedocument.presentationml.notesSlide+xml"/>
  <Override PartName="/ppt/tags/tag15.xml" ContentType="application/vnd.openxmlformats-officedocument.presentationml.tags+xml"/>
  <Override PartName="/ppt/notesSlides/notesSlide14.xml" ContentType="application/vnd.openxmlformats-officedocument.presentationml.notesSlide+xml"/>
  <Override PartName="/ppt/tags/tag16.xml" ContentType="application/vnd.openxmlformats-officedocument.presentationml.tags+xml"/>
  <Override PartName="/ppt/notesSlides/notesSlide15.xml" ContentType="application/vnd.openxmlformats-officedocument.presentationml.notesSlide+xml"/>
  <Override PartName="/ppt/tags/tag17.xml" ContentType="application/vnd.openxmlformats-officedocument.presentationml.tags+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51" r:id="rId1"/>
  </p:sldMasterIdLst>
  <p:notesMasterIdLst>
    <p:notesMasterId r:id="rId18"/>
  </p:notesMasterIdLst>
  <p:handoutMasterIdLst>
    <p:handoutMasterId r:id="rId19"/>
  </p:handoutMasterIdLst>
  <p:sldIdLst>
    <p:sldId id="392" r:id="rId2"/>
    <p:sldId id="417" r:id="rId3"/>
    <p:sldId id="410" r:id="rId4"/>
    <p:sldId id="434" r:id="rId5"/>
    <p:sldId id="406" r:id="rId6"/>
    <p:sldId id="422" r:id="rId7"/>
    <p:sldId id="425" r:id="rId8"/>
    <p:sldId id="415" r:id="rId9"/>
    <p:sldId id="426" r:id="rId10"/>
    <p:sldId id="428" r:id="rId11"/>
    <p:sldId id="427" r:id="rId12"/>
    <p:sldId id="433" r:id="rId13"/>
    <p:sldId id="416" r:id="rId14"/>
    <p:sldId id="430" r:id="rId15"/>
    <p:sldId id="431" r:id="rId16"/>
    <p:sldId id="432" r:id="rId17"/>
  </p:sldIdLst>
  <p:sldSz cx="9144000" cy="6858000" type="screen4x3"/>
  <p:notesSz cx="7099300" cy="10234613"/>
  <p:custDataLst>
    <p:tags r:id="rId20"/>
  </p:custDataLst>
  <p:defaultTextStyle>
    <a:defPPr>
      <a:defRPr lang="ja-JP"/>
    </a:defPPr>
    <a:lvl1pPr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1pPr>
    <a:lvl2pPr marL="4572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2pPr>
    <a:lvl3pPr marL="9144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3pPr>
    <a:lvl4pPr marL="13716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4pPr>
    <a:lvl5pPr marL="18288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5pPr>
    <a:lvl6pPr marL="2286000" algn="l" defTabSz="914400" rtl="0" eaLnBrk="1" latinLnBrk="0" hangingPunct="1">
      <a:defRPr kumimoji="1" kern="1200">
        <a:solidFill>
          <a:schemeClr val="tx1"/>
        </a:solidFill>
        <a:latin typeface="Arial" charset="0"/>
        <a:ea typeface="ＭＳ Ｐゴシック" pitchFamily="50" charset="-128"/>
        <a:cs typeface="+mn-cs"/>
      </a:defRPr>
    </a:lvl6pPr>
    <a:lvl7pPr marL="2743200" algn="l" defTabSz="914400" rtl="0" eaLnBrk="1" latinLnBrk="0" hangingPunct="1">
      <a:defRPr kumimoji="1" kern="1200">
        <a:solidFill>
          <a:schemeClr val="tx1"/>
        </a:solidFill>
        <a:latin typeface="Arial" charset="0"/>
        <a:ea typeface="ＭＳ Ｐゴシック" pitchFamily="50" charset="-128"/>
        <a:cs typeface="+mn-cs"/>
      </a:defRPr>
    </a:lvl7pPr>
    <a:lvl8pPr marL="3200400" algn="l" defTabSz="914400" rtl="0" eaLnBrk="1" latinLnBrk="0" hangingPunct="1">
      <a:defRPr kumimoji="1" kern="1200">
        <a:solidFill>
          <a:schemeClr val="tx1"/>
        </a:solidFill>
        <a:latin typeface="Arial" charset="0"/>
        <a:ea typeface="ＭＳ Ｐゴシック" pitchFamily="50" charset="-128"/>
        <a:cs typeface="+mn-cs"/>
      </a:defRPr>
    </a:lvl8pPr>
    <a:lvl9pPr marL="3657600" algn="l" defTabSz="914400" rtl="0" eaLnBrk="1" latinLnBrk="0" hangingPunct="1">
      <a:defRPr kumimoji="1" kern="1200">
        <a:solidFill>
          <a:schemeClr val="tx1"/>
        </a:solidFill>
        <a:latin typeface="Arial" charset="0"/>
        <a:ea typeface="ＭＳ Ｐゴシック" pitchFamily="50"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224">
          <p15:clr>
            <a:srgbClr val="A4A3A4"/>
          </p15:clr>
        </p15:guide>
        <p15:guide id="2" pos="2237">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99"/>
    <a:srgbClr val="FF9900"/>
    <a:srgbClr val="006600"/>
    <a:srgbClr val="0000FF"/>
    <a:srgbClr val="007033"/>
    <a:srgbClr val="008A3E"/>
    <a:srgbClr val="609ED6"/>
    <a:srgbClr val="99CCFF"/>
    <a:srgbClr val="66CCFF"/>
    <a:srgbClr val="0033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853" autoAdjust="0"/>
    <p:restoredTop sz="99643" autoAdjust="0"/>
  </p:normalViewPr>
  <p:slideViewPr>
    <p:cSldViewPr snapToGrid="0">
      <p:cViewPr varScale="1">
        <p:scale>
          <a:sx n="78" d="100"/>
          <a:sy n="78" d="100"/>
        </p:scale>
        <p:origin x="1324" y="64"/>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55" d="100"/>
          <a:sy n="55" d="100"/>
        </p:scale>
        <p:origin x="-2856" y="-78"/>
      </p:cViewPr>
      <p:guideLst>
        <p:guide orient="horz" pos="3224"/>
        <p:guide pos="2237"/>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gs" Target="tags/tag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bwMode="auto">
          <a:xfrm>
            <a:off x="0" y="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t" anchorCtr="0" compatLnSpc="1">
            <a:prstTxWarp prst="textNoShape">
              <a:avLst/>
            </a:prstTxWarp>
          </a:bodyPr>
          <a:lstStyle>
            <a:lvl1pPr defTabSz="946150" eaLnBrk="1" hangingPunct="1">
              <a:defRPr sz="1200">
                <a:latin typeface="Calibri" pitchFamily="34" charset="0"/>
              </a:defRPr>
            </a:lvl1pPr>
          </a:lstStyle>
          <a:p>
            <a:pPr>
              <a:defRPr/>
            </a:pPr>
            <a:endParaRPr lang="en-US" altLang="ja-JP"/>
          </a:p>
        </p:txBody>
      </p:sp>
      <p:sp>
        <p:nvSpPr>
          <p:cNvPr id="3" name="日付プレースホルダー 2"/>
          <p:cNvSpPr>
            <a:spLocks noGrp="1"/>
          </p:cNvSpPr>
          <p:nvPr>
            <p:ph type="dt" sz="quarter" idx="1"/>
          </p:nvPr>
        </p:nvSpPr>
        <p:spPr bwMode="auto">
          <a:xfrm>
            <a:off x="4021138" y="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t" anchorCtr="0" compatLnSpc="1">
            <a:prstTxWarp prst="textNoShape">
              <a:avLst/>
            </a:prstTxWarp>
          </a:bodyPr>
          <a:lstStyle>
            <a:lvl1pPr algn="r" defTabSz="946150" eaLnBrk="1" hangingPunct="1">
              <a:defRPr sz="1200">
                <a:latin typeface="Calibri" pitchFamily="34" charset="0"/>
              </a:defRPr>
            </a:lvl1pPr>
          </a:lstStyle>
          <a:p>
            <a:pPr>
              <a:defRPr/>
            </a:pPr>
            <a:fld id="{21EEA4EC-110F-4EBE-8324-45D9533D5526}" type="datetimeFigureOut">
              <a:rPr lang="ja-JP" altLang="en-US"/>
              <a:pPr>
                <a:defRPr/>
              </a:pPr>
              <a:t>2025/12/28</a:t>
            </a:fld>
            <a:endParaRPr lang="en-US" altLang="ja-JP"/>
          </a:p>
        </p:txBody>
      </p:sp>
      <p:sp>
        <p:nvSpPr>
          <p:cNvPr id="4" name="フッター プレースホルダー 3"/>
          <p:cNvSpPr>
            <a:spLocks noGrp="1"/>
          </p:cNvSpPr>
          <p:nvPr>
            <p:ph type="ftr" sz="quarter" idx="2"/>
          </p:nvPr>
        </p:nvSpPr>
        <p:spPr bwMode="auto">
          <a:xfrm>
            <a:off x="0"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b" anchorCtr="0" compatLnSpc="1">
            <a:prstTxWarp prst="textNoShape">
              <a:avLst/>
            </a:prstTxWarp>
          </a:bodyPr>
          <a:lstStyle>
            <a:lvl1pPr defTabSz="946150" eaLnBrk="1" hangingPunct="1">
              <a:defRPr sz="1200">
                <a:latin typeface="Calibri" pitchFamily="34" charset="0"/>
              </a:defRPr>
            </a:lvl1pPr>
          </a:lstStyle>
          <a:p>
            <a:pPr>
              <a:defRPr/>
            </a:pPr>
            <a:endParaRPr lang="en-US" altLang="ja-JP"/>
          </a:p>
        </p:txBody>
      </p:sp>
      <p:sp>
        <p:nvSpPr>
          <p:cNvPr id="5" name="スライド番号プレースホルダー 4"/>
          <p:cNvSpPr>
            <a:spLocks noGrp="1"/>
          </p:cNvSpPr>
          <p:nvPr>
            <p:ph type="sldNum" sz="quarter" idx="3"/>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b" anchorCtr="0" compatLnSpc="1">
            <a:prstTxWarp prst="textNoShape">
              <a:avLst/>
            </a:prstTxWarp>
          </a:bodyPr>
          <a:lstStyle>
            <a:lvl1pPr algn="r" defTabSz="946150" eaLnBrk="1" hangingPunct="1">
              <a:defRPr sz="1200">
                <a:latin typeface="Calibri" pitchFamily="34" charset="0"/>
              </a:defRPr>
            </a:lvl1pPr>
          </a:lstStyle>
          <a:p>
            <a:pPr>
              <a:defRPr/>
            </a:pPr>
            <a:fld id="{C68A9FDE-10FD-45DA-A1F0-F8F5C3264679}" type="slidenum">
              <a:rPr lang="ja-JP" altLang="en-US"/>
              <a:pPr>
                <a:defRPr/>
              </a:pPr>
              <a:t>‹#›</a:t>
            </a:fld>
            <a:endParaRPr lang="en-US" altLang="ja-JP"/>
          </a:p>
        </p:txBody>
      </p:sp>
    </p:spTree>
    <p:extLst>
      <p:ext uri="{BB962C8B-B14F-4D97-AF65-F5344CB8AC3E}">
        <p14:creationId xmlns:p14="http://schemas.microsoft.com/office/powerpoint/2010/main" val="113561263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bwMode="auto">
          <a:xfrm>
            <a:off x="0" y="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t" anchorCtr="0" compatLnSpc="1">
            <a:prstTxWarp prst="textNoShape">
              <a:avLst/>
            </a:prstTxWarp>
          </a:bodyPr>
          <a:lstStyle>
            <a:lvl1pPr defTabSz="946150" eaLnBrk="1" hangingPunct="1">
              <a:defRPr sz="1200">
                <a:latin typeface="Calibri" pitchFamily="34" charset="0"/>
              </a:defRPr>
            </a:lvl1pPr>
          </a:lstStyle>
          <a:p>
            <a:pPr>
              <a:defRPr/>
            </a:pPr>
            <a:endParaRPr lang="en-US" altLang="ja-JP"/>
          </a:p>
        </p:txBody>
      </p:sp>
      <p:sp>
        <p:nvSpPr>
          <p:cNvPr id="3" name="日付プレースホルダー 2"/>
          <p:cNvSpPr>
            <a:spLocks noGrp="1"/>
          </p:cNvSpPr>
          <p:nvPr>
            <p:ph type="dt" idx="1"/>
          </p:nvPr>
        </p:nvSpPr>
        <p:spPr bwMode="auto">
          <a:xfrm>
            <a:off x="4021138" y="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t" anchorCtr="0" compatLnSpc="1">
            <a:prstTxWarp prst="textNoShape">
              <a:avLst/>
            </a:prstTxWarp>
          </a:bodyPr>
          <a:lstStyle>
            <a:lvl1pPr algn="r" defTabSz="946150" eaLnBrk="1" hangingPunct="1">
              <a:defRPr sz="1200">
                <a:latin typeface="Calibri" pitchFamily="34" charset="0"/>
              </a:defRPr>
            </a:lvl1pPr>
          </a:lstStyle>
          <a:p>
            <a:pPr>
              <a:defRPr/>
            </a:pPr>
            <a:fld id="{905D0ECA-68A4-4E95-906C-2D1519606506}" type="datetimeFigureOut">
              <a:rPr lang="ja-JP" altLang="en-US"/>
              <a:pPr>
                <a:defRPr/>
              </a:pPr>
              <a:t>2025/12/28</a:t>
            </a:fld>
            <a:endParaRPr lang="en-US" altLang="ja-JP"/>
          </a:p>
        </p:txBody>
      </p:sp>
      <p:sp>
        <p:nvSpPr>
          <p:cNvPr id="4" name="スライド イメージ プレースホルダー 3"/>
          <p:cNvSpPr>
            <a:spLocks noGrp="1" noRot="1" noChangeAspect="1"/>
          </p:cNvSpPr>
          <p:nvPr>
            <p:ph type="sldImg" idx="2"/>
          </p:nvPr>
        </p:nvSpPr>
        <p:spPr>
          <a:xfrm>
            <a:off x="990600" y="768350"/>
            <a:ext cx="5118100" cy="3836988"/>
          </a:xfrm>
          <a:prstGeom prst="rect">
            <a:avLst/>
          </a:prstGeom>
          <a:noFill/>
          <a:ln w="12700">
            <a:solidFill>
              <a:prstClr val="black"/>
            </a:solidFill>
          </a:ln>
        </p:spPr>
        <p:txBody>
          <a:bodyPr vert="horz" lIns="91440" tIns="45720" rIns="91440" bIns="45720" rtlCol="0" anchor="ctr"/>
          <a:lstStyle/>
          <a:p>
            <a:pPr lvl="0"/>
            <a:endParaRPr lang="ja-JP" altLang="en-US" noProof="0" dirty="0"/>
          </a:p>
        </p:txBody>
      </p:sp>
      <p:sp>
        <p:nvSpPr>
          <p:cNvPr id="5" name="ノート プレースホルダー 4"/>
          <p:cNvSpPr>
            <a:spLocks noGrp="1"/>
          </p:cNvSpPr>
          <p:nvPr>
            <p:ph type="body" sz="quarter" idx="3"/>
          </p:nvPr>
        </p:nvSpPr>
        <p:spPr bwMode="auto">
          <a:xfrm>
            <a:off x="709613" y="4860925"/>
            <a:ext cx="5680075" cy="4605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t" anchorCtr="0" compatLnSpc="1">
            <a:prstTxWarp prst="textNoShape">
              <a:avLst/>
            </a:prstTxWarp>
          </a:body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bwMode="auto">
          <a:xfrm>
            <a:off x="0"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b" anchorCtr="0" compatLnSpc="1">
            <a:prstTxWarp prst="textNoShape">
              <a:avLst/>
            </a:prstTxWarp>
          </a:bodyPr>
          <a:lstStyle>
            <a:lvl1pPr defTabSz="946150" eaLnBrk="1" hangingPunct="1">
              <a:defRPr sz="1200">
                <a:latin typeface="Calibri" pitchFamily="34" charset="0"/>
              </a:defRPr>
            </a:lvl1pPr>
          </a:lstStyle>
          <a:p>
            <a:pPr>
              <a:defRPr/>
            </a:pPr>
            <a:endParaRPr lang="en-US" altLang="ja-JP"/>
          </a:p>
        </p:txBody>
      </p:sp>
      <p:sp>
        <p:nvSpPr>
          <p:cNvPr id="7" name="スライド番号プレースホルダー 6"/>
          <p:cNvSpPr>
            <a:spLocks noGrp="1"/>
          </p:cNvSpPr>
          <p:nvPr>
            <p:ph type="sldNum" sz="quarter" idx="5"/>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b" anchorCtr="0" compatLnSpc="1">
            <a:prstTxWarp prst="textNoShape">
              <a:avLst/>
            </a:prstTxWarp>
          </a:bodyPr>
          <a:lstStyle>
            <a:lvl1pPr algn="r" defTabSz="946150" eaLnBrk="1" hangingPunct="1">
              <a:defRPr sz="1200">
                <a:latin typeface="Calibri" pitchFamily="34" charset="0"/>
              </a:defRPr>
            </a:lvl1pPr>
          </a:lstStyle>
          <a:p>
            <a:pPr>
              <a:defRPr/>
            </a:pPr>
            <a:fld id="{E411F456-129C-4679-AE79-8CAE1F5EB502}" type="slidenum">
              <a:rPr lang="ja-JP" altLang="en-US"/>
              <a:pPr>
                <a:defRPr/>
              </a:pPr>
              <a:t>‹#›</a:t>
            </a:fld>
            <a:endParaRPr lang="en-US" altLang="ja-JP"/>
          </a:p>
        </p:txBody>
      </p:sp>
    </p:spTree>
    <p:extLst>
      <p:ext uri="{BB962C8B-B14F-4D97-AF65-F5344CB8AC3E}">
        <p14:creationId xmlns:p14="http://schemas.microsoft.com/office/powerpoint/2010/main" val="367750724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mn-lt"/>
        <a:ea typeface="+mn-ea"/>
        <a:cs typeface="+mn-cs"/>
      </a:defRPr>
    </a:lvl1pPr>
    <a:lvl2pPr marL="457200" algn="l" rtl="0" eaLnBrk="0" fontAlgn="base" hangingPunct="0">
      <a:spcBef>
        <a:spcPct val="30000"/>
      </a:spcBef>
      <a:spcAft>
        <a:spcPct val="0"/>
      </a:spcAft>
      <a:defRPr kumimoji="1" sz="1200" kern="1200">
        <a:solidFill>
          <a:schemeClr val="tx1"/>
        </a:solidFill>
        <a:latin typeface="+mn-lt"/>
        <a:ea typeface="+mn-ea"/>
        <a:cs typeface="+mn-cs"/>
      </a:defRPr>
    </a:lvl2pPr>
    <a:lvl3pPr marL="914400" algn="l" rtl="0" eaLnBrk="0" fontAlgn="base" hangingPunct="0">
      <a:spcBef>
        <a:spcPct val="30000"/>
      </a:spcBef>
      <a:spcAft>
        <a:spcPct val="0"/>
      </a:spcAft>
      <a:defRPr kumimoji="1" sz="1200" kern="1200">
        <a:solidFill>
          <a:schemeClr val="tx1"/>
        </a:solidFill>
        <a:latin typeface="+mn-lt"/>
        <a:ea typeface="+mn-ea"/>
        <a:cs typeface="+mn-cs"/>
      </a:defRPr>
    </a:lvl3pPr>
    <a:lvl4pPr marL="1371600" algn="l" rtl="0" eaLnBrk="0" fontAlgn="base" hangingPunct="0">
      <a:spcBef>
        <a:spcPct val="30000"/>
      </a:spcBef>
      <a:spcAft>
        <a:spcPct val="0"/>
      </a:spcAft>
      <a:defRPr kumimoji="1" sz="1200" kern="1200">
        <a:solidFill>
          <a:schemeClr val="tx1"/>
        </a:solidFill>
        <a:latin typeface="+mn-lt"/>
        <a:ea typeface="+mn-ea"/>
        <a:cs typeface="+mn-cs"/>
      </a:defRPr>
    </a:lvl4pPr>
    <a:lvl5pPr marL="1828800" algn="l" rtl="0" eaLnBrk="0" fontAlgn="base" hangingPunct="0">
      <a:spcBef>
        <a:spcPct val="30000"/>
      </a:spcBef>
      <a:spcAft>
        <a:spcPct val="0"/>
      </a:spcAft>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315" name="ノート プレースホルダー 2"/>
          <p:cNvSpPr>
            <a:spLocks noGrp="1"/>
          </p:cNvSpPr>
          <p:nvPr>
            <p:ph type="body" idx="1"/>
          </p:nvPr>
        </p:nvSpPr>
        <p:spPr>
          <a:noFill/>
        </p:spPr>
        <p:txBody>
          <a:bodyPr/>
          <a:lstStyle/>
          <a:p>
            <a:pPr>
              <a:spcBef>
                <a:spcPct val="0"/>
              </a:spcBef>
            </a:pPr>
            <a:endParaRPr lang="ja-JP" altLang="en-US" sz="1800"/>
          </a:p>
        </p:txBody>
      </p:sp>
      <p:sp>
        <p:nvSpPr>
          <p:cNvPr id="13316"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91354DFD-A574-4020-9875-E8EE80E50137}" type="slidenum">
              <a:rPr lang="ja-JP" altLang="en-US"/>
              <a:pPr algn="r" eaLnBrk="1" hangingPunct="1">
                <a:spcBef>
                  <a:spcPct val="0"/>
                </a:spcBef>
              </a:pPr>
              <a:t>0</a:t>
            </a:fld>
            <a:endParaRPr lang="en-US" altLang="ja-JP"/>
          </a:p>
        </p:txBody>
      </p:sp>
    </p:spTree>
    <p:extLst>
      <p:ext uri="{BB962C8B-B14F-4D97-AF65-F5344CB8AC3E}">
        <p14:creationId xmlns:p14="http://schemas.microsoft.com/office/powerpoint/2010/main" val="21795190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a:t>
            </a:fld>
            <a:endParaRPr lang="en-US" altLang="ja-JP"/>
          </a:p>
        </p:txBody>
      </p:sp>
    </p:spTree>
    <p:extLst>
      <p:ext uri="{BB962C8B-B14F-4D97-AF65-F5344CB8AC3E}">
        <p14:creationId xmlns:p14="http://schemas.microsoft.com/office/powerpoint/2010/main" val="307715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2</a:t>
            </a:fld>
            <a:endParaRPr lang="en-US" altLang="ja-JP"/>
          </a:p>
        </p:txBody>
      </p:sp>
    </p:spTree>
    <p:extLst>
      <p:ext uri="{BB962C8B-B14F-4D97-AF65-F5344CB8AC3E}">
        <p14:creationId xmlns:p14="http://schemas.microsoft.com/office/powerpoint/2010/main" val="13082842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3</a:t>
            </a:fld>
            <a:endParaRPr lang="en-US" altLang="ja-JP"/>
          </a:p>
        </p:txBody>
      </p:sp>
    </p:spTree>
    <p:extLst>
      <p:ext uri="{BB962C8B-B14F-4D97-AF65-F5344CB8AC3E}">
        <p14:creationId xmlns:p14="http://schemas.microsoft.com/office/powerpoint/2010/main" val="18849640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4</a:t>
            </a:fld>
            <a:endParaRPr lang="en-US" altLang="ja-JP"/>
          </a:p>
        </p:txBody>
      </p:sp>
    </p:spTree>
    <p:extLst>
      <p:ext uri="{BB962C8B-B14F-4D97-AF65-F5344CB8AC3E}">
        <p14:creationId xmlns:p14="http://schemas.microsoft.com/office/powerpoint/2010/main" val="1884964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5</a:t>
            </a:fld>
            <a:endParaRPr lang="en-US" altLang="ja-JP"/>
          </a:p>
        </p:txBody>
      </p:sp>
    </p:spTree>
    <p:extLst>
      <p:ext uri="{BB962C8B-B14F-4D97-AF65-F5344CB8AC3E}">
        <p14:creationId xmlns:p14="http://schemas.microsoft.com/office/powerpoint/2010/main" val="12348746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6</a:t>
            </a:fld>
            <a:endParaRPr lang="en-US" altLang="ja-JP"/>
          </a:p>
        </p:txBody>
      </p:sp>
    </p:spTree>
    <p:extLst>
      <p:ext uri="{BB962C8B-B14F-4D97-AF65-F5344CB8AC3E}">
        <p14:creationId xmlns:p14="http://schemas.microsoft.com/office/powerpoint/2010/main" val="7241797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7</a:t>
            </a:fld>
            <a:endParaRPr lang="en-US" altLang="ja-JP"/>
          </a:p>
        </p:txBody>
      </p:sp>
    </p:spTree>
    <p:extLst>
      <p:ext uri="{BB962C8B-B14F-4D97-AF65-F5344CB8AC3E}">
        <p14:creationId xmlns:p14="http://schemas.microsoft.com/office/powerpoint/2010/main" val="8961039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8</a:t>
            </a:fld>
            <a:endParaRPr lang="en-US" altLang="ja-JP"/>
          </a:p>
        </p:txBody>
      </p:sp>
    </p:spTree>
    <p:extLst>
      <p:ext uri="{BB962C8B-B14F-4D97-AF65-F5344CB8AC3E}">
        <p14:creationId xmlns:p14="http://schemas.microsoft.com/office/powerpoint/2010/main" val="7241797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9</a:t>
            </a:fld>
            <a:endParaRPr lang="en-US" altLang="ja-JP"/>
          </a:p>
        </p:txBody>
      </p:sp>
    </p:spTree>
    <p:extLst>
      <p:ext uri="{BB962C8B-B14F-4D97-AF65-F5344CB8AC3E}">
        <p14:creationId xmlns:p14="http://schemas.microsoft.com/office/powerpoint/2010/main" val="22516198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スライド番号プレースホルダー 6"/>
          <p:cNvSpPr>
            <a:spLocks noGrp="1"/>
          </p:cNvSpPr>
          <p:nvPr>
            <p:ph type="sldNum" sz="quarter" idx="5"/>
          </p:nvPr>
        </p:nvSpPr>
        <p:spPr>
          <a:noFill/>
        </p:spPr>
        <p:txBody>
          <a:bodyPr/>
          <a:lstStyle>
            <a:lvl1pPr defTabSz="944394">
              <a:spcBef>
                <a:spcPct val="30000"/>
              </a:spcBef>
              <a:defRPr kumimoji="1" sz="1200">
                <a:solidFill>
                  <a:schemeClr val="tx1"/>
                </a:solidFill>
                <a:latin typeface="Calibri" pitchFamily="34" charset="0"/>
                <a:ea typeface="ＭＳ Ｐ明朝" pitchFamily="18" charset="-128"/>
              </a:defRPr>
            </a:lvl1pPr>
            <a:lvl2pPr marL="766703" indent="-292861" defTabSz="944394">
              <a:spcBef>
                <a:spcPct val="30000"/>
              </a:spcBef>
              <a:defRPr kumimoji="1" sz="1200">
                <a:solidFill>
                  <a:schemeClr val="tx1"/>
                </a:solidFill>
                <a:latin typeface="Calibri" pitchFamily="34" charset="0"/>
                <a:ea typeface="ＭＳ Ｐ明朝" pitchFamily="18" charset="-128"/>
              </a:defRPr>
            </a:lvl2pPr>
            <a:lvl3pPr marL="1179670" indent="-233630" defTabSz="944394">
              <a:spcBef>
                <a:spcPct val="30000"/>
              </a:spcBef>
              <a:defRPr kumimoji="1" sz="1200">
                <a:solidFill>
                  <a:schemeClr val="tx1"/>
                </a:solidFill>
                <a:latin typeface="Calibri" pitchFamily="34" charset="0"/>
                <a:ea typeface="ＭＳ Ｐ明朝" pitchFamily="18" charset="-128"/>
              </a:defRPr>
            </a:lvl3pPr>
            <a:lvl4pPr marL="1653512" indent="-233630" defTabSz="944394">
              <a:spcBef>
                <a:spcPct val="30000"/>
              </a:spcBef>
              <a:defRPr kumimoji="1" sz="1200">
                <a:solidFill>
                  <a:schemeClr val="tx1"/>
                </a:solidFill>
                <a:latin typeface="Calibri" pitchFamily="34" charset="0"/>
                <a:ea typeface="ＭＳ Ｐ明朝" pitchFamily="18" charset="-128"/>
              </a:defRPr>
            </a:lvl4pPr>
            <a:lvl5pPr marL="2127354" indent="-233630" defTabSz="944394">
              <a:spcBef>
                <a:spcPct val="30000"/>
              </a:spcBef>
              <a:defRPr kumimoji="1" sz="1200">
                <a:solidFill>
                  <a:schemeClr val="tx1"/>
                </a:solidFill>
                <a:latin typeface="Calibri" pitchFamily="34" charset="0"/>
                <a:ea typeface="ＭＳ Ｐ明朝" pitchFamily="18" charset="-128"/>
              </a:defRPr>
            </a:lvl5pPr>
            <a:lvl6pPr marL="2601196"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6pPr>
            <a:lvl7pPr marL="3075038"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7pPr>
            <a:lvl8pPr marL="3548880"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8pPr>
            <a:lvl9pPr marL="4022722"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9pPr>
          </a:lstStyle>
          <a:p>
            <a:pPr>
              <a:spcBef>
                <a:spcPct val="0"/>
              </a:spcBef>
            </a:pPr>
            <a:fld id="{3A756C7E-D3CC-4435-A871-324BE166A66C}" type="slidenum">
              <a:rPr lang="ja-JP" altLang="en-US">
                <a:ea typeface="ＭＳ Ｐゴシック" pitchFamily="50" charset="-128"/>
              </a:rPr>
              <a:pPr>
                <a:spcBef>
                  <a:spcPct val="0"/>
                </a:spcBef>
              </a:pPr>
              <a:t>10</a:t>
            </a:fld>
            <a:endParaRPr lang="en-US" altLang="ja-JP">
              <a:ea typeface="ＭＳ Ｐゴシック" pitchFamily="50" charset="-128"/>
            </a:endParaRPr>
          </a:p>
        </p:txBody>
      </p:sp>
      <p:sp>
        <p:nvSpPr>
          <p:cNvPr id="35843"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5844" name="ノート プレースホルダー 2"/>
          <p:cNvSpPr>
            <a:spLocks noGrp="1"/>
          </p:cNvSpPr>
          <p:nvPr>
            <p:ph type="body" idx="1"/>
          </p:nvPr>
        </p:nvSpPr>
        <p:spPr>
          <a:noFill/>
        </p:spPr>
        <p:txBody>
          <a:bodyPr/>
          <a:lstStyle/>
          <a:p>
            <a:pPr eaLnBrk="1" hangingPunct="1"/>
            <a:endParaRPr lang="ja-JP" altLang="en-US"/>
          </a:p>
        </p:txBody>
      </p:sp>
      <p:sp>
        <p:nvSpPr>
          <p:cNvPr id="35845" name="スライド番号プレースホルダー 3"/>
          <p:cNvSpPr txBox="1">
            <a:spLocks noGrp="1"/>
          </p:cNvSpPr>
          <p:nvPr/>
        </p:nvSpPr>
        <p:spPr bwMode="auto">
          <a:xfrm>
            <a:off x="4022163" y="9720673"/>
            <a:ext cx="3075480" cy="512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27" tIns="47314" rIns="94627" bIns="47314" anchor="b"/>
          <a:lstStyle>
            <a:lvl1pPr defTabSz="946150">
              <a:spcBef>
                <a:spcPct val="30000"/>
              </a:spcBef>
              <a:defRPr kumimoji="1" sz="1200">
                <a:solidFill>
                  <a:schemeClr val="tx1"/>
                </a:solidFill>
                <a:latin typeface="Calibri" pitchFamily="34" charset="0"/>
                <a:ea typeface="ＭＳ Ｐ明朝" pitchFamily="18" charset="-128"/>
              </a:defRPr>
            </a:lvl1pPr>
            <a:lvl2pPr marL="768350" indent="-295275" defTabSz="946150">
              <a:spcBef>
                <a:spcPct val="30000"/>
              </a:spcBef>
              <a:defRPr kumimoji="1" sz="1200">
                <a:solidFill>
                  <a:schemeClr val="tx1"/>
                </a:solidFill>
                <a:latin typeface="Calibri" pitchFamily="34" charset="0"/>
                <a:ea typeface="ＭＳ Ｐ明朝" pitchFamily="18" charset="-128"/>
              </a:defRPr>
            </a:lvl2pPr>
            <a:lvl3pPr marL="1182688" indent="-236538" defTabSz="946150">
              <a:spcBef>
                <a:spcPct val="30000"/>
              </a:spcBef>
              <a:defRPr kumimoji="1" sz="1200">
                <a:solidFill>
                  <a:schemeClr val="tx1"/>
                </a:solidFill>
                <a:latin typeface="Calibri" pitchFamily="34" charset="0"/>
                <a:ea typeface="ＭＳ Ｐ明朝" pitchFamily="18" charset="-128"/>
              </a:defRPr>
            </a:lvl3pPr>
            <a:lvl4pPr marL="1655763" indent="-236538" defTabSz="946150">
              <a:spcBef>
                <a:spcPct val="30000"/>
              </a:spcBef>
              <a:defRPr kumimoji="1" sz="1200">
                <a:solidFill>
                  <a:schemeClr val="tx1"/>
                </a:solidFill>
                <a:latin typeface="Calibri" pitchFamily="34" charset="0"/>
                <a:ea typeface="ＭＳ Ｐ明朝" pitchFamily="18" charset="-128"/>
              </a:defRPr>
            </a:lvl4pPr>
            <a:lvl5pPr marL="2128838" indent="-236538" defTabSz="946150">
              <a:spcBef>
                <a:spcPct val="30000"/>
              </a:spcBef>
              <a:defRPr kumimoji="1" sz="1200">
                <a:solidFill>
                  <a:schemeClr val="tx1"/>
                </a:solidFill>
                <a:latin typeface="Calibri" pitchFamily="34" charset="0"/>
                <a:ea typeface="ＭＳ Ｐ明朝" pitchFamily="18"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9pPr>
          </a:lstStyle>
          <a:p>
            <a:pPr algn="r" eaLnBrk="1" hangingPunct="1">
              <a:spcBef>
                <a:spcPct val="0"/>
              </a:spcBef>
            </a:pPr>
            <a:fld id="{9E56650F-526F-4FB6-AFCE-B64A35437C69}" type="slidenum">
              <a:rPr lang="ja-JP" altLang="en-US">
                <a:ea typeface="ＭＳ Ｐゴシック" pitchFamily="50" charset="-128"/>
              </a:rPr>
              <a:pPr algn="r" eaLnBrk="1" hangingPunct="1">
                <a:spcBef>
                  <a:spcPct val="0"/>
                </a:spcBef>
              </a:pPr>
              <a:t>10</a:t>
            </a:fld>
            <a:endParaRPr lang="en-US" altLang="ja-JP">
              <a:ea typeface="ＭＳ Ｐゴシック" pitchFamily="50" charset="-128"/>
            </a:endParaRPr>
          </a:p>
        </p:txBody>
      </p:sp>
    </p:spTree>
    <p:extLst>
      <p:ext uri="{BB962C8B-B14F-4D97-AF65-F5344CB8AC3E}">
        <p14:creationId xmlns:p14="http://schemas.microsoft.com/office/powerpoint/2010/main" val="34942711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スライド番号プレースホルダー 6"/>
          <p:cNvSpPr>
            <a:spLocks noGrp="1"/>
          </p:cNvSpPr>
          <p:nvPr>
            <p:ph type="sldNum" sz="quarter" idx="5"/>
          </p:nvPr>
        </p:nvSpPr>
        <p:spPr>
          <a:noFill/>
        </p:spPr>
        <p:txBody>
          <a:bodyPr/>
          <a:lstStyle>
            <a:lvl1pPr defTabSz="944394">
              <a:spcBef>
                <a:spcPct val="30000"/>
              </a:spcBef>
              <a:defRPr kumimoji="1" sz="1200">
                <a:solidFill>
                  <a:schemeClr val="tx1"/>
                </a:solidFill>
                <a:latin typeface="Calibri" pitchFamily="34" charset="0"/>
                <a:ea typeface="ＭＳ Ｐ明朝" pitchFamily="18" charset="-128"/>
              </a:defRPr>
            </a:lvl1pPr>
            <a:lvl2pPr marL="766703" indent="-292861" defTabSz="944394">
              <a:spcBef>
                <a:spcPct val="30000"/>
              </a:spcBef>
              <a:defRPr kumimoji="1" sz="1200">
                <a:solidFill>
                  <a:schemeClr val="tx1"/>
                </a:solidFill>
                <a:latin typeface="Calibri" pitchFamily="34" charset="0"/>
                <a:ea typeface="ＭＳ Ｐ明朝" pitchFamily="18" charset="-128"/>
              </a:defRPr>
            </a:lvl2pPr>
            <a:lvl3pPr marL="1179670" indent="-233630" defTabSz="944394">
              <a:spcBef>
                <a:spcPct val="30000"/>
              </a:spcBef>
              <a:defRPr kumimoji="1" sz="1200">
                <a:solidFill>
                  <a:schemeClr val="tx1"/>
                </a:solidFill>
                <a:latin typeface="Calibri" pitchFamily="34" charset="0"/>
                <a:ea typeface="ＭＳ Ｐ明朝" pitchFamily="18" charset="-128"/>
              </a:defRPr>
            </a:lvl3pPr>
            <a:lvl4pPr marL="1653512" indent="-233630" defTabSz="944394">
              <a:spcBef>
                <a:spcPct val="30000"/>
              </a:spcBef>
              <a:defRPr kumimoji="1" sz="1200">
                <a:solidFill>
                  <a:schemeClr val="tx1"/>
                </a:solidFill>
                <a:latin typeface="Calibri" pitchFamily="34" charset="0"/>
                <a:ea typeface="ＭＳ Ｐ明朝" pitchFamily="18" charset="-128"/>
              </a:defRPr>
            </a:lvl4pPr>
            <a:lvl5pPr marL="2127354" indent="-233630" defTabSz="944394">
              <a:spcBef>
                <a:spcPct val="30000"/>
              </a:spcBef>
              <a:defRPr kumimoji="1" sz="1200">
                <a:solidFill>
                  <a:schemeClr val="tx1"/>
                </a:solidFill>
                <a:latin typeface="Calibri" pitchFamily="34" charset="0"/>
                <a:ea typeface="ＭＳ Ｐ明朝" pitchFamily="18" charset="-128"/>
              </a:defRPr>
            </a:lvl5pPr>
            <a:lvl6pPr marL="2601196"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6pPr>
            <a:lvl7pPr marL="3075038"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7pPr>
            <a:lvl8pPr marL="3548880"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8pPr>
            <a:lvl9pPr marL="4022722"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9pPr>
          </a:lstStyle>
          <a:p>
            <a:pPr>
              <a:spcBef>
                <a:spcPct val="0"/>
              </a:spcBef>
            </a:pPr>
            <a:fld id="{3A756C7E-D3CC-4435-A871-324BE166A66C}" type="slidenum">
              <a:rPr lang="ja-JP" altLang="en-US">
                <a:ea typeface="ＭＳ Ｐゴシック" pitchFamily="50" charset="-128"/>
              </a:rPr>
              <a:pPr>
                <a:spcBef>
                  <a:spcPct val="0"/>
                </a:spcBef>
              </a:pPr>
              <a:t>11</a:t>
            </a:fld>
            <a:endParaRPr lang="en-US" altLang="ja-JP">
              <a:ea typeface="ＭＳ Ｐゴシック" pitchFamily="50" charset="-128"/>
            </a:endParaRPr>
          </a:p>
        </p:txBody>
      </p:sp>
      <p:sp>
        <p:nvSpPr>
          <p:cNvPr id="35843"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5844" name="ノート プレースホルダー 2"/>
          <p:cNvSpPr>
            <a:spLocks noGrp="1"/>
          </p:cNvSpPr>
          <p:nvPr>
            <p:ph type="body" idx="1"/>
          </p:nvPr>
        </p:nvSpPr>
        <p:spPr>
          <a:noFill/>
        </p:spPr>
        <p:txBody>
          <a:bodyPr/>
          <a:lstStyle/>
          <a:p>
            <a:pPr eaLnBrk="1" hangingPunct="1"/>
            <a:endParaRPr lang="ja-JP" altLang="en-US"/>
          </a:p>
        </p:txBody>
      </p:sp>
      <p:sp>
        <p:nvSpPr>
          <p:cNvPr id="35845" name="スライド番号プレースホルダー 3"/>
          <p:cNvSpPr txBox="1">
            <a:spLocks noGrp="1"/>
          </p:cNvSpPr>
          <p:nvPr/>
        </p:nvSpPr>
        <p:spPr bwMode="auto">
          <a:xfrm>
            <a:off x="4022163" y="9720673"/>
            <a:ext cx="3075480" cy="512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27" tIns="47314" rIns="94627" bIns="47314" anchor="b"/>
          <a:lstStyle>
            <a:lvl1pPr defTabSz="946150">
              <a:spcBef>
                <a:spcPct val="30000"/>
              </a:spcBef>
              <a:defRPr kumimoji="1" sz="1200">
                <a:solidFill>
                  <a:schemeClr val="tx1"/>
                </a:solidFill>
                <a:latin typeface="Calibri" pitchFamily="34" charset="0"/>
                <a:ea typeface="ＭＳ Ｐ明朝" pitchFamily="18" charset="-128"/>
              </a:defRPr>
            </a:lvl1pPr>
            <a:lvl2pPr marL="768350" indent="-295275" defTabSz="946150">
              <a:spcBef>
                <a:spcPct val="30000"/>
              </a:spcBef>
              <a:defRPr kumimoji="1" sz="1200">
                <a:solidFill>
                  <a:schemeClr val="tx1"/>
                </a:solidFill>
                <a:latin typeface="Calibri" pitchFamily="34" charset="0"/>
                <a:ea typeface="ＭＳ Ｐ明朝" pitchFamily="18" charset="-128"/>
              </a:defRPr>
            </a:lvl2pPr>
            <a:lvl3pPr marL="1182688" indent="-236538" defTabSz="946150">
              <a:spcBef>
                <a:spcPct val="30000"/>
              </a:spcBef>
              <a:defRPr kumimoji="1" sz="1200">
                <a:solidFill>
                  <a:schemeClr val="tx1"/>
                </a:solidFill>
                <a:latin typeface="Calibri" pitchFamily="34" charset="0"/>
                <a:ea typeface="ＭＳ Ｐ明朝" pitchFamily="18" charset="-128"/>
              </a:defRPr>
            </a:lvl3pPr>
            <a:lvl4pPr marL="1655763" indent="-236538" defTabSz="946150">
              <a:spcBef>
                <a:spcPct val="30000"/>
              </a:spcBef>
              <a:defRPr kumimoji="1" sz="1200">
                <a:solidFill>
                  <a:schemeClr val="tx1"/>
                </a:solidFill>
                <a:latin typeface="Calibri" pitchFamily="34" charset="0"/>
                <a:ea typeface="ＭＳ Ｐ明朝" pitchFamily="18" charset="-128"/>
              </a:defRPr>
            </a:lvl4pPr>
            <a:lvl5pPr marL="2128838" indent="-236538" defTabSz="946150">
              <a:spcBef>
                <a:spcPct val="30000"/>
              </a:spcBef>
              <a:defRPr kumimoji="1" sz="1200">
                <a:solidFill>
                  <a:schemeClr val="tx1"/>
                </a:solidFill>
                <a:latin typeface="Calibri" pitchFamily="34" charset="0"/>
                <a:ea typeface="ＭＳ Ｐ明朝" pitchFamily="18"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9pPr>
          </a:lstStyle>
          <a:p>
            <a:pPr algn="r" eaLnBrk="1" hangingPunct="1">
              <a:spcBef>
                <a:spcPct val="0"/>
              </a:spcBef>
            </a:pPr>
            <a:fld id="{9E56650F-526F-4FB6-AFCE-B64A35437C69}" type="slidenum">
              <a:rPr lang="ja-JP" altLang="en-US">
                <a:ea typeface="ＭＳ Ｐゴシック" pitchFamily="50" charset="-128"/>
              </a:rPr>
              <a:pPr algn="r" eaLnBrk="1" hangingPunct="1">
                <a:spcBef>
                  <a:spcPct val="0"/>
                </a:spcBef>
              </a:pPr>
              <a:t>11</a:t>
            </a:fld>
            <a:endParaRPr lang="en-US" altLang="ja-JP">
              <a:ea typeface="ＭＳ Ｐゴシック" pitchFamily="50" charset="-128"/>
            </a:endParaRPr>
          </a:p>
        </p:txBody>
      </p:sp>
    </p:spTree>
    <p:extLst>
      <p:ext uri="{BB962C8B-B14F-4D97-AF65-F5344CB8AC3E}">
        <p14:creationId xmlns:p14="http://schemas.microsoft.com/office/powerpoint/2010/main" val="2422572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12</a:t>
            </a:fld>
            <a:endParaRPr lang="en-US" altLang="ja-JP"/>
          </a:p>
        </p:txBody>
      </p:sp>
    </p:spTree>
    <p:extLst>
      <p:ext uri="{BB962C8B-B14F-4D97-AF65-F5344CB8AC3E}">
        <p14:creationId xmlns:p14="http://schemas.microsoft.com/office/powerpoint/2010/main" val="22154326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13</a:t>
            </a:fld>
            <a:endParaRPr lang="en-US" altLang="ja-JP"/>
          </a:p>
        </p:txBody>
      </p:sp>
    </p:spTree>
    <p:extLst>
      <p:ext uri="{BB962C8B-B14F-4D97-AF65-F5344CB8AC3E}">
        <p14:creationId xmlns:p14="http://schemas.microsoft.com/office/powerpoint/2010/main" val="5419535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14</a:t>
            </a:fld>
            <a:endParaRPr lang="en-US" altLang="ja-JP"/>
          </a:p>
        </p:txBody>
      </p:sp>
    </p:spTree>
    <p:extLst>
      <p:ext uri="{BB962C8B-B14F-4D97-AF65-F5344CB8AC3E}">
        <p14:creationId xmlns:p14="http://schemas.microsoft.com/office/powerpoint/2010/main" val="164571437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15</a:t>
            </a:fld>
            <a:endParaRPr lang="en-US" altLang="ja-JP"/>
          </a:p>
        </p:txBody>
      </p:sp>
    </p:spTree>
    <p:extLst>
      <p:ext uri="{BB962C8B-B14F-4D97-AF65-F5344CB8AC3E}">
        <p14:creationId xmlns:p14="http://schemas.microsoft.com/office/powerpoint/2010/main" val="257226557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4" name="角丸四角形 3"/>
          <p:cNvSpPr/>
          <p:nvPr/>
        </p:nvSpPr>
        <p:spPr>
          <a:xfrm>
            <a:off x="251520" y="863001"/>
            <a:ext cx="8712968" cy="45719"/>
          </a:xfrm>
          <a:prstGeom prst="roundRect">
            <a:avLst/>
          </a:prstGeom>
          <a:ln/>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ja-JP" altLang="en-US" dirty="0"/>
          </a:p>
        </p:txBody>
      </p:sp>
      <p:sp>
        <p:nvSpPr>
          <p:cNvPr id="6" name="テキスト ボックス 9"/>
          <p:cNvSpPr txBox="1">
            <a:spLocks noChangeArrowheads="1"/>
          </p:cNvSpPr>
          <p:nvPr/>
        </p:nvSpPr>
        <p:spPr bwMode="auto">
          <a:xfrm>
            <a:off x="-36000" y="-46800"/>
            <a:ext cx="3240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a:solidFill>
                  <a:schemeClr val="tx1"/>
                </a:solidFill>
                <a:latin typeface="Arial" charset="0"/>
                <a:ea typeface="ＭＳ Ｐゴシック" pitchFamily="50" charset="-128"/>
              </a:defRPr>
            </a:lvl1pPr>
            <a:lvl2pPr marL="742950" indent="-285750" eaLnBrk="0" hangingPunct="0">
              <a:defRPr kumimoji="1">
                <a:solidFill>
                  <a:schemeClr val="tx1"/>
                </a:solidFill>
                <a:latin typeface="Arial" charset="0"/>
                <a:ea typeface="ＭＳ Ｐゴシック" pitchFamily="50" charset="-128"/>
              </a:defRPr>
            </a:lvl2pPr>
            <a:lvl3pPr marL="1143000" indent="-228600" eaLnBrk="0" hangingPunct="0">
              <a:defRPr kumimoji="1">
                <a:solidFill>
                  <a:schemeClr val="tx1"/>
                </a:solidFill>
                <a:latin typeface="Arial" charset="0"/>
                <a:ea typeface="ＭＳ Ｐゴシック" pitchFamily="50" charset="-128"/>
              </a:defRPr>
            </a:lvl3pPr>
            <a:lvl4pPr marL="1600200" indent="-228600" eaLnBrk="0" hangingPunct="0">
              <a:defRPr kumimoji="1">
                <a:solidFill>
                  <a:schemeClr val="tx1"/>
                </a:solidFill>
                <a:latin typeface="Arial" charset="0"/>
                <a:ea typeface="ＭＳ Ｐゴシック" pitchFamily="50" charset="-128"/>
              </a:defRPr>
            </a:lvl4pPr>
            <a:lvl5pPr marL="2057400" indent="-228600" eaLnBrk="0" hangingPunct="0">
              <a:defRPr kumimoji="1">
                <a:solidFill>
                  <a:schemeClr val="tx1"/>
                </a:solidFill>
                <a:latin typeface="Arial" charset="0"/>
                <a:ea typeface="ＭＳ Ｐゴシック" pitchFamily="50" charset="-128"/>
              </a:defRPr>
            </a:lvl5pPr>
            <a:lvl6pPr marL="2514600" indent="-228600" eaLnBrk="0" fontAlgn="base" hangingPunct="0">
              <a:spcBef>
                <a:spcPct val="0"/>
              </a:spcBef>
              <a:spcAft>
                <a:spcPct val="0"/>
              </a:spcAft>
              <a:defRPr kumimoji="1">
                <a:solidFill>
                  <a:schemeClr val="tx1"/>
                </a:solidFill>
                <a:latin typeface="Arial" charset="0"/>
                <a:ea typeface="ＭＳ Ｐゴシック" pitchFamily="50" charset="-128"/>
              </a:defRPr>
            </a:lvl6pPr>
            <a:lvl7pPr marL="2971800" indent="-228600" eaLnBrk="0" fontAlgn="base" hangingPunct="0">
              <a:spcBef>
                <a:spcPct val="0"/>
              </a:spcBef>
              <a:spcAft>
                <a:spcPct val="0"/>
              </a:spcAft>
              <a:defRPr kumimoji="1">
                <a:solidFill>
                  <a:schemeClr val="tx1"/>
                </a:solidFill>
                <a:latin typeface="Arial" charset="0"/>
                <a:ea typeface="ＭＳ Ｐゴシック" pitchFamily="50" charset="-128"/>
              </a:defRPr>
            </a:lvl7pPr>
            <a:lvl8pPr marL="3429000" indent="-228600" eaLnBrk="0" fontAlgn="base" hangingPunct="0">
              <a:spcBef>
                <a:spcPct val="0"/>
              </a:spcBef>
              <a:spcAft>
                <a:spcPct val="0"/>
              </a:spcAft>
              <a:defRPr kumimoji="1">
                <a:solidFill>
                  <a:schemeClr val="tx1"/>
                </a:solidFill>
                <a:latin typeface="Arial" charset="0"/>
                <a:ea typeface="ＭＳ Ｐゴシック" pitchFamily="50" charset="-128"/>
              </a:defRPr>
            </a:lvl8pPr>
            <a:lvl9pPr marL="3886200" indent="-228600" eaLnBrk="0" fontAlgn="base" hangingPunct="0">
              <a:spcBef>
                <a:spcPct val="0"/>
              </a:spcBef>
              <a:spcAft>
                <a:spcPct val="0"/>
              </a:spcAft>
              <a:defRPr kumimoji="1">
                <a:solidFill>
                  <a:schemeClr val="tx1"/>
                </a:solidFill>
                <a:latin typeface="Arial" charset="0"/>
                <a:ea typeface="ＭＳ Ｐゴシック" pitchFamily="50" charset="-128"/>
              </a:defRPr>
            </a:lvl9pPr>
          </a:lstStyle>
          <a:p>
            <a:pPr eaLnBrk="1" hangingPunct="1">
              <a:defRPr/>
            </a:pPr>
            <a:r>
              <a:rPr lang="en-US" altLang="ja-JP" sz="1400" b="1" dirty="0">
                <a:solidFill>
                  <a:srgbClr val="C00000"/>
                </a:solidFill>
              </a:rPr>
              <a:t>EFW MAKE IT EASY</a:t>
            </a:r>
            <a:endParaRPr lang="ja-JP" altLang="en-US" sz="1400" b="1" dirty="0">
              <a:solidFill>
                <a:srgbClr val="C00000"/>
              </a:solidFill>
            </a:endParaRPr>
          </a:p>
        </p:txBody>
      </p:sp>
      <p:pic>
        <p:nvPicPr>
          <p:cNvPr id="7"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189288" y="6519863"/>
            <a:ext cx="2895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457200" y="274638"/>
            <a:ext cx="8229600" cy="562074"/>
          </a:xfrm>
        </p:spPr>
        <p:txBody>
          <a:bodyPr anchor="t">
            <a:normAutofit/>
          </a:bodyPr>
          <a:lstStyle>
            <a:lvl1pPr algn="l">
              <a:defRPr sz="2800">
                <a:solidFill>
                  <a:schemeClr val="tx2"/>
                </a:solidFill>
                <a:latin typeface="MS UI Gothic" pitchFamily="50" charset="-128"/>
                <a:ea typeface="MS UI Gothic" pitchFamily="50" charset="-128"/>
              </a:defRPr>
            </a:lvl1pPr>
          </a:lstStyle>
          <a:p>
            <a:r>
              <a:rPr lang="ja-JP" altLang="en-US"/>
              <a:t>マスター タイトルの書式設定</a:t>
            </a:r>
          </a:p>
        </p:txBody>
      </p:sp>
      <p:sp>
        <p:nvSpPr>
          <p:cNvPr id="3" name="コンテンツ プレースホルダー 2"/>
          <p:cNvSpPr>
            <a:spLocks noGrp="1"/>
          </p:cNvSpPr>
          <p:nvPr>
            <p:ph idx="1"/>
          </p:nvPr>
        </p:nvSpPr>
        <p:spPr>
          <a:xfrm>
            <a:off x="457200" y="991269"/>
            <a:ext cx="8229600" cy="5246043"/>
          </a:xfrm>
        </p:spPr>
        <p:txBody>
          <a:bodyPr>
            <a:normAutofit/>
          </a:bodyPr>
          <a:lstStyle>
            <a:lvl1pPr>
              <a:defRPr sz="1800">
                <a:latin typeface="MS UI Gothic" pitchFamily="50" charset="-128"/>
                <a:ea typeface="MS UI Gothic" pitchFamily="50" charset="-128"/>
              </a:defRPr>
            </a:lvl1pPr>
            <a:lvl2pPr>
              <a:defRPr sz="1800">
                <a:latin typeface="MS UI Gothic" pitchFamily="50" charset="-128"/>
                <a:ea typeface="MS UI Gothic" pitchFamily="50" charset="-128"/>
              </a:defRPr>
            </a:lvl2pPr>
            <a:lvl3pPr>
              <a:defRPr sz="1800">
                <a:latin typeface="MS UI Gothic" pitchFamily="50" charset="-128"/>
                <a:ea typeface="MS UI Gothic" pitchFamily="50" charset="-128"/>
              </a:defRPr>
            </a:lvl3pPr>
            <a:lvl4pPr>
              <a:defRPr sz="1800">
                <a:latin typeface="MS UI Gothic" pitchFamily="50" charset="-128"/>
                <a:ea typeface="MS UI Gothic" pitchFamily="50" charset="-128"/>
              </a:defRPr>
            </a:lvl4pPr>
            <a:lvl5pPr>
              <a:defRPr sz="1800">
                <a:latin typeface="MS UI Gothic" pitchFamily="50" charset="-128"/>
                <a:ea typeface="MS UI Gothic" pitchFamily="50" charset="-128"/>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8" name="スライド番号プレースホルダー 15"/>
          <p:cNvSpPr>
            <a:spLocks noGrp="1"/>
          </p:cNvSpPr>
          <p:nvPr>
            <p:ph type="sldNum" sz="quarter" idx="10"/>
          </p:nvPr>
        </p:nvSpPr>
        <p:spPr/>
        <p:txBody>
          <a:bodyPr/>
          <a:lstStyle>
            <a:lvl1pPr>
              <a:defRPr/>
            </a:lvl1pPr>
          </a:lstStyle>
          <a:p>
            <a:pPr>
              <a:defRPr/>
            </a:pPr>
            <a:fld id="{E7B2CBF0-9F56-4157-9FC0-529FA0A011B6}" type="slidenum">
              <a:rPr lang="ja-JP" altLang="en-US"/>
              <a:pPr>
                <a:defRPr/>
              </a:pPr>
              <a:t>‹#›</a:t>
            </a:fld>
            <a:endParaRPr lang="ja-JP" altLang="en-US"/>
          </a:p>
        </p:txBody>
      </p:sp>
    </p:spTree>
    <p:extLst>
      <p:ext uri="{BB962C8B-B14F-4D97-AF65-F5344CB8AC3E}">
        <p14:creationId xmlns:p14="http://schemas.microsoft.com/office/powerpoint/2010/main" val="74837584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タイトル プレースホルダー 1"/>
          <p:cNvSpPr>
            <a:spLocks noGrp="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ja-JP" altLang="en-US"/>
              <a:t>マスター タイトルの書式設定</a:t>
            </a:r>
          </a:p>
        </p:txBody>
      </p:sp>
      <p:sp>
        <p:nvSpPr>
          <p:cNvPr id="1027" name="テキスト プレースホルダー 2"/>
          <p:cNvSpPr>
            <a:spLocks noGrp="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1" name="スライド番号プレースホルダー 1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a:solidFill>
                  <a:srgbClr val="898989"/>
                </a:solidFill>
                <a:latin typeface="Arial" charset="0"/>
              </a:defRPr>
            </a:lvl1pPr>
          </a:lstStyle>
          <a:p>
            <a:pPr>
              <a:defRPr/>
            </a:pPr>
            <a:fld id="{E5AA8DC3-14C1-4C98-A520-5519C9F789F6}" type="slidenum">
              <a:rPr lang="ja-JP" altLang="en-US"/>
              <a:pPr>
                <a:defRPr/>
              </a:pPr>
              <a:t>‹#›</a:t>
            </a:fld>
            <a:endParaRPr lang="ja-JP" altLang="en-US"/>
          </a:p>
        </p:txBody>
      </p:sp>
    </p:spTree>
  </p:cSld>
  <p:clrMap bg1="lt1" tx1="dk1" bg2="lt2" tx2="dk2" accent1="accent1" accent2="accent2" accent3="accent3" accent4="accent4" accent5="accent5" accent6="accent6" hlink="hlink" folHlink="folHlink"/>
  <p:sldLayoutIdLst>
    <p:sldLayoutId id="2147483814" r:id="rId1"/>
  </p:sldLayoutIdLst>
  <p:hf hdr="0" ftr="0" dt="0"/>
  <p:txStyles>
    <p:titleStyle>
      <a:lvl1pPr algn="ctr" rtl="0" eaLnBrk="0" fontAlgn="base" hangingPunct="0">
        <a:spcBef>
          <a:spcPct val="0"/>
        </a:spcBef>
        <a:spcAft>
          <a:spcPct val="0"/>
        </a:spcAft>
        <a:defRPr kumimoji="1" sz="4400" kern="1200">
          <a:solidFill>
            <a:schemeClr val="tx1"/>
          </a:solidFill>
          <a:latin typeface="Arial" charset="0"/>
          <a:ea typeface="+mj-ea"/>
          <a:cs typeface="+mj-cs"/>
        </a:defRPr>
      </a:lvl1pPr>
      <a:lvl2pPr algn="ctr" rtl="0" eaLnBrk="0" fontAlgn="base" hangingPunct="0">
        <a:spcBef>
          <a:spcPct val="0"/>
        </a:spcBef>
        <a:spcAft>
          <a:spcPct val="0"/>
        </a:spcAft>
        <a:defRPr kumimoji="1" sz="4400">
          <a:solidFill>
            <a:schemeClr val="tx1"/>
          </a:solidFill>
          <a:latin typeface="Arial" charset="0"/>
          <a:ea typeface="ＭＳ Ｐゴシック" charset="-128"/>
        </a:defRPr>
      </a:lvl2pPr>
      <a:lvl3pPr algn="ctr" rtl="0" eaLnBrk="0" fontAlgn="base" hangingPunct="0">
        <a:spcBef>
          <a:spcPct val="0"/>
        </a:spcBef>
        <a:spcAft>
          <a:spcPct val="0"/>
        </a:spcAft>
        <a:defRPr kumimoji="1" sz="4400">
          <a:solidFill>
            <a:schemeClr val="tx1"/>
          </a:solidFill>
          <a:latin typeface="Arial" charset="0"/>
          <a:ea typeface="ＭＳ Ｐゴシック" charset="-128"/>
        </a:defRPr>
      </a:lvl3pPr>
      <a:lvl4pPr algn="ctr" rtl="0" eaLnBrk="0" fontAlgn="base" hangingPunct="0">
        <a:spcBef>
          <a:spcPct val="0"/>
        </a:spcBef>
        <a:spcAft>
          <a:spcPct val="0"/>
        </a:spcAft>
        <a:defRPr kumimoji="1" sz="4400">
          <a:solidFill>
            <a:schemeClr val="tx1"/>
          </a:solidFill>
          <a:latin typeface="Arial" charset="0"/>
          <a:ea typeface="ＭＳ Ｐゴシック" charset="-128"/>
        </a:defRPr>
      </a:lvl4pPr>
      <a:lvl5pPr algn="ctr" rtl="0" eaLnBrk="0" fontAlgn="base" hangingPunct="0">
        <a:spcBef>
          <a:spcPct val="0"/>
        </a:spcBef>
        <a:spcAft>
          <a:spcPct val="0"/>
        </a:spcAft>
        <a:defRPr kumimoji="1" sz="4400">
          <a:solidFill>
            <a:schemeClr val="tx1"/>
          </a:solidFill>
          <a:latin typeface="Arial"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p:titleStyle>
    <p:bodyStyle>
      <a:lvl1pPr marL="342900" indent="-342900" algn="l" rtl="0" eaLnBrk="0" fontAlgn="base" hangingPunct="0">
        <a:spcBef>
          <a:spcPct val="20000"/>
        </a:spcBef>
        <a:spcAft>
          <a:spcPct val="0"/>
        </a:spcAft>
        <a:buFont typeface="Arial" charset="0"/>
        <a:buChar char="•"/>
        <a:defRPr kumimoji="1" sz="3200" kern="1200">
          <a:solidFill>
            <a:schemeClr val="tx1"/>
          </a:solidFill>
          <a:latin typeface="Arial" charset="0"/>
          <a:ea typeface="+mn-ea"/>
          <a:cs typeface="+mn-cs"/>
        </a:defRPr>
      </a:lvl1pPr>
      <a:lvl2pPr marL="742950" indent="-285750" algn="l" rtl="0" eaLnBrk="0" fontAlgn="base" hangingPunct="0">
        <a:spcBef>
          <a:spcPct val="20000"/>
        </a:spcBef>
        <a:spcAft>
          <a:spcPct val="0"/>
        </a:spcAft>
        <a:buFont typeface="Arial" charset="0"/>
        <a:buChar char="–"/>
        <a:defRPr kumimoji="1" sz="2800" kern="1200">
          <a:solidFill>
            <a:schemeClr val="tx1"/>
          </a:solidFill>
          <a:latin typeface="Arial" charset="0"/>
          <a:ea typeface="+mn-ea"/>
          <a:cs typeface="+mn-cs"/>
        </a:defRPr>
      </a:lvl2pPr>
      <a:lvl3pPr marL="1143000" indent="-228600" algn="l" rtl="0" eaLnBrk="0" fontAlgn="base" hangingPunct="0">
        <a:spcBef>
          <a:spcPct val="20000"/>
        </a:spcBef>
        <a:spcAft>
          <a:spcPct val="0"/>
        </a:spcAft>
        <a:buFont typeface="Arial" charset="0"/>
        <a:buChar char="•"/>
        <a:defRPr kumimoji="1" sz="2400" kern="1200">
          <a:solidFill>
            <a:schemeClr val="tx1"/>
          </a:solidFill>
          <a:latin typeface="Arial" charset="0"/>
          <a:ea typeface="+mn-ea"/>
          <a:cs typeface="+mn-cs"/>
        </a:defRPr>
      </a:lvl3pPr>
      <a:lvl4pPr marL="1600200" indent="-228600" algn="l" rtl="0" eaLnBrk="0" fontAlgn="base" hangingPunct="0">
        <a:spcBef>
          <a:spcPct val="20000"/>
        </a:spcBef>
        <a:spcAft>
          <a:spcPct val="0"/>
        </a:spcAft>
        <a:buFont typeface="Arial" charset="0"/>
        <a:buChar char="–"/>
        <a:defRPr kumimoji="1" sz="2000" kern="1200">
          <a:solidFill>
            <a:schemeClr val="tx1"/>
          </a:solidFill>
          <a:latin typeface="Arial" charset="0"/>
          <a:ea typeface="+mn-ea"/>
          <a:cs typeface="+mn-cs"/>
        </a:defRPr>
      </a:lvl4pPr>
      <a:lvl5pPr marL="2057400" indent="-228600" algn="l" rtl="0" eaLnBrk="0" fontAlgn="base" hangingPunct="0">
        <a:spcBef>
          <a:spcPct val="20000"/>
        </a:spcBef>
        <a:spcAft>
          <a:spcPct val="0"/>
        </a:spcAft>
        <a:buFont typeface="Arial" charset="0"/>
        <a:buChar char="»"/>
        <a:defRPr kumimoji="1" sz="2000" kern="1200">
          <a:solidFill>
            <a:schemeClr val="tx1"/>
          </a:solidFill>
          <a:latin typeface="Arial" charset="0"/>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9.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10.xml.rels><?xml version="1.0" encoding="UTF-8" standalone="yes"?>
<Relationships xmlns="http://schemas.openxmlformats.org/package/2006/relationships"><Relationship Id="rId8" Type="http://schemas.openxmlformats.org/officeDocument/2006/relationships/hyperlink" Target="https://efwgrp.github.io/efw4.X/j/analysis.security.html" TargetMode="External"/><Relationship Id="rId3" Type="http://schemas.openxmlformats.org/officeDocument/2006/relationships/notesSlide" Target="../notesSlides/notesSlide10.xml"/><Relationship Id="rId7" Type="http://schemas.openxmlformats.org/officeDocument/2006/relationships/hyperlink" Target="https://efwgrp.github.io/efw4.X/j/analysis.html" TargetMode="External"/><Relationship Id="rId2" Type="http://schemas.openxmlformats.org/officeDocument/2006/relationships/slideLayout" Target="../slideLayouts/slideLayout1.xml"/><Relationship Id="rId1" Type="http://schemas.openxmlformats.org/officeDocument/2006/relationships/tags" Target="../tags/tag11.xml"/><Relationship Id="rId6" Type="http://schemas.openxmlformats.org/officeDocument/2006/relationships/hyperlink" Target="https://efwgrp.github.io/efw4.X/j/api.html" TargetMode="External"/><Relationship Id="rId5" Type="http://schemas.openxmlformats.org/officeDocument/2006/relationships/hyperlink" Target="https://efwgrp.github.io/efw4.X/j/examples.html" TargetMode="External"/><Relationship Id="rId10" Type="http://schemas.openxmlformats.org/officeDocument/2006/relationships/hyperlink" Target="https://qiita.com/changkejun/items/2c7071c1468b24e7683e" TargetMode="External"/><Relationship Id="rId4" Type="http://schemas.openxmlformats.org/officeDocument/2006/relationships/hyperlink" Target="https://github.com/efwGrp/efw4.X" TargetMode="External"/><Relationship Id="rId9" Type="http://schemas.openxmlformats.org/officeDocument/2006/relationships/hyperlink" Target="http://id.nii.ac.jp/1001/00147552/" TargetMode="Externa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5.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6.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17.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1"/>
          <p:cNvSpPr txBox="1">
            <a:spLocks/>
          </p:cNvSpPr>
          <p:nvPr/>
        </p:nvSpPr>
        <p:spPr bwMode="auto">
          <a:xfrm>
            <a:off x="698500" y="2422525"/>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kumimoji="1" sz="4400" kern="1200">
                <a:solidFill>
                  <a:schemeClr val="tx1"/>
                </a:solidFill>
                <a:latin typeface="Arial" charset="0"/>
                <a:ea typeface="+mj-ea"/>
                <a:cs typeface="+mj-cs"/>
              </a:defRPr>
            </a:lvl1pPr>
            <a:lvl2pPr algn="ctr" rtl="0" eaLnBrk="0" fontAlgn="base" hangingPunct="0">
              <a:spcBef>
                <a:spcPct val="0"/>
              </a:spcBef>
              <a:spcAft>
                <a:spcPct val="0"/>
              </a:spcAft>
              <a:defRPr kumimoji="1" sz="4400">
                <a:solidFill>
                  <a:schemeClr val="tx1"/>
                </a:solidFill>
                <a:latin typeface="Arial" charset="0"/>
                <a:ea typeface="ＭＳ Ｐゴシック" charset="-128"/>
              </a:defRPr>
            </a:lvl2pPr>
            <a:lvl3pPr algn="ctr" rtl="0" eaLnBrk="0" fontAlgn="base" hangingPunct="0">
              <a:spcBef>
                <a:spcPct val="0"/>
              </a:spcBef>
              <a:spcAft>
                <a:spcPct val="0"/>
              </a:spcAft>
              <a:defRPr kumimoji="1" sz="4400">
                <a:solidFill>
                  <a:schemeClr val="tx1"/>
                </a:solidFill>
                <a:latin typeface="Arial" charset="0"/>
                <a:ea typeface="ＭＳ Ｐゴシック" charset="-128"/>
              </a:defRPr>
            </a:lvl3pPr>
            <a:lvl4pPr algn="ctr" rtl="0" eaLnBrk="0" fontAlgn="base" hangingPunct="0">
              <a:spcBef>
                <a:spcPct val="0"/>
              </a:spcBef>
              <a:spcAft>
                <a:spcPct val="0"/>
              </a:spcAft>
              <a:defRPr kumimoji="1" sz="4400">
                <a:solidFill>
                  <a:schemeClr val="tx1"/>
                </a:solidFill>
                <a:latin typeface="Arial" charset="0"/>
                <a:ea typeface="ＭＳ Ｐゴシック" charset="-128"/>
              </a:defRPr>
            </a:lvl4pPr>
            <a:lvl5pPr algn="ctr" rtl="0" eaLnBrk="0" fontAlgn="base" hangingPunct="0">
              <a:spcBef>
                <a:spcPct val="0"/>
              </a:spcBef>
              <a:spcAft>
                <a:spcPct val="0"/>
              </a:spcAft>
              <a:defRPr kumimoji="1" sz="4400">
                <a:solidFill>
                  <a:schemeClr val="tx1"/>
                </a:solidFill>
                <a:latin typeface="Arial"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a:lstStyle>
          <a:p>
            <a:r>
              <a:rPr lang="en-US" altLang="ja-JP" sz="3600" dirty="0">
                <a:latin typeface="Meiryo UI" pitchFamily="50" charset="-128"/>
                <a:ea typeface="Meiryo UI" pitchFamily="50" charset="-128"/>
                <a:cs typeface="Meiryo UI" pitchFamily="50" charset="-128"/>
              </a:rPr>
              <a:t>EFW</a:t>
            </a:r>
            <a:r>
              <a:rPr lang="ja-JP" altLang="en-US" sz="3600" dirty="0">
                <a:latin typeface="Meiryo UI" pitchFamily="50" charset="-128"/>
                <a:ea typeface="Meiryo UI" pitchFamily="50" charset="-128"/>
                <a:cs typeface="Meiryo UI" pitchFamily="50" charset="-128"/>
              </a:rPr>
              <a:t>のご紹介</a:t>
            </a:r>
            <a:endParaRPr lang="en-US" altLang="ja-JP" sz="3600" dirty="0">
              <a:latin typeface="Meiryo UI" pitchFamily="50" charset="-128"/>
              <a:ea typeface="Meiryo UI" pitchFamily="50" charset="-128"/>
              <a:cs typeface="Meiryo UI" pitchFamily="50" charset="-128"/>
            </a:endParaRPr>
          </a:p>
          <a:p>
            <a:r>
              <a:rPr lang="en-US" altLang="ja-JP" sz="1400" dirty="0">
                <a:latin typeface="Meiryo UI" pitchFamily="50" charset="-128"/>
                <a:ea typeface="Meiryo UI" pitchFamily="50" charset="-128"/>
                <a:cs typeface="Meiryo UI" pitchFamily="50" charset="-128"/>
              </a:rPr>
              <a:t>V2.2</a:t>
            </a:r>
          </a:p>
        </p:txBody>
      </p:sp>
      <p:sp>
        <p:nvSpPr>
          <p:cNvPr id="8" name="タイトル 1"/>
          <p:cNvSpPr txBox="1">
            <a:spLocks/>
          </p:cNvSpPr>
          <p:nvPr/>
        </p:nvSpPr>
        <p:spPr bwMode="auto">
          <a:xfrm>
            <a:off x="0" y="4365625"/>
            <a:ext cx="9144000" cy="1257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kumimoji="1" sz="3200">
                <a:solidFill>
                  <a:schemeClr val="tx1"/>
                </a:solidFill>
                <a:latin typeface="Arial" panose="020B0604020202020204" pitchFamily="34" charset="0"/>
                <a:ea typeface="ＭＳ Ｐゴシック" panose="020B0600070205080204" pitchFamily="50" charset="-128"/>
              </a:defRPr>
            </a:lvl1pPr>
            <a:lvl2pPr marL="742950" indent="-285750">
              <a:spcBef>
                <a:spcPct val="20000"/>
              </a:spcBef>
              <a:buFont typeface="Arial" panose="020B0604020202020204" pitchFamily="34" charset="0"/>
              <a:buChar char="–"/>
              <a:defRPr kumimoji="1" sz="2800">
                <a:solidFill>
                  <a:schemeClr val="tx1"/>
                </a:solidFill>
                <a:latin typeface="Arial" panose="020B0604020202020204" pitchFamily="34" charset="0"/>
                <a:ea typeface="ＭＳ Ｐゴシック" panose="020B0600070205080204" pitchFamily="50" charset="-128"/>
              </a:defRPr>
            </a:lvl2pPr>
            <a:lvl3pPr marL="1143000" indent="-228600">
              <a:spcBef>
                <a:spcPct val="20000"/>
              </a:spcBef>
              <a:buFont typeface="Arial" panose="020B0604020202020204" pitchFamily="34" charset="0"/>
              <a:buChar char="•"/>
              <a:defRPr kumimoji="1" sz="2400">
                <a:solidFill>
                  <a:schemeClr val="tx1"/>
                </a:solidFill>
                <a:latin typeface="Arial" panose="020B0604020202020204" pitchFamily="34" charset="0"/>
                <a:ea typeface="ＭＳ Ｐゴシック" panose="020B0600070205080204" pitchFamily="50" charset="-128"/>
              </a:defRPr>
            </a:lvl3pPr>
            <a:lvl4pPr marL="1600200" indent="-228600">
              <a:spcBef>
                <a:spcPct val="20000"/>
              </a:spcBef>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4pPr>
            <a:lvl5pPr marL="2057400" indent="-228600">
              <a:spcBef>
                <a:spcPct val="20000"/>
              </a:spcBef>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9pPr>
          </a:lstStyle>
          <a:p>
            <a:pPr algn="ctr" eaLnBrk="1" hangingPunct="1">
              <a:spcBef>
                <a:spcPct val="0"/>
              </a:spcBef>
              <a:buFontTx/>
              <a:buNone/>
            </a:pPr>
            <a:r>
              <a:rPr lang="ja-JP" altLang="en-US" sz="2400" dirty="0">
                <a:latin typeface="Meiryo UI" panose="020B0604030504040204" pitchFamily="50" charset="-128"/>
                <a:ea typeface="Meiryo UI" panose="020B0604030504040204" pitchFamily="50" charset="-128"/>
                <a:cs typeface="Meiryo UI" panose="020B0604030504040204" pitchFamily="50" charset="-128"/>
              </a:rPr>
              <a:t>エスコ・ジャパン株式会社</a:t>
            </a:r>
            <a:endParaRPr lang="en-US" altLang="ja-JP" sz="2400" dirty="0">
              <a:latin typeface="Meiryo UI" panose="020B0604030504040204" pitchFamily="50" charset="-128"/>
              <a:ea typeface="Meiryo UI" panose="020B0604030504040204" pitchFamily="50" charset="-128"/>
              <a:cs typeface="Meiryo UI" panose="020B0604030504040204" pitchFamily="50" charset="-128"/>
            </a:endParaRPr>
          </a:p>
          <a:p>
            <a:pPr algn="ctr" eaLnBrk="1" hangingPunct="1">
              <a:spcBef>
                <a:spcPct val="0"/>
              </a:spcBef>
              <a:buFont typeface="Arial" panose="020B0604020202020204" pitchFamily="34" charset="0"/>
              <a:buNone/>
            </a:pPr>
            <a:r>
              <a:rPr lang="en-US" altLang="ja-JP" sz="2400" dirty="0">
                <a:latin typeface="Meiryo UI" panose="020B0604030504040204" pitchFamily="50" charset="-128"/>
                <a:ea typeface="Meiryo UI" panose="020B0604030504040204" pitchFamily="50" charset="-128"/>
                <a:cs typeface="Meiryo UI" panose="020B0604030504040204" pitchFamily="50" charset="-128"/>
              </a:rPr>
              <a:t>2026.01.01</a:t>
            </a:r>
            <a:endParaRPr lang="ja-JP" altLang="en-US" sz="24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2" name="正方形/長方形 1">
            <a:extLst>
              <a:ext uri="{FF2B5EF4-FFF2-40B4-BE49-F238E27FC236}">
                <a16:creationId xmlns:a16="http://schemas.microsoft.com/office/drawing/2014/main" id="{D9A0E334-FEBE-4784-AB91-42D60AF332BF}"/>
              </a:ext>
            </a:extLst>
          </p:cNvPr>
          <p:cNvSpPr/>
          <p:nvPr/>
        </p:nvSpPr>
        <p:spPr>
          <a:xfrm>
            <a:off x="179616" y="468771"/>
            <a:ext cx="6564086" cy="369332"/>
          </a:xfrm>
          <a:prstGeom prst="rect">
            <a:avLst/>
          </a:prstGeom>
        </p:spPr>
        <p:txBody>
          <a:bodyPr wrap="square">
            <a:spAutoFit/>
          </a:bodyPr>
          <a:lstStyle/>
          <a:p>
            <a:r>
              <a:rPr lang="ja-JP" altLang="en-US" dirty="0"/>
              <a:t>An </a:t>
            </a:r>
            <a:r>
              <a:rPr lang="ja-JP" altLang="en-US" dirty="0">
                <a:solidFill>
                  <a:schemeClr val="accent2"/>
                </a:solidFill>
              </a:rPr>
              <a:t>E</a:t>
            </a:r>
            <a:r>
              <a:rPr lang="ja-JP" altLang="en-US" dirty="0"/>
              <a:t>nterprise </a:t>
            </a:r>
            <a:r>
              <a:rPr lang="ja-JP" altLang="en-US" dirty="0">
                <a:solidFill>
                  <a:schemeClr val="accent2"/>
                </a:solidFill>
              </a:rPr>
              <a:t>F</a:t>
            </a:r>
            <a:r>
              <a:rPr lang="ja-JP" altLang="en-US" dirty="0"/>
              <a:t>ramework for </a:t>
            </a:r>
            <a:r>
              <a:rPr lang="ja-JP" altLang="en-US" dirty="0">
                <a:solidFill>
                  <a:schemeClr val="accent2"/>
                </a:solidFill>
              </a:rPr>
              <a:t>W</a:t>
            </a:r>
            <a:r>
              <a:rPr lang="ja-JP" altLang="en-US" dirty="0"/>
              <a:t>eb provided by ESCCO.</a:t>
            </a:r>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タイトル 1"/>
          <p:cNvSpPr>
            <a:spLocks noGrp="1"/>
          </p:cNvSpPr>
          <p:nvPr>
            <p:ph type="title" idx="4294967295"/>
          </p:nvPr>
        </p:nvSpPr>
        <p:spPr>
          <a:xfrm>
            <a:off x="276894" y="27731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目次</a:t>
            </a:r>
          </a:p>
        </p:txBody>
      </p:sp>
      <p:sp>
        <p:nvSpPr>
          <p:cNvPr id="4099" name="スライド番号プレースホルダー 3"/>
          <p:cNvSpPr txBox="1">
            <a:spLocks/>
          </p:cNvSpPr>
          <p:nvPr/>
        </p:nvSpPr>
        <p:spPr bwMode="auto">
          <a:xfrm>
            <a:off x="6948488" y="6494463"/>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9" name="タイトル 1"/>
          <p:cNvSpPr txBox="1">
            <a:spLocks/>
          </p:cNvSpPr>
          <p:nvPr/>
        </p:nvSpPr>
        <p:spPr bwMode="auto">
          <a:xfrm>
            <a:off x="315531" y="987879"/>
            <a:ext cx="8622407" cy="526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kumimoji="1" sz="4400" kern="1200">
                <a:solidFill>
                  <a:schemeClr val="tx1"/>
                </a:solidFill>
                <a:latin typeface="Arial" charset="0"/>
                <a:ea typeface="+mj-ea"/>
                <a:cs typeface="+mj-cs"/>
              </a:defRPr>
            </a:lvl1pPr>
            <a:lvl2pPr algn="ctr" rtl="0" eaLnBrk="0" fontAlgn="base" hangingPunct="0">
              <a:spcBef>
                <a:spcPct val="0"/>
              </a:spcBef>
              <a:spcAft>
                <a:spcPct val="0"/>
              </a:spcAft>
              <a:defRPr kumimoji="1" sz="4400">
                <a:solidFill>
                  <a:schemeClr val="tx1"/>
                </a:solidFill>
                <a:latin typeface="Arial" charset="0"/>
                <a:ea typeface="ＭＳ Ｐゴシック" charset="-128"/>
              </a:defRPr>
            </a:lvl2pPr>
            <a:lvl3pPr algn="ctr" rtl="0" eaLnBrk="0" fontAlgn="base" hangingPunct="0">
              <a:spcBef>
                <a:spcPct val="0"/>
              </a:spcBef>
              <a:spcAft>
                <a:spcPct val="0"/>
              </a:spcAft>
              <a:defRPr kumimoji="1" sz="4400">
                <a:solidFill>
                  <a:schemeClr val="tx1"/>
                </a:solidFill>
                <a:latin typeface="Arial" charset="0"/>
                <a:ea typeface="ＭＳ Ｐゴシック" charset="-128"/>
              </a:defRPr>
            </a:lvl3pPr>
            <a:lvl4pPr algn="ctr" rtl="0" eaLnBrk="0" fontAlgn="base" hangingPunct="0">
              <a:spcBef>
                <a:spcPct val="0"/>
              </a:spcBef>
              <a:spcAft>
                <a:spcPct val="0"/>
              </a:spcAft>
              <a:defRPr kumimoji="1" sz="4400">
                <a:solidFill>
                  <a:schemeClr val="tx1"/>
                </a:solidFill>
                <a:latin typeface="Arial" charset="0"/>
                <a:ea typeface="ＭＳ Ｐゴシック" charset="-128"/>
              </a:defRPr>
            </a:lvl4pPr>
            <a:lvl5pPr algn="ctr" rtl="0" eaLnBrk="0" fontAlgn="base" hangingPunct="0">
              <a:spcBef>
                <a:spcPct val="0"/>
              </a:spcBef>
              <a:spcAft>
                <a:spcPct val="0"/>
              </a:spcAft>
              <a:defRPr kumimoji="1" sz="4400">
                <a:solidFill>
                  <a:schemeClr val="tx1"/>
                </a:solidFill>
                <a:latin typeface="Arial"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a:lstStyle>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１、</a:t>
            </a:r>
            <a:r>
              <a:rPr lang="en-US" altLang="ja-JP" sz="2400" dirty="0">
                <a:latin typeface="Meiryo UI" pitchFamily="50" charset="-128"/>
                <a:ea typeface="Meiryo UI" pitchFamily="50" charset="-128"/>
                <a:cs typeface="Meiryo UI" pitchFamily="50" charset="-128"/>
              </a:rPr>
              <a:t>EFW</a:t>
            </a:r>
            <a:r>
              <a:rPr lang="ja-JP" altLang="en-US" sz="2400" dirty="0">
                <a:latin typeface="Meiryo UI" pitchFamily="50" charset="-128"/>
                <a:ea typeface="Meiryo UI" pitchFamily="50" charset="-128"/>
                <a:cs typeface="Meiryo UI" pitchFamily="50" charset="-128"/>
              </a:rPr>
              <a:t>とは</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２、生産性とコスト削減効果</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３、プログラムの可読性</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４、従来</a:t>
            </a:r>
            <a:r>
              <a:rPr lang="en-US" altLang="ja-JP" sz="2400" dirty="0">
                <a:latin typeface="Meiryo UI" pitchFamily="50" charset="-128"/>
                <a:ea typeface="Meiryo UI" pitchFamily="50" charset="-128"/>
                <a:cs typeface="Meiryo UI" pitchFamily="50" charset="-128"/>
              </a:rPr>
              <a:t>WEB</a:t>
            </a:r>
            <a:r>
              <a:rPr lang="ja-JP" altLang="en-US" sz="2400" dirty="0">
                <a:latin typeface="Meiryo UI" pitchFamily="50" charset="-128"/>
                <a:ea typeface="Meiryo UI" pitchFamily="50" charset="-128"/>
                <a:cs typeface="Meiryo UI" pitchFamily="50" charset="-128"/>
              </a:rPr>
              <a:t>開発の問題</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５、従来問題の解決</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６、</a:t>
            </a:r>
            <a:r>
              <a:rPr lang="en-US" altLang="ja-JP" sz="2400" dirty="0">
                <a:latin typeface="Meiryo UI" pitchFamily="50" charset="-128"/>
                <a:ea typeface="Meiryo UI" pitchFamily="50" charset="-128"/>
                <a:cs typeface="Meiryo UI" pitchFamily="50" charset="-128"/>
              </a:rPr>
              <a:t>EFW</a:t>
            </a:r>
            <a:r>
              <a:rPr lang="ja-JP" altLang="en-US" sz="2400" dirty="0">
                <a:latin typeface="Meiryo UI" pitchFamily="50" charset="-128"/>
                <a:ea typeface="Meiryo UI" pitchFamily="50" charset="-128"/>
                <a:cs typeface="Meiryo UI" pitchFamily="50" charset="-128"/>
              </a:rPr>
              <a:t>の資材</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８、実績一覧</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９、</a:t>
            </a:r>
            <a:r>
              <a:rPr lang="en-US" altLang="ja-JP" sz="2400" dirty="0">
                <a:latin typeface="Meiryo UI" pitchFamily="50" charset="-128"/>
                <a:ea typeface="Meiryo UI" pitchFamily="50" charset="-128"/>
                <a:cs typeface="Meiryo UI" pitchFamily="50" charset="-128"/>
              </a:rPr>
              <a:t>E-FW</a:t>
            </a:r>
            <a:r>
              <a:rPr lang="ja-JP" altLang="en-US" sz="2400" dirty="0">
                <a:latin typeface="Meiryo UI" pitchFamily="50" charset="-128"/>
                <a:ea typeface="Meiryo UI" pitchFamily="50" charset="-128"/>
                <a:cs typeface="Meiryo UI" pitchFamily="50" charset="-128"/>
              </a:rPr>
              <a:t>導入</a:t>
            </a:r>
            <a:r>
              <a:rPr lang="ja-JP" altLang="en-US" sz="2400">
                <a:latin typeface="Meiryo UI" pitchFamily="50" charset="-128"/>
                <a:ea typeface="Meiryo UI" pitchFamily="50" charset="-128"/>
                <a:cs typeface="Meiryo UI" pitchFamily="50" charset="-128"/>
              </a:rPr>
              <a:t>の効果</a:t>
            </a:r>
            <a:endParaRPr lang="en-US" altLang="ja-JP" sz="2400" dirty="0">
              <a:latin typeface="Meiryo UI" pitchFamily="50" charset="-128"/>
              <a:ea typeface="Meiryo UI" pitchFamily="50" charset="-128"/>
              <a:cs typeface="Meiryo UI" pitchFamily="50" charset="-128"/>
            </a:endParaRPr>
          </a:p>
        </p:txBody>
      </p:sp>
    </p:spTree>
    <p:custDataLst>
      <p:tags r:id="rId1"/>
    </p:custDataLst>
    <p:extLst>
      <p:ext uri="{BB962C8B-B14F-4D97-AF65-F5344CB8AC3E}">
        <p14:creationId xmlns:p14="http://schemas.microsoft.com/office/powerpoint/2010/main" val="9730718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8FB5680A-7AF2-4529-AB09-49902B933F75}"/>
              </a:ext>
            </a:extLst>
          </p:cNvPr>
          <p:cNvPicPr>
            <a:picLocks noChangeAspect="1"/>
          </p:cNvPicPr>
          <p:nvPr/>
        </p:nvPicPr>
        <p:blipFill>
          <a:blip r:embed="rId4"/>
          <a:stretch>
            <a:fillRect/>
          </a:stretch>
        </p:blipFill>
        <p:spPr>
          <a:xfrm>
            <a:off x="6033062" y="2799124"/>
            <a:ext cx="3048157" cy="1698712"/>
          </a:xfrm>
          <a:prstGeom prst="rect">
            <a:avLst/>
          </a:prstGeom>
        </p:spPr>
      </p:pic>
      <p:pic>
        <p:nvPicPr>
          <p:cNvPr id="11" name="図 10">
            <a:extLst>
              <a:ext uri="{FF2B5EF4-FFF2-40B4-BE49-F238E27FC236}">
                <a16:creationId xmlns:a16="http://schemas.microsoft.com/office/drawing/2014/main" id="{23994381-7044-4281-AF02-BBA1532FC63C}"/>
              </a:ext>
            </a:extLst>
          </p:cNvPr>
          <p:cNvPicPr>
            <a:picLocks noChangeAspect="1"/>
          </p:cNvPicPr>
          <p:nvPr/>
        </p:nvPicPr>
        <p:blipFill>
          <a:blip r:embed="rId5"/>
          <a:stretch>
            <a:fillRect/>
          </a:stretch>
        </p:blipFill>
        <p:spPr>
          <a:xfrm>
            <a:off x="2984905" y="2799124"/>
            <a:ext cx="3048157" cy="1698712"/>
          </a:xfrm>
          <a:prstGeom prst="rect">
            <a:avLst/>
          </a:prstGeom>
        </p:spPr>
      </p:pic>
      <p:sp>
        <p:nvSpPr>
          <p:cNvPr id="4098"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１．</a:t>
            </a:r>
            <a:r>
              <a:rPr lang="en-US" altLang="ja-JP" sz="2800" dirty="0">
                <a:solidFill>
                  <a:schemeClr val="tx2"/>
                </a:solidFill>
                <a:latin typeface="Meiryo UI" pitchFamily="50" charset="-128"/>
                <a:ea typeface="Meiryo UI" pitchFamily="50" charset="-128"/>
                <a:cs typeface="Meiryo UI" pitchFamily="50" charset="-128"/>
              </a:rPr>
              <a:t>EFW</a:t>
            </a:r>
            <a:r>
              <a:rPr lang="ja-JP" altLang="en-US" sz="2800" dirty="0">
                <a:solidFill>
                  <a:schemeClr val="tx2"/>
                </a:solidFill>
                <a:latin typeface="Meiryo UI" pitchFamily="50" charset="-128"/>
                <a:ea typeface="Meiryo UI" pitchFamily="50" charset="-128"/>
                <a:cs typeface="Meiryo UI" pitchFamily="50" charset="-128"/>
              </a:rPr>
              <a:t>とは</a:t>
            </a: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2</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9" name="テキスト ボックス 5"/>
          <p:cNvSpPr txBox="1">
            <a:spLocks noChangeArrowheads="1"/>
          </p:cNvSpPr>
          <p:nvPr/>
        </p:nvSpPr>
        <p:spPr bwMode="auto">
          <a:xfrm>
            <a:off x="246850" y="1041935"/>
            <a:ext cx="4806843" cy="1631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ja-JP"/>
            </a:defPPr>
            <a:lvl1pPr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1pPr>
            <a:lvl2pPr marL="4572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2pPr>
            <a:lvl3pPr marL="9144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3pPr>
            <a:lvl4pPr marL="13716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4pPr>
            <a:lvl5pPr marL="18288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5pPr>
            <a:lvl6pPr marL="2286000" algn="l" defTabSz="914400" rtl="0" eaLnBrk="1" latinLnBrk="0" hangingPunct="1">
              <a:defRPr kumimoji="1" kern="1200">
                <a:solidFill>
                  <a:schemeClr val="tx1"/>
                </a:solidFill>
                <a:latin typeface="Arial" charset="0"/>
                <a:ea typeface="ＭＳ Ｐゴシック" pitchFamily="50" charset="-128"/>
                <a:cs typeface="+mn-cs"/>
              </a:defRPr>
            </a:lvl6pPr>
            <a:lvl7pPr marL="2743200" algn="l" defTabSz="914400" rtl="0" eaLnBrk="1" latinLnBrk="0" hangingPunct="1">
              <a:defRPr kumimoji="1" kern="1200">
                <a:solidFill>
                  <a:schemeClr val="tx1"/>
                </a:solidFill>
                <a:latin typeface="Arial" charset="0"/>
                <a:ea typeface="ＭＳ Ｐゴシック" pitchFamily="50" charset="-128"/>
                <a:cs typeface="+mn-cs"/>
              </a:defRPr>
            </a:lvl7pPr>
            <a:lvl8pPr marL="3200400" algn="l" defTabSz="914400" rtl="0" eaLnBrk="1" latinLnBrk="0" hangingPunct="1">
              <a:defRPr kumimoji="1" kern="1200">
                <a:solidFill>
                  <a:schemeClr val="tx1"/>
                </a:solidFill>
                <a:latin typeface="Arial" charset="0"/>
                <a:ea typeface="ＭＳ Ｐゴシック" pitchFamily="50" charset="-128"/>
                <a:cs typeface="+mn-cs"/>
              </a:defRPr>
            </a:lvl8pPr>
            <a:lvl9pPr marL="3657600" algn="l" defTabSz="914400" rtl="0" eaLnBrk="1" latinLnBrk="0" hangingPunct="1">
              <a:defRPr kumimoji="1" kern="1200">
                <a:solidFill>
                  <a:schemeClr val="tx1"/>
                </a:solidFill>
                <a:latin typeface="Arial" charset="0"/>
                <a:ea typeface="ＭＳ Ｐゴシック" pitchFamily="50" charset="-128"/>
                <a:cs typeface="+mn-cs"/>
              </a:defRPr>
            </a:lvl9pPr>
          </a:lstStyle>
          <a:p>
            <a:pPr eaLnBrk="1" hangingPunct="1"/>
            <a:r>
              <a:rPr lang="en-US" altLang="ja-JP" sz="2000" dirty="0">
                <a:latin typeface="Meiryo UI" pitchFamily="50" charset="-128"/>
                <a:ea typeface="Meiryo UI" pitchFamily="50" charset="-128"/>
                <a:cs typeface="Meiryo UI" pitchFamily="50" charset="-128"/>
              </a:rPr>
              <a:t>ESCCO </a:t>
            </a:r>
            <a:r>
              <a:rPr lang="ja-JP" altLang="en-US" sz="2000" dirty="0">
                <a:latin typeface="Meiryo UI" pitchFamily="50" charset="-128"/>
                <a:ea typeface="Meiryo UI" pitchFamily="50" charset="-128"/>
                <a:cs typeface="Meiryo UI" pitchFamily="50" charset="-128"/>
              </a:rPr>
              <a:t>から提供する、</a:t>
            </a:r>
            <a:endParaRPr lang="en-US" altLang="ja-JP" sz="2000" dirty="0">
              <a:latin typeface="Meiryo UI" pitchFamily="50" charset="-128"/>
              <a:ea typeface="Meiryo UI" pitchFamily="50" charset="-128"/>
              <a:cs typeface="Meiryo UI" pitchFamily="50" charset="-128"/>
            </a:endParaRPr>
          </a:p>
          <a:p>
            <a:pPr eaLnBrk="1" hangingPunct="1"/>
            <a:r>
              <a:rPr lang="en-US" altLang="ja-JP" sz="2000" b="1" dirty="0">
                <a:solidFill>
                  <a:schemeClr val="accent2"/>
                </a:solidFill>
                <a:latin typeface="Meiryo UI" pitchFamily="50" charset="-128"/>
                <a:ea typeface="Meiryo UI" pitchFamily="50" charset="-128"/>
                <a:cs typeface="Meiryo UI" pitchFamily="50" charset="-128"/>
              </a:rPr>
              <a:t>Ajax</a:t>
            </a:r>
            <a:r>
              <a:rPr lang="en-US" altLang="ja-JP" sz="2000" dirty="0">
                <a:latin typeface="Meiryo UI" pitchFamily="50" charset="-128"/>
                <a:ea typeface="Meiryo UI" pitchFamily="50" charset="-128"/>
                <a:cs typeface="Meiryo UI" pitchFamily="50" charset="-128"/>
              </a:rPr>
              <a:t> </a:t>
            </a:r>
            <a:r>
              <a:rPr lang="ja-JP" altLang="en-US" sz="2000" dirty="0">
                <a:latin typeface="Meiryo UI" pitchFamily="50" charset="-128"/>
                <a:ea typeface="Meiryo UI" pitchFamily="50" charset="-128"/>
                <a:cs typeface="Meiryo UI" pitchFamily="50" charset="-128"/>
              </a:rPr>
              <a:t>と</a:t>
            </a:r>
            <a:r>
              <a:rPr lang="ja-JP" altLang="en-US" sz="2000" b="1" dirty="0">
                <a:solidFill>
                  <a:schemeClr val="accent2"/>
                </a:solidFill>
                <a:latin typeface="Meiryo UI" pitchFamily="50" charset="-128"/>
                <a:ea typeface="Meiryo UI" pitchFamily="50" charset="-128"/>
                <a:cs typeface="Meiryo UI" pitchFamily="50" charset="-128"/>
              </a:rPr>
              <a:t>サーバーサイト </a:t>
            </a:r>
            <a:r>
              <a:rPr lang="en-US" altLang="ja-JP" sz="2000" b="1" dirty="0">
                <a:solidFill>
                  <a:schemeClr val="accent2"/>
                </a:solidFill>
                <a:latin typeface="Meiryo UI" pitchFamily="50" charset="-128"/>
                <a:ea typeface="Meiryo UI" pitchFamily="50" charset="-128"/>
                <a:cs typeface="Meiryo UI" pitchFamily="50" charset="-128"/>
              </a:rPr>
              <a:t>JavaScript</a:t>
            </a:r>
            <a:r>
              <a:rPr lang="en-US" altLang="ja-JP" sz="2000" dirty="0">
                <a:latin typeface="Meiryo UI" pitchFamily="50" charset="-128"/>
                <a:ea typeface="Meiryo UI" pitchFamily="50" charset="-128"/>
                <a:cs typeface="Meiryo UI" pitchFamily="50" charset="-128"/>
              </a:rPr>
              <a:t> </a:t>
            </a:r>
            <a:r>
              <a:rPr lang="ja-JP" altLang="en-US" sz="2000" dirty="0">
                <a:latin typeface="Meiryo UI" pitchFamily="50" charset="-128"/>
                <a:ea typeface="Meiryo UI" pitchFamily="50" charset="-128"/>
                <a:cs typeface="Meiryo UI" pitchFamily="50" charset="-128"/>
              </a:rPr>
              <a:t>を</a:t>
            </a:r>
            <a:endParaRPr lang="en-US" altLang="ja-JP" sz="2000" dirty="0">
              <a:latin typeface="Meiryo UI" pitchFamily="50" charset="-128"/>
              <a:ea typeface="Meiryo UI" pitchFamily="50" charset="-128"/>
              <a:cs typeface="Meiryo UI" pitchFamily="50" charset="-128"/>
            </a:endParaRPr>
          </a:p>
          <a:p>
            <a:pPr eaLnBrk="1" hangingPunct="1"/>
            <a:r>
              <a:rPr lang="ja-JP" altLang="en-US" sz="2000" dirty="0">
                <a:latin typeface="Meiryo UI" pitchFamily="50" charset="-128"/>
                <a:ea typeface="Meiryo UI" pitchFamily="50" charset="-128"/>
                <a:cs typeface="Meiryo UI" pitchFamily="50" charset="-128"/>
              </a:rPr>
              <a:t>使用して</a:t>
            </a:r>
            <a:r>
              <a:rPr lang="en-US" altLang="ja-JP" sz="2000" dirty="0">
                <a:latin typeface="Meiryo UI" pitchFamily="50" charset="-128"/>
                <a:ea typeface="Meiryo UI" pitchFamily="50" charset="-128"/>
                <a:cs typeface="Meiryo UI" pitchFamily="50" charset="-128"/>
              </a:rPr>
              <a:t>Web </a:t>
            </a:r>
            <a:r>
              <a:rPr lang="ja-JP" altLang="en-US" sz="2000" dirty="0">
                <a:latin typeface="Meiryo UI" pitchFamily="50" charset="-128"/>
                <a:ea typeface="Meiryo UI" pitchFamily="50" charset="-128"/>
                <a:cs typeface="Meiryo UI" pitchFamily="50" charset="-128"/>
              </a:rPr>
              <a:t>システムを高速に構築する</a:t>
            </a:r>
            <a:endParaRPr lang="en-US" altLang="ja-JP" sz="2000" dirty="0">
              <a:latin typeface="Meiryo UI" pitchFamily="50" charset="-128"/>
              <a:ea typeface="Meiryo UI" pitchFamily="50" charset="-128"/>
              <a:cs typeface="Meiryo UI" pitchFamily="50" charset="-128"/>
            </a:endParaRPr>
          </a:p>
          <a:p>
            <a:pPr eaLnBrk="1" hangingPunct="1"/>
            <a:r>
              <a:rPr lang="ja-JP" altLang="en-US" sz="2000" dirty="0">
                <a:latin typeface="Meiryo UI" pitchFamily="50" charset="-128"/>
                <a:ea typeface="Meiryo UI" pitchFamily="50" charset="-128"/>
                <a:cs typeface="Meiryo UI" pitchFamily="50" charset="-128"/>
              </a:rPr>
              <a:t>ための</a:t>
            </a:r>
            <a:r>
              <a:rPr lang="ja-JP" altLang="en-US" sz="2000" b="1" dirty="0">
                <a:solidFill>
                  <a:schemeClr val="accent2"/>
                </a:solidFill>
                <a:latin typeface="Meiryo UI" pitchFamily="50" charset="-128"/>
                <a:ea typeface="Meiryo UI" pitchFamily="50" charset="-128"/>
                <a:cs typeface="Meiryo UI" pitchFamily="50" charset="-128"/>
              </a:rPr>
              <a:t>目標指向</a:t>
            </a:r>
            <a:r>
              <a:rPr lang="ja-JP" altLang="en-US" sz="2000" dirty="0">
                <a:latin typeface="Meiryo UI" pitchFamily="50" charset="-128"/>
                <a:ea typeface="Meiryo UI" pitchFamily="50" charset="-128"/>
                <a:cs typeface="Meiryo UI" pitchFamily="50" charset="-128"/>
              </a:rPr>
              <a:t>アプローチを採用した </a:t>
            </a:r>
            <a:endParaRPr lang="en-US" altLang="ja-JP" sz="2000" dirty="0">
              <a:latin typeface="Meiryo UI" pitchFamily="50" charset="-128"/>
              <a:ea typeface="Meiryo UI" pitchFamily="50" charset="-128"/>
              <a:cs typeface="Meiryo UI" pitchFamily="50" charset="-128"/>
            </a:endParaRPr>
          </a:p>
          <a:p>
            <a:pPr eaLnBrk="1" hangingPunct="1"/>
            <a:r>
              <a:rPr lang="en-US" altLang="ja-JP" sz="2000" dirty="0">
                <a:latin typeface="Meiryo UI" pitchFamily="50" charset="-128"/>
                <a:ea typeface="Meiryo UI" pitchFamily="50" charset="-128"/>
                <a:cs typeface="Meiryo UI" pitchFamily="50" charset="-128"/>
              </a:rPr>
              <a:t>Web </a:t>
            </a:r>
            <a:r>
              <a:rPr lang="ja-JP" altLang="en-US" sz="2000" dirty="0">
                <a:latin typeface="Meiryo UI" pitchFamily="50" charset="-128"/>
                <a:ea typeface="Meiryo UI" pitchFamily="50" charset="-128"/>
                <a:cs typeface="Meiryo UI" pitchFamily="50" charset="-128"/>
              </a:rPr>
              <a:t>向けエンタープライズ フレームワークです。</a:t>
            </a:r>
            <a:endParaRPr lang="en-US" altLang="ja-JP" sz="2000" dirty="0">
              <a:latin typeface="Meiryo UI" pitchFamily="50" charset="-128"/>
              <a:ea typeface="Meiryo UI" pitchFamily="50" charset="-128"/>
              <a:cs typeface="Meiryo UI" pitchFamily="50" charset="-128"/>
            </a:endParaRPr>
          </a:p>
        </p:txBody>
      </p:sp>
      <p:pic>
        <p:nvPicPr>
          <p:cNvPr id="8" name="図 7">
            <a:extLst>
              <a:ext uri="{FF2B5EF4-FFF2-40B4-BE49-F238E27FC236}">
                <a16:creationId xmlns:a16="http://schemas.microsoft.com/office/drawing/2014/main" id="{37E58912-C144-48D9-AF9E-49A969728C75}"/>
              </a:ext>
            </a:extLst>
          </p:cNvPr>
          <p:cNvPicPr>
            <a:picLocks noChangeAspect="1"/>
          </p:cNvPicPr>
          <p:nvPr/>
        </p:nvPicPr>
        <p:blipFill>
          <a:blip r:embed="rId6"/>
          <a:stretch>
            <a:fillRect/>
          </a:stretch>
        </p:blipFill>
        <p:spPr>
          <a:xfrm>
            <a:off x="5244380" y="1029679"/>
            <a:ext cx="3048157" cy="1698712"/>
          </a:xfrm>
          <a:prstGeom prst="rect">
            <a:avLst/>
          </a:prstGeom>
        </p:spPr>
      </p:pic>
      <p:sp>
        <p:nvSpPr>
          <p:cNvPr id="12" name="ホームベース 7">
            <a:extLst>
              <a:ext uri="{FF2B5EF4-FFF2-40B4-BE49-F238E27FC236}">
                <a16:creationId xmlns:a16="http://schemas.microsoft.com/office/drawing/2014/main" id="{20F36E98-3D40-4275-85D0-F9A0B7E4AD49}"/>
              </a:ext>
            </a:extLst>
          </p:cNvPr>
          <p:cNvSpPr/>
          <p:nvPr/>
        </p:nvSpPr>
        <p:spPr>
          <a:xfrm>
            <a:off x="246852" y="5074606"/>
            <a:ext cx="1773717" cy="432099"/>
          </a:xfrm>
          <a:prstGeom prst="homePlate">
            <a:avLst/>
          </a:prstGeom>
          <a:solidFill>
            <a:schemeClr val="accent1"/>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ja-JP"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Ajax</a:t>
            </a:r>
            <a:endPar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3" name="ホームベース 8">
            <a:extLst>
              <a:ext uri="{FF2B5EF4-FFF2-40B4-BE49-F238E27FC236}">
                <a16:creationId xmlns:a16="http://schemas.microsoft.com/office/drawing/2014/main" id="{051E436D-57EE-4D89-A794-28BA44AC7A40}"/>
              </a:ext>
            </a:extLst>
          </p:cNvPr>
          <p:cNvSpPr/>
          <p:nvPr/>
        </p:nvSpPr>
        <p:spPr>
          <a:xfrm>
            <a:off x="246851" y="5577614"/>
            <a:ext cx="1773717" cy="432099"/>
          </a:xfrm>
          <a:prstGeom prst="homePlate">
            <a:avLst/>
          </a:prstGeom>
          <a:solidFill>
            <a:schemeClr val="accent1"/>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サーバサイト</a:t>
            </a:r>
            <a:r>
              <a:rPr lang="en-US" altLang="ja-JP"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JavaScript</a:t>
            </a:r>
            <a:endPar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4" name="ホームベース 9">
            <a:extLst>
              <a:ext uri="{FF2B5EF4-FFF2-40B4-BE49-F238E27FC236}">
                <a16:creationId xmlns:a16="http://schemas.microsoft.com/office/drawing/2014/main" id="{813F04B0-C59C-4DBE-ACA6-1AFCEC1860D9}"/>
              </a:ext>
            </a:extLst>
          </p:cNvPr>
          <p:cNvSpPr/>
          <p:nvPr/>
        </p:nvSpPr>
        <p:spPr>
          <a:xfrm>
            <a:off x="2670565" y="5074606"/>
            <a:ext cx="1773717" cy="432099"/>
          </a:xfrm>
          <a:prstGeom prst="homePlate">
            <a:avLst/>
          </a:prstGeom>
          <a:solidFill>
            <a:schemeClr val="accent3"/>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可読性向上</a:t>
            </a:r>
          </a:p>
        </p:txBody>
      </p:sp>
      <p:sp>
        <p:nvSpPr>
          <p:cNvPr id="15" name="ホームベース 13">
            <a:extLst>
              <a:ext uri="{FF2B5EF4-FFF2-40B4-BE49-F238E27FC236}">
                <a16:creationId xmlns:a16="http://schemas.microsoft.com/office/drawing/2014/main" id="{45B9ED30-DD44-4565-A2A6-A2F1CB5CCFF2}"/>
              </a:ext>
            </a:extLst>
          </p:cNvPr>
          <p:cNvSpPr/>
          <p:nvPr/>
        </p:nvSpPr>
        <p:spPr>
          <a:xfrm>
            <a:off x="5146205" y="5074606"/>
            <a:ext cx="1773717" cy="432099"/>
          </a:xfrm>
          <a:prstGeom prst="homePlate">
            <a:avLst/>
          </a:prstGeom>
          <a:solidFill>
            <a:schemeClr val="accent2"/>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基本設計で</a:t>
            </a:r>
            <a:endParaRPr lang="en-US" altLang="ja-JP"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a:p>
            <a:pPr algn="ctr"/>
            <a:r>
              <a:rPr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開発可能</a:t>
            </a:r>
            <a:endPar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6" name="ホームベース 16">
            <a:extLst>
              <a:ext uri="{FF2B5EF4-FFF2-40B4-BE49-F238E27FC236}">
                <a16:creationId xmlns:a16="http://schemas.microsoft.com/office/drawing/2014/main" id="{C1BD6D31-AAE0-473E-B670-5C2CC01EE6BD}"/>
              </a:ext>
            </a:extLst>
          </p:cNvPr>
          <p:cNvSpPr/>
          <p:nvPr/>
        </p:nvSpPr>
        <p:spPr>
          <a:xfrm>
            <a:off x="7341719" y="5579102"/>
            <a:ext cx="1773717" cy="432099"/>
          </a:xfrm>
          <a:prstGeom prst="homePlate">
            <a:avLst/>
          </a:prstGeom>
          <a:solidFill>
            <a:schemeClr val="accent6"/>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プロジェクトのコスト削減に貢献する</a:t>
            </a:r>
            <a:endParaRPr kumimoji="1" lang="en-US" altLang="ja-JP"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7" name="ホームベース 6">
            <a:extLst>
              <a:ext uri="{FF2B5EF4-FFF2-40B4-BE49-F238E27FC236}">
                <a16:creationId xmlns:a16="http://schemas.microsoft.com/office/drawing/2014/main" id="{78330F22-4889-4395-A326-D8FE53909D08}"/>
              </a:ext>
            </a:extLst>
          </p:cNvPr>
          <p:cNvSpPr/>
          <p:nvPr/>
        </p:nvSpPr>
        <p:spPr>
          <a:xfrm>
            <a:off x="246850" y="6088436"/>
            <a:ext cx="1773717" cy="432099"/>
          </a:xfrm>
          <a:prstGeom prst="homePlate">
            <a:avLst/>
          </a:prstGeom>
          <a:solidFill>
            <a:schemeClr val="accent1"/>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目的指向</a:t>
            </a:r>
            <a:endPar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8" name="ホームベース 10">
            <a:extLst>
              <a:ext uri="{FF2B5EF4-FFF2-40B4-BE49-F238E27FC236}">
                <a16:creationId xmlns:a16="http://schemas.microsoft.com/office/drawing/2014/main" id="{24D24231-009C-435B-83D5-50A68E7A1902}"/>
              </a:ext>
            </a:extLst>
          </p:cNvPr>
          <p:cNvSpPr/>
          <p:nvPr/>
        </p:nvSpPr>
        <p:spPr>
          <a:xfrm>
            <a:off x="2670564" y="5579102"/>
            <a:ext cx="1773717" cy="432099"/>
          </a:xfrm>
          <a:prstGeom prst="homePlate">
            <a:avLst/>
          </a:prstGeom>
          <a:solidFill>
            <a:schemeClr val="accent3"/>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ソース量削減</a:t>
            </a:r>
          </a:p>
        </p:txBody>
      </p:sp>
      <p:sp>
        <p:nvSpPr>
          <p:cNvPr id="19" name="ホームベース 18">
            <a:extLst>
              <a:ext uri="{FF2B5EF4-FFF2-40B4-BE49-F238E27FC236}">
                <a16:creationId xmlns:a16="http://schemas.microsoft.com/office/drawing/2014/main" id="{FDAC0ECA-3192-427D-BFA0-783221069C9D}"/>
              </a:ext>
            </a:extLst>
          </p:cNvPr>
          <p:cNvSpPr/>
          <p:nvPr/>
        </p:nvSpPr>
        <p:spPr>
          <a:xfrm>
            <a:off x="2670563" y="6082576"/>
            <a:ext cx="1773717" cy="432099"/>
          </a:xfrm>
          <a:prstGeom prst="homePlate">
            <a:avLst/>
          </a:prstGeom>
          <a:solidFill>
            <a:schemeClr val="accent3"/>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勉強しやすい</a:t>
            </a:r>
            <a:endPar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cxnSp>
        <p:nvCxnSpPr>
          <p:cNvPr id="20" name="直線矢印コネクタ 19">
            <a:extLst>
              <a:ext uri="{FF2B5EF4-FFF2-40B4-BE49-F238E27FC236}">
                <a16:creationId xmlns:a16="http://schemas.microsoft.com/office/drawing/2014/main" id="{B5DF1301-DDF8-4A10-9D55-15F0532FB76C}"/>
              </a:ext>
            </a:extLst>
          </p:cNvPr>
          <p:cNvCxnSpPr>
            <a:stCxn id="12" idx="3"/>
            <a:endCxn id="14" idx="1"/>
          </p:cNvCxnSpPr>
          <p:nvPr/>
        </p:nvCxnSpPr>
        <p:spPr>
          <a:xfrm>
            <a:off x="2020569" y="5290656"/>
            <a:ext cx="649996"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46DA0E26-6693-42A0-805C-7DD65048140A}"/>
              </a:ext>
            </a:extLst>
          </p:cNvPr>
          <p:cNvCxnSpPr>
            <a:stCxn id="17" idx="3"/>
            <a:endCxn id="14" idx="1"/>
          </p:cNvCxnSpPr>
          <p:nvPr/>
        </p:nvCxnSpPr>
        <p:spPr>
          <a:xfrm flipV="1">
            <a:off x="2020567" y="5290656"/>
            <a:ext cx="649998" cy="101383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直線矢印コネクタ 21">
            <a:extLst>
              <a:ext uri="{FF2B5EF4-FFF2-40B4-BE49-F238E27FC236}">
                <a16:creationId xmlns:a16="http://schemas.microsoft.com/office/drawing/2014/main" id="{41734031-84A5-4038-A59D-0A21085F7223}"/>
              </a:ext>
            </a:extLst>
          </p:cNvPr>
          <p:cNvCxnSpPr>
            <a:stCxn id="13" idx="3"/>
            <a:endCxn id="18" idx="1"/>
          </p:cNvCxnSpPr>
          <p:nvPr/>
        </p:nvCxnSpPr>
        <p:spPr>
          <a:xfrm>
            <a:off x="2020568" y="5793664"/>
            <a:ext cx="649996" cy="14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6DEDEC13-9E5C-46D2-9E4C-32BE86547D61}"/>
              </a:ext>
            </a:extLst>
          </p:cNvPr>
          <p:cNvCxnSpPr>
            <a:stCxn id="13" idx="3"/>
            <a:endCxn id="19" idx="1"/>
          </p:cNvCxnSpPr>
          <p:nvPr/>
        </p:nvCxnSpPr>
        <p:spPr>
          <a:xfrm>
            <a:off x="2020568" y="5793664"/>
            <a:ext cx="649995" cy="50496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99A63087-FC1E-44FC-A417-D89A2D90D187}"/>
              </a:ext>
            </a:extLst>
          </p:cNvPr>
          <p:cNvCxnSpPr>
            <a:stCxn id="17" idx="3"/>
            <a:endCxn id="19" idx="1"/>
          </p:cNvCxnSpPr>
          <p:nvPr/>
        </p:nvCxnSpPr>
        <p:spPr>
          <a:xfrm flipV="1">
            <a:off x="2020567" y="6298626"/>
            <a:ext cx="649996" cy="586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EF79F1EA-B934-4C06-B86D-165D10973DFF}"/>
              </a:ext>
            </a:extLst>
          </p:cNvPr>
          <p:cNvCxnSpPr>
            <a:stCxn id="17" idx="3"/>
            <a:endCxn id="18" idx="1"/>
          </p:cNvCxnSpPr>
          <p:nvPr/>
        </p:nvCxnSpPr>
        <p:spPr>
          <a:xfrm flipV="1">
            <a:off x="2020567" y="5795152"/>
            <a:ext cx="649997" cy="5093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6" name="ホームベース 11">
            <a:extLst>
              <a:ext uri="{FF2B5EF4-FFF2-40B4-BE49-F238E27FC236}">
                <a16:creationId xmlns:a16="http://schemas.microsoft.com/office/drawing/2014/main" id="{F8863C61-64F5-4AB2-AC4A-1F40CB9E3AFE}"/>
              </a:ext>
            </a:extLst>
          </p:cNvPr>
          <p:cNvSpPr/>
          <p:nvPr/>
        </p:nvSpPr>
        <p:spPr>
          <a:xfrm>
            <a:off x="5146207" y="5577438"/>
            <a:ext cx="1773717" cy="432099"/>
          </a:xfrm>
          <a:prstGeom prst="homePlate">
            <a:avLst/>
          </a:prstGeom>
          <a:solidFill>
            <a:schemeClr val="accent2"/>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開発工数削減</a:t>
            </a:r>
          </a:p>
        </p:txBody>
      </p:sp>
      <p:cxnSp>
        <p:nvCxnSpPr>
          <p:cNvPr id="27" name="直線矢印コネクタ 26">
            <a:extLst>
              <a:ext uri="{FF2B5EF4-FFF2-40B4-BE49-F238E27FC236}">
                <a16:creationId xmlns:a16="http://schemas.microsoft.com/office/drawing/2014/main" id="{5DE715FB-DCDD-48E8-9458-9EC15D397134}"/>
              </a:ext>
            </a:extLst>
          </p:cNvPr>
          <p:cNvCxnSpPr>
            <a:stCxn id="14" idx="3"/>
            <a:endCxn id="15" idx="1"/>
          </p:cNvCxnSpPr>
          <p:nvPr/>
        </p:nvCxnSpPr>
        <p:spPr>
          <a:xfrm>
            <a:off x="4444282" y="5290656"/>
            <a:ext cx="701923"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107DF370-0BB3-4148-862F-7122B0D690F5}"/>
              </a:ext>
            </a:extLst>
          </p:cNvPr>
          <p:cNvCxnSpPr>
            <a:stCxn id="18" idx="3"/>
            <a:endCxn id="26" idx="1"/>
          </p:cNvCxnSpPr>
          <p:nvPr/>
        </p:nvCxnSpPr>
        <p:spPr>
          <a:xfrm flipV="1">
            <a:off x="4444281" y="5793488"/>
            <a:ext cx="701926" cy="166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C1631DA1-4D4E-4E82-9901-5ECDFC37A454}"/>
              </a:ext>
            </a:extLst>
          </p:cNvPr>
          <p:cNvCxnSpPr>
            <a:stCxn id="19" idx="3"/>
            <a:endCxn id="26" idx="1"/>
          </p:cNvCxnSpPr>
          <p:nvPr/>
        </p:nvCxnSpPr>
        <p:spPr>
          <a:xfrm flipV="1">
            <a:off x="4444280" y="5793488"/>
            <a:ext cx="701927" cy="50513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ホームベース 15">
            <a:extLst>
              <a:ext uri="{FF2B5EF4-FFF2-40B4-BE49-F238E27FC236}">
                <a16:creationId xmlns:a16="http://schemas.microsoft.com/office/drawing/2014/main" id="{9D3B8C1F-4208-404F-87AA-FE10F6CEC9E2}"/>
              </a:ext>
            </a:extLst>
          </p:cNvPr>
          <p:cNvSpPr/>
          <p:nvPr/>
        </p:nvSpPr>
        <p:spPr>
          <a:xfrm>
            <a:off x="5146204" y="6082576"/>
            <a:ext cx="1773717" cy="432099"/>
          </a:xfrm>
          <a:prstGeom prst="homePlate">
            <a:avLst/>
          </a:prstGeom>
          <a:solidFill>
            <a:schemeClr val="accent2"/>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保守しやすい</a:t>
            </a:r>
          </a:p>
        </p:txBody>
      </p:sp>
      <p:cxnSp>
        <p:nvCxnSpPr>
          <p:cNvPr id="31" name="直線矢印コネクタ 30">
            <a:extLst>
              <a:ext uri="{FF2B5EF4-FFF2-40B4-BE49-F238E27FC236}">
                <a16:creationId xmlns:a16="http://schemas.microsoft.com/office/drawing/2014/main" id="{904BC434-35DE-42AB-A1D2-104F92FA7100}"/>
              </a:ext>
            </a:extLst>
          </p:cNvPr>
          <p:cNvCxnSpPr>
            <a:stCxn id="19" idx="3"/>
            <a:endCxn id="30" idx="1"/>
          </p:cNvCxnSpPr>
          <p:nvPr/>
        </p:nvCxnSpPr>
        <p:spPr>
          <a:xfrm>
            <a:off x="4444280" y="6298626"/>
            <a:ext cx="701924"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6AAE4E41-427D-4B4B-B4FF-5994C0EF4B61}"/>
              </a:ext>
            </a:extLst>
          </p:cNvPr>
          <p:cNvCxnSpPr>
            <a:stCxn id="14" idx="3"/>
            <a:endCxn id="30" idx="1"/>
          </p:cNvCxnSpPr>
          <p:nvPr/>
        </p:nvCxnSpPr>
        <p:spPr>
          <a:xfrm>
            <a:off x="4444282" y="5290656"/>
            <a:ext cx="701922" cy="100797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1BBC4389-5D0C-480D-94C4-8C141AC30193}"/>
              </a:ext>
            </a:extLst>
          </p:cNvPr>
          <p:cNvCxnSpPr>
            <a:stCxn id="18" idx="3"/>
            <a:endCxn id="30" idx="1"/>
          </p:cNvCxnSpPr>
          <p:nvPr/>
        </p:nvCxnSpPr>
        <p:spPr>
          <a:xfrm>
            <a:off x="4444281" y="5795152"/>
            <a:ext cx="701923" cy="50347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a16:creationId xmlns:a16="http://schemas.microsoft.com/office/drawing/2014/main" id="{B92D50B2-1575-4FD6-B583-1A427282A6FC}"/>
              </a:ext>
            </a:extLst>
          </p:cNvPr>
          <p:cNvCxnSpPr>
            <a:stCxn id="15" idx="3"/>
            <a:endCxn id="16" idx="1"/>
          </p:cNvCxnSpPr>
          <p:nvPr/>
        </p:nvCxnSpPr>
        <p:spPr>
          <a:xfrm>
            <a:off x="6919922" y="5290656"/>
            <a:ext cx="421797" cy="50449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8E097E88-D127-476B-A971-AAE1A4CC74F7}"/>
              </a:ext>
            </a:extLst>
          </p:cNvPr>
          <p:cNvCxnSpPr>
            <a:stCxn id="26" idx="3"/>
            <a:endCxn id="16" idx="1"/>
          </p:cNvCxnSpPr>
          <p:nvPr/>
        </p:nvCxnSpPr>
        <p:spPr>
          <a:xfrm>
            <a:off x="6919924" y="5793488"/>
            <a:ext cx="421795" cy="166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直線矢印コネクタ 35">
            <a:extLst>
              <a:ext uri="{FF2B5EF4-FFF2-40B4-BE49-F238E27FC236}">
                <a16:creationId xmlns:a16="http://schemas.microsoft.com/office/drawing/2014/main" id="{A7291D75-53C0-4938-8A40-0770D3052985}"/>
              </a:ext>
            </a:extLst>
          </p:cNvPr>
          <p:cNvCxnSpPr>
            <a:stCxn id="30" idx="3"/>
            <a:endCxn id="16" idx="1"/>
          </p:cNvCxnSpPr>
          <p:nvPr/>
        </p:nvCxnSpPr>
        <p:spPr>
          <a:xfrm flipV="1">
            <a:off x="6919921" y="5795152"/>
            <a:ext cx="421798" cy="50347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522203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3"/>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4"/>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6" grpId="0" animBg="1"/>
      <p:bldP spid="3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タイトル 1"/>
          <p:cNvSpPr>
            <a:spLocks noGrp="1"/>
          </p:cNvSpPr>
          <p:nvPr>
            <p:ph type="title" idx="4294967295"/>
          </p:nvPr>
        </p:nvSpPr>
        <p:spPr>
          <a:xfrm>
            <a:off x="276894"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２．</a:t>
            </a:r>
            <a:r>
              <a:rPr lang="en-US" altLang="ja-JP" sz="2800" dirty="0">
                <a:solidFill>
                  <a:schemeClr val="tx2"/>
                </a:solidFill>
                <a:latin typeface="Meiryo UI" pitchFamily="50" charset="-128"/>
                <a:ea typeface="Meiryo UI" pitchFamily="50" charset="-128"/>
                <a:cs typeface="Meiryo UI" pitchFamily="50" charset="-128"/>
              </a:rPr>
              <a:t>EFW</a:t>
            </a:r>
            <a:r>
              <a:rPr lang="ja-JP" altLang="en-US" sz="2800" dirty="0">
                <a:solidFill>
                  <a:schemeClr val="tx2"/>
                </a:solidFill>
                <a:latin typeface="Meiryo UI" pitchFamily="50" charset="-128"/>
                <a:ea typeface="Meiryo UI" pitchFamily="50" charset="-128"/>
                <a:cs typeface="Meiryo UI" pitchFamily="50" charset="-128"/>
              </a:rPr>
              <a:t>の生産性とコスト削減効果</a:t>
            </a:r>
            <a:endParaRPr lang="ja-JP" altLang="en-US" sz="1600" dirty="0">
              <a:solidFill>
                <a:schemeClr val="tx2"/>
              </a:solidFill>
              <a:latin typeface="Meiryo UI" pitchFamily="50" charset="-128"/>
              <a:ea typeface="Meiryo UI" pitchFamily="50" charset="-128"/>
              <a:cs typeface="Meiryo UI" pitchFamily="50" charset="-128"/>
            </a:endParaRP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3</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3" name="AutoShape 6" descr="「我反正信了。」の画像検索結果"/>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10" name="Rectangle 3">
            <a:extLst>
              <a:ext uri="{FF2B5EF4-FFF2-40B4-BE49-F238E27FC236}">
                <a16:creationId xmlns:a16="http://schemas.microsoft.com/office/drawing/2014/main" id="{37553C6E-16E7-493F-9359-42FA66FBE416}"/>
              </a:ext>
            </a:extLst>
          </p:cNvPr>
          <p:cNvSpPr>
            <a:spLocks noChangeArrowheads="1"/>
          </p:cNvSpPr>
          <p:nvPr/>
        </p:nvSpPr>
        <p:spPr bwMode="auto">
          <a:xfrm>
            <a:off x="210343" y="1048186"/>
            <a:ext cx="8723313" cy="1675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ja-JP"/>
            </a:defPPr>
            <a:lvl1pPr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1pPr>
            <a:lvl2pPr marL="4572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2pPr>
            <a:lvl3pPr marL="9144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3pPr>
            <a:lvl4pPr marL="13716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4pPr>
            <a:lvl5pPr marL="18288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5pPr>
            <a:lvl6pPr marL="2286000" algn="l" defTabSz="914400" rtl="0" eaLnBrk="1" latinLnBrk="0" hangingPunct="1">
              <a:defRPr kumimoji="1" sz="1100" kern="1200">
                <a:solidFill>
                  <a:schemeClr val="tx1"/>
                </a:solidFill>
                <a:latin typeface="Arial" charset="0"/>
                <a:ea typeface="ＭＳ Ｐゴシック" pitchFamily="50" charset="-128"/>
                <a:cs typeface="+mn-cs"/>
              </a:defRPr>
            </a:lvl6pPr>
            <a:lvl7pPr marL="2743200" algn="l" defTabSz="914400" rtl="0" eaLnBrk="1" latinLnBrk="0" hangingPunct="1">
              <a:defRPr kumimoji="1" sz="1100" kern="1200">
                <a:solidFill>
                  <a:schemeClr val="tx1"/>
                </a:solidFill>
                <a:latin typeface="Arial" charset="0"/>
                <a:ea typeface="ＭＳ Ｐゴシック" pitchFamily="50" charset="-128"/>
                <a:cs typeface="+mn-cs"/>
              </a:defRPr>
            </a:lvl7pPr>
            <a:lvl8pPr marL="3200400" algn="l" defTabSz="914400" rtl="0" eaLnBrk="1" latinLnBrk="0" hangingPunct="1">
              <a:defRPr kumimoji="1" sz="1100" kern="1200">
                <a:solidFill>
                  <a:schemeClr val="tx1"/>
                </a:solidFill>
                <a:latin typeface="Arial" charset="0"/>
                <a:ea typeface="ＭＳ Ｐゴシック" pitchFamily="50" charset="-128"/>
                <a:cs typeface="+mn-cs"/>
              </a:defRPr>
            </a:lvl8pPr>
            <a:lvl9pPr marL="3657600" algn="l" defTabSz="914400" rtl="0" eaLnBrk="1" latinLnBrk="0" hangingPunct="1">
              <a:defRPr kumimoji="1" sz="1100" kern="1200">
                <a:solidFill>
                  <a:schemeClr val="tx1"/>
                </a:solidFill>
                <a:latin typeface="Arial" charset="0"/>
                <a:ea typeface="ＭＳ Ｐゴシック" pitchFamily="50" charset="-128"/>
                <a:cs typeface="+mn-cs"/>
              </a:defRPr>
            </a:lvl9pPr>
          </a:lstStyle>
          <a:p>
            <a:pPr eaLnBrk="1" latinLnBrk="1" hangingPunct="1">
              <a:lnSpc>
                <a:spcPct val="150000"/>
              </a:lnSpc>
              <a:spcBef>
                <a:spcPct val="25000"/>
              </a:spcBef>
            </a:pPr>
            <a:r>
              <a:rPr lang="en-US" altLang="ja-JP" sz="1600" b="1" dirty="0">
                <a:latin typeface="Meiryo UI" pitchFamily="50" charset="-128"/>
                <a:ea typeface="Meiryo UI" pitchFamily="50" charset="-128"/>
                <a:cs typeface="Meiryo UI" pitchFamily="50" charset="-128"/>
              </a:rPr>
              <a:t>EFW</a:t>
            </a:r>
            <a:r>
              <a:rPr lang="ja-JP" altLang="en-US" sz="1600" b="1" dirty="0">
                <a:latin typeface="Meiryo UI" pitchFamily="50" charset="-128"/>
                <a:ea typeface="Meiryo UI" pitchFamily="50" charset="-128"/>
                <a:cs typeface="Meiryo UI" pitchFamily="50" charset="-128"/>
              </a:rPr>
              <a:t>ソース量</a:t>
            </a:r>
            <a:r>
              <a:rPr lang="en-US" altLang="ja-JP" sz="1600" b="1" dirty="0">
                <a:latin typeface="Meiryo UI" pitchFamily="50" charset="-128"/>
                <a:ea typeface="Meiryo UI" pitchFamily="50" charset="-128"/>
                <a:cs typeface="Meiryo UI" pitchFamily="50" charset="-128"/>
              </a:rPr>
              <a:t>=(MVC</a:t>
            </a:r>
            <a:r>
              <a:rPr lang="ja-JP" altLang="en-US" sz="1600" b="1">
                <a:latin typeface="Meiryo UI" pitchFamily="50" charset="-128"/>
                <a:ea typeface="Meiryo UI" pitchFamily="50" charset="-128"/>
                <a:cs typeface="Meiryo UI" pitchFamily="50" charset="-128"/>
              </a:rPr>
              <a:t>全ソース</a:t>
            </a:r>
            <a:r>
              <a:rPr lang="en-US" altLang="ja-JP" sz="1600" b="1" dirty="0">
                <a:latin typeface="Meiryo UI" pitchFamily="50" charset="-128"/>
                <a:ea typeface="Meiryo UI" pitchFamily="50" charset="-128"/>
                <a:cs typeface="Meiryo UI" pitchFamily="50" charset="-128"/>
              </a:rPr>
              <a:t>-Entity</a:t>
            </a:r>
            <a:r>
              <a:rPr lang="ja-JP" altLang="en-US" sz="1600" b="1" dirty="0">
                <a:latin typeface="Meiryo UI" pitchFamily="50" charset="-128"/>
                <a:ea typeface="Meiryo UI" pitchFamily="50" charset="-128"/>
                <a:cs typeface="Meiryo UI" pitchFamily="50" charset="-128"/>
              </a:rPr>
              <a:t>と</a:t>
            </a:r>
            <a:r>
              <a:rPr lang="en-US" altLang="ja-JP" sz="1600" b="1" dirty="0">
                <a:latin typeface="Meiryo UI" pitchFamily="50" charset="-128"/>
                <a:ea typeface="Meiryo UI" pitchFamily="50" charset="-128"/>
                <a:cs typeface="Meiryo UI" pitchFamily="50" charset="-128"/>
              </a:rPr>
              <a:t>Bean</a:t>
            </a:r>
            <a:r>
              <a:rPr lang="ja-JP" altLang="en-US" sz="1600" b="1" dirty="0">
                <a:latin typeface="Meiryo UI" pitchFamily="50" charset="-128"/>
                <a:ea typeface="Meiryo UI" pitchFamily="50" charset="-128"/>
                <a:cs typeface="Meiryo UI" pitchFamily="50" charset="-128"/>
              </a:rPr>
              <a:t>のソース</a:t>
            </a:r>
            <a:r>
              <a:rPr lang="en-US" altLang="ja-JP" sz="1600" b="1" dirty="0">
                <a:latin typeface="Meiryo UI" pitchFamily="50" charset="-128"/>
                <a:ea typeface="Meiryo UI" pitchFamily="50" charset="-128"/>
                <a:cs typeface="Meiryo UI" pitchFamily="50" charset="-128"/>
              </a:rPr>
              <a:t>)  * </a:t>
            </a:r>
            <a:r>
              <a:rPr lang="en-US" altLang="ja-JP" sz="1600" b="1" dirty="0">
                <a:solidFill>
                  <a:schemeClr val="accent2"/>
                </a:solidFill>
                <a:latin typeface="Meiryo UI" pitchFamily="50" charset="-128"/>
                <a:ea typeface="Meiryo UI" pitchFamily="50" charset="-128"/>
                <a:cs typeface="Meiryo UI" pitchFamily="50" charset="-128"/>
              </a:rPr>
              <a:t>50%</a:t>
            </a:r>
            <a:r>
              <a:rPr lang="en-US" altLang="ja-JP" sz="1600" b="1" dirty="0">
                <a:latin typeface="Meiryo UI" pitchFamily="50" charset="-128"/>
                <a:ea typeface="Meiryo UI" pitchFamily="50" charset="-128"/>
                <a:cs typeface="Meiryo UI" pitchFamily="50" charset="-128"/>
              </a:rPr>
              <a:t>  </a:t>
            </a:r>
          </a:p>
          <a:p>
            <a:pPr eaLnBrk="1" latinLnBrk="1" hangingPunct="1">
              <a:lnSpc>
                <a:spcPct val="150000"/>
              </a:lnSpc>
              <a:spcBef>
                <a:spcPct val="25000"/>
              </a:spcBef>
            </a:pPr>
            <a:r>
              <a:rPr lang="en-US" altLang="ja-JP" sz="1600" b="1" dirty="0">
                <a:latin typeface="Meiryo UI" pitchFamily="50" charset="-128"/>
                <a:ea typeface="Meiryo UI" pitchFamily="50" charset="-128"/>
                <a:cs typeface="Meiryo UI" pitchFamily="50" charset="-128"/>
              </a:rPr>
              <a:t>EFW</a:t>
            </a:r>
            <a:r>
              <a:rPr lang="ja-JP" altLang="en-US" sz="1600" b="1" dirty="0">
                <a:latin typeface="Meiryo UI" pitchFamily="50" charset="-128"/>
                <a:ea typeface="Meiryo UI" pitchFamily="50" charset="-128"/>
                <a:cs typeface="Meiryo UI" pitchFamily="50" charset="-128"/>
              </a:rPr>
              <a:t>開発単体工数</a:t>
            </a:r>
            <a:r>
              <a:rPr lang="en-US" altLang="ja-JP" sz="1600" b="1" dirty="0">
                <a:latin typeface="Meiryo UI" pitchFamily="50" charset="-128"/>
                <a:ea typeface="Meiryo UI" pitchFamily="50" charset="-128"/>
                <a:cs typeface="Meiryo UI" pitchFamily="50" charset="-128"/>
              </a:rPr>
              <a:t>= EFW</a:t>
            </a:r>
            <a:r>
              <a:rPr lang="ja-JP" altLang="en-US" sz="1600" b="1" dirty="0">
                <a:latin typeface="Meiryo UI" pitchFamily="50" charset="-128"/>
                <a:ea typeface="Meiryo UI" pitchFamily="50" charset="-128"/>
                <a:cs typeface="Meiryo UI" pitchFamily="50" charset="-128"/>
              </a:rPr>
              <a:t>ソース量</a:t>
            </a:r>
            <a:r>
              <a:rPr lang="en-US" altLang="ja-JP" sz="1600" b="1" dirty="0">
                <a:latin typeface="Meiryo UI" pitchFamily="50" charset="-128"/>
                <a:ea typeface="Meiryo UI" pitchFamily="50" charset="-128"/>
                <a:cs typeface="Meiryo UI" pitchFamily="50" charset="-128"/>
              </a:rPr>
              <a:t>/ EFW</a:t>
            </a:r>
            <a:r>
              <a:rPr lang="ja-JP" altLang="en-US" sz="1600" b="1" dirty="0">
                <a:latin typeface="Meiryo UI" pitchFamily="50" charset="-128"/>
                <a:ea typeface="Meiryo UI" pitchFamily="50" charset="-128"/>
                <a:cs typeface="Meiryo UI" pitchFamily="50" charset="-128"/>
              </a:rPr>
              <a:t>生産性</a:t>
            </a:r>
            <a:r>
              <a:rPr lang="en-US" altLang="ja-JP" sz="1600" b="1" dirty="0">
                <a:latin typeface="Meiryo UI" pitchFamily="50" charset="-128"/>
                <a:ea typeface="Meiryo UI" pitchFamily="50" charset="-128"/>
                <a:cs typeface="Meiryo UI" pitchFamily="50" charset="-128"/>
              </a:rPr>
              <a:t>(</a:t>
            </a:r>
            <a:r>
              <a:rPr lang="en-US" altLang="ja-JP" sz="1600" b="1" dirty="0">
                <a:solidFill>
                  <a:schemeClr val="accent2"/>
                </a:solidFill>
                <a:latin typeface="Meiryo UI" pitchFamily="50" charset="-128"/>
                <a:ea typeface="Meiryo UI" pitchFamily="50" charset="-128"/>
                <a:cs typeface="Meiryo UI" pitchFamily="50" charset="-128"/>
              </a:rPr>
              <a:t>142</a:t>
            </a:r>
            <a:r>
              <a:rPr lang="ja-JP" altLang="en-US" sz="1600" b="1" dirty="0">
                <a:solidFill>
                  <a:schemeClr val="accent2"/>
                </a:solidFill>
                <a:latin typeface="Meiryo UI" pitchFamily="50" charset="-128"/>
                <a:ea typeface="Meiryo UI" pitchFamily="50" charset="-128"/>
                <a:cs typeface="Meiryo UI" pitchFamily="50" charset="-128"/>
              </a:rPr>
              <a:t>行</a:t>
            </a:r>
            <a:r>
              <a:rPr lang="en-US" altLang="ja-JP" sz="1600" b="1" dirty="0">
                <a:latin typeface="Meiryo UI" pitchFamily="50" charset="-128"/>
                <a:ea typeface="Meiryo UI" pitchFamily="50" charset="-128"/>
                <a:cs typeface="Meiryo UI" pitchFamily="50" charset="-128"/>
              </a:rPr>
              <a:t>/</a:t>
            </a:r>
            <a:r>
              <a:rPr lang="ja-JP" altLang="en-US" sz="1600" b="1" dirty="0">
                <a:latin typeface="Meiryo UI" pitchFamily="50" charset="-128"/>
                <a:ea typeface="Meiryo UI" pitchFamily="50" charset="-128"/>
                <a:cs typeface="Meiryo UI" pitchFamily="50" charset="-128"/>
              </a:rPr>
              <a:t>人日</a:t>
            </a:r>
            <a:r>
              <a:rPr lang="en-US" altLang="ja-JP" sz="1600" b="1" dirty="0">
                <a:latin typeface="Meiryo UI" pitchFamily="50" charset="-128"/>
                <a:ea typeface="Meiryo UI" pitchFamily="50" charset="-128"/>
                <a:cs typeface="Meiryo UI" pitchFamily="50" charset="-128"/>
              </a:rPr>
              <a:t>)</a:t>
            </a:r>
          </a:p>
          <a:p>
            <a:pPr eaLnBrk="1" latinLnBrk="1" hangingPunct="1">
              <a:lnSpc>
                <a:spcPct val="150000"/>
              </a:lnSpc>
              <a:spcBef>
                <a:spcPct val="25000"/>
              </a:spcBef>
            </a:pPr>
            <a:endParaRPr lang="en-US" altLang="ja-JP" sz="1500" dirty="0">
              <a:latin typeface="Meiryo UI" pitchFamily="50" charset="-128"/>
              <a:ea typeface="Meiryo UI" pitchFamily="50" charset="-128"/>
              <a:cs typeface="Meiryo UI" pitchFamily="50" charset="-128"/>
            </a:endParaRPr>
          </a:p>
          <a:p>
            <a:pPr eaLnBrk="1" latinLnBrk="1" hangingPunct="1">
              <a:lnSpc>
                <a:spcPct val="150000"/>
              </a:lnSpc>
              <a:spcBef>
                <a:spcPct val="25000"/>
              </a:spcBef>
            </a:pPr>
            <a:r>
              <a:rPr lang="ja-JP" altLang="en-US" sz="1600" dirty="0">
                <a:solidFill>
                  <a:schemeClr val="bg1">
                    <a:lumMod val="75000"/>
                  </a:schemeClr>
                </a:solidFill>
                <a:latin typeface="Meiryo UI" pitchFamily="50" charset="-128"/>
                <a:ea typeface="Meiryo UI" pitchFamily="50" charset="-128"/>
                <a:cs typeface="Meiryo UI" pitchFamily="50" charset="-128"/>
              </a:rPr>
              <a:t>コスト削減の割合について、要件定義と基本設計の割合により変わるが、以下の数字はご参考まで。</a:t>
            </a:r>
            <a:endParaRPr lang="en-US" altLang="ja-JP" sz="1600" dirty="0">
              <a:solidFill>
                <a:schemeClr val="bg1">
                  <a:lumMod val="75000"/>
                </a:schemeClr>
              </a:solidFill>
              <a:latin typeface="Meiryo UI" pitchFamily="50" charset="-128"/>
              <a:ea typeface="Meiryo UI" pitchFamily="50" charset="-128"/>
              <a:cs typeface="Meiryo UI" pitchFamily="50" charset="-128"/>
            </a:endParaRPr>
          </a:p>
        </p:txBody>
      </p:sp>
      <p:sp>
        <p:nvSpPr>
          <p:cNvPr id="2" name="正方形/長方形 1">
            <a:extLst>
              <a:ext uri="{FF2B5EF4-FFF2-40B4-BE49-F238E27FC236}">
                <a16:creationId xmlns:a16="http://schemas.microsoft.com/office/drawing/2014/main" id="{BDC42302-AEF8-4E0E-9271-3BD7CBFB5D90}"/>
              </a:ext>
            </a:extLst>
          </p:cNvPr>
          <p:cNvSpPr/>
          <p:nvPr/>
        </p:nvSpPr>
        <p:spPr>
          <a:xfrm>
            <a:off x="1121395" y="3190473"/>
            <a:ext cx="6540597" cy="477054"/>
          </a:xfrm>
          <a:prstGeom prst="rect">
            <a:avLst/>
          </a:prstGeom>
        </p:spPr>
        <p:txBody>
          <a:bodyPr wrap="square">
            <a:spAutoFit/>
          </a:bodyPr>
          <a:lstStyle/>
          <a:p>
            <a:r>
              <a:rPr lang="ja-JP" altLang="en-US" sz="2500" b="1" dirty="0">
                <a:latin typeface="Meiryo UI" pitchFamily="50" charset="-128"/>
                <a:ea typeface="Meiryo UI" pitchFamily="50" charset="-128"/>
                <a:cs typeface="Meiryo UI" pitchFamily="50" charset="-128"/>
              </a:rPr>
              <a:t>新規：</a:t>
            </a:r>
            <a:r>
              <a:rPr lang="en-US" altLang="ja-JP" sz="2500" b="1" dirty="0">
                <a:solidFill>
                  <a:srgbClr val="FF0000"/>
                </a:solidFill>
                <a:latin typeface="Meiryo UI" pitchFamily="50" charset="-128"/>
                <a:ea typeface="Meiryo UI" pitchFamily="50" charset="-128"/>
                <a:cs typeface="Meiryo UI" pitchFamily="50" charset="-128"/>
              </a:rPr>
              <a:t>30%</a:t>
            </a:r>
            <a:r>
              <a:rPr lang="ja-JP" altLang="en-US" sz="2500" b="1" dirty="0">
                <a:latin typeface="Meiryo UI" pitchFamily="50" charset="-128"/>
                <a:ea typeface="Meiryo UI" pitchFamily="50" charset="-128"/>
                <a:cs typeface="Meiryo UI" pitchFamily="50" charset="-128"/>
              </a:rPr>
              <a:t>削減</a:t>
            </a:r>
            <a:r>
              <a:rPr lang="ja-JP" altLang="en-US" sz="2500" b="1" dirty="0">
                <a:solidFill>
                  <a:srgbClr val="FF0000"/>
                </a:solidFill>
                <a:latin typeface="Meiryo UI" pitchFamily="50" charset="-128"/>
                <a:ea typeface="Meiryo UI" pitchFamily="50" charset="-128"/>
                <a:cs typeface="Meiryo UI" pitchFamily="50" charset="-128"/>
              </a:rPr>
              <a:t>　　</a:t>
            </a:r>
            <a:r>
              <a:rPr lang="ja-JP" altLang="en-US" sz="2500" b="1" dirty="0">
                <a:latin typeface="Meiryo UI" pitchFamily="50" charset="-128"/>
                <a:ea typeface="Meiryo UI" pitchFamily="50" charset="-128"/>
                <a:cs typeface="Meiryo UI" pitchFamily="50" charset="-128"/>
              </a:rPr>
              <a:t>コンバージョン：</a:t>
            </a:r>
            <a:r>
              <a:rPr lang="en-US" altLang="ja-JP" sz="2500" b="1" dirty="0">
                <a:solidFill>
                  <a:srgbClr val="FF0000"/>
                </a:solidFill>
                <a:latin typeface="Meiryo UI" pitchFamily="50" charset="-128"/>
                <a:ea typeface="Meiryo UI" pitchFamily="50" charset="-128"/>
                <a:cs typeface="Meiryo UI" pitchFamily="50" charset="-128"/>
              </a:rPr>
              <a:t>50%</a:t>
            </a:r>
            <a:r>
              <a:rPr lang="ja-JP" altLang="en-US" sz="2500" b="1" dirty="0">
                <a:latin typeface="Meiryo UI" pitchFamily="50" charset="-128"/>
                <a:ea typeface="Meiryo UI" pitchFamily="50" charset="-128"/>
                <a:cs typeface="Meiryo UI" pitchFamily="50" charset="-128"/>
              </a:rPr>
              <a:t>削減</a:t>
            </a:r>
            <a:endParaRPr lang="ja-JP" altLang="en-US" sz="2500" dirty="0"/>
          </a:p>
        </p:txBody>
      </p:sp>
    </p:spTree>
    <p:custDataLst>
      <p:tags r:id="rId1"/>
    </p:custDataLst>
    <p:extLst>
      <p:ext uri="{BB962C8B-B14F-4D97-AF65-F5344CB8AC3E}">
        <p14:creationId xmlns:p14="http://schemas.microsoft.com/office/powerpoint/2010/main" val="3406842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5"/>
          <p:cNvSpPr txBox="1">
            <a:spLocks noChangeArrowheads="1"/>
          </p:cNvSpPr>
          <p:nvPr/>
        </p:nvSpPr>
        <p:spPr bwMode="auto">
          <a:xfrm>
            <a:off x="215211" y="4127164"/>
            <a:ext cx="8579385" cy="21390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eaLnBrk="1" hangingPunct="1">
              <a:spcBef>
                <a:spcPts val="0"/>
              </a:spcBef>
              <a:spcAft>
                <a:spcPts val="600"/>
              </a:spcAft>
              <a:buFontTx/>
              <a:buNone/>
            </a:pPr>
            <a:r>
              <a:rPr lang="ja-JP" altLang="en-US" sz="1600" dirty="0">
                <a:solidFill>
                  <a:schemeClr val="bg1">
                    <a:lumMod val="50000"/>
                  </a:schemeClr>
                </a:solidFill>
                <a:latin typeface="Meiryo UI" pitchFamily="50" charset="-128"/>
                <a:ea typeface="Meiryo UI" pitchFamily="50" charset="-128"/>
                <a:cs typeface="Meiryo UI" pitchFamily="50" charset="-128"/>
              </a:rPr>
              <a:t>そして、従来の</a:t>
            </a:r>
            <a:r>
              <a:rPr lang="en-US" altLang="ja-JP" sz="1600" dirty="0">
                <a:solidFill>
                  <a:schemeClr val="bg1">
                    <a:lumMod val="50000"/>
                  </a:schemeClr>
                </a:solidFill>
                <a:latin typeface="Meiryo UI" pitchFamily="50" charset="-128"/>
                <a:ea typeface="Meiryo UI" pitchFamily="50" charset="-128"/>
                <a:cs typeface="Meiryo UI" pitchFamily="50" charset="-128"/>
              </a:rPr>
              <a:t>WEB</a:t>
            </a:r>
            <a:r>
              <a:rPr lang="ja-JP" altLang="en-US" sz="1600" dirty="0">
                <a:solidFill>
                  <a:schemeClr val="bg1">
                    <a:lumMod val="50000"/>
                  </a:schemeClr>
                </a:solidFill>
                <a:latin typeface="Meiryo UI" pitchFamily="50" charset="-128"/>
                <a:ea typeface="Meiryo UI" pitchFamily="50" charset="-128"/>
                <a:cs typeface="Meiryo UI" pitchFamily="50" charset="-128"/>
              </a:rPr>
              <a:t>開発において、よく存在する以下の現象は問題と見なせます。</a:t>
            </a:r>
            <a:endParaRPr lang="en-US" altLang="ja-JP" sz="1600" dirty="0">
              <a:solidFill>
                <a:schemeClr val="bg1">
                  <a:lumMod val="50000"/>
                </a:schemeClr>
              </a:solidFill>
              <a:latin typeface="Meiryo UI" pitchFamily="50" charset="-128"/>
              <a:ea typeface="Meiryo UI" pitchFamily="50" charset="-128"/>
              <a:cs typeface="Meiryo UI" pitchFamily="50" charset="-128"/>
            </a:endParaRPr>
          </a:p>
          <a:p>
            <a:pPr eaLnBrk="1" hangingPunct="1">
              <a:spcBef>
                <a:spcPts val="0"/>
              </a:spcBef>
              <a:spcAft>
                <a:spcPts val="600"/>
              </a:spcAft>
              <a:buFontTx/>
              <a:buNone/>
            </a:pPr>
            <a:endParaRPr lang="en-US" altLang="ja-JP" sz="1600" dirty="0">
              <a:solidFill>
                <a:schemeClr val="bg1">
                  <a:lumMod val="50000"/>
                </a:schemeClr>
              </a:solidFill>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dirty="0">
                <a:solidFill>
                  <a:srgbClr val="FF0000"/>
                </a:solidFill>
                <a:latin typeface="Meiryo UI" pitchFamily="50" charset="-128"/>
                <a:ea typeface="Meiryo UI" pitchFamily="50" charset="-128"/>
                <a:cs typeface="Meiryo UI" pitchFamily="50" charset="-128"/>
              </a:rPr>
              <a:t>問題</a:t>
            </a:r>
            <a:r>
              <a:rPr lang="ja-JP" altLang="en-US" sz="2000" dirty="0">
                <a:solidFill>
                  <a:schemeClr val="accent2"/>
                </a:solidFill>
                <a:latin typeface="Meiryo UI" pitchFamily="50" charset="-128"/>
                <a:ea typeface="Meiryo UI" pitchFamily="50" charset="-128"/>
                <a:cs typeface="Meiryo UI" pitchFamily="50" charset="-128"/>
              </a:rPr>
              <a:t>１、</a:t>
            </a:r>
            <a:r>
              <a:rPr lang="ja-JP" altLang="en-US" sz="2000" dirty="0">
                <a:latin typeface="Meiryo UI" pitchFamily="50" charset="-128"/>
                <a:ea typeface="Meiryo UI" pitchFamily="50" charset="-128"/>
                <a:cs typeface="Meiryo UI" pitchFamily="50" charset="-128"/>
              </a:rPr>
              <a:t>仕様書の１行に対して、プログラムは数十行で組まないといけない。</a:t>
            </a:r>
            <a:endParaRPr lang="en-US" altLang="ja-JP" sz="2000" dirty="0">
              <a:latin typeface="Meiryo UI" pitchFamily="50" charset="-128"/>
              <a:ea typeface="Meiryo UI" pitchFamily="50" charset="-128"/>
              <a:cs typeface="Meiryo UI" pitchFamily="50" charset="-128"/>
            </a:endParaRPr>
          </a:p>
          <a:p>
            <a:pPr eaLnBrk="1" hangingPunct="1">
              <a:spcBef>
                <a:spcPts val="0"/>
              </a:spcBef>
              <a:spcAft>
                <a:spcPts val="600"/>
              </a:spcAft>
              <a:buFontTx/>
              <a:buNone/>
            </a:pPr>
            <a:endParaRPr lang="en-US" altLang="ja-JP" sz="1600" dirty="0">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dirty="0">
                <a:solidFill>
                  <a:srgbClr val="FF0000"/>
                </a:solidFill>
                <a:latin typeface="Meiryo UI" pitchFamily="50" charset="-128"/>
                <a:ea typeface="Meiryo UI" pitchFamily="50" charset="-128"/>
                <a:cs typeface="Meiryo UI" pitchFamily="50" charset="-128"/>
              </a:rPr>
              <a:t>問題</a:t>
            </a:r>
            <a:r>
              <a:rPr lang="ja-JP" altLang="en-US" sz="2000" dirty="0">
                <a:solidFill>
                  <a:schemeClr val="accent2"/>
                </a:solidFill>
                <a:latin typeface="Meiryo UI" pitchFamily="50" charset="-128"/>
                <a:ea typeface="Meiryo UI" pitchFamily="50" charset="-128"/>
                <a:cs typeface="Meiryo UI" pitchFamily="50" charset="-128"/>
              </a:rPr>
              <a:t>２、</a:t>
            </a:r>
            <a:r>
              <a:rPr lang="ja-JP" altLang="en-US" sz="2000" dirty="0">
                <a:latin typeface="Meiryo UI" pitchFamily="50" charset="-128"/>
                <a:ea typeface="Meiryo UI" pitchFamily="50" charset="-128"/>
                <a:cs typeface="Meiryo UI" pitchFamily="50" charset="-128"/>
              </a:rPr>
              <a:t>仕様書の明瞭な処理順番に対して、プログラムはあちこちに遷移し、</a:t>
            </a:r>
            <a:endParaRPr lang="en-US" altLang="ja-JP" sz="2000" dirty="0">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dirty="0">
                <a:latin typeface="Meiryo UI" pitchFamily="50" charset="-128"/>
                <a:ea typeface="Meiryo UI" pitchFamily="50" charset="-128"/>
                <a:cs typeface="Meiryo UI" pitchFamily="50" charset="-128"/>
              </a:rPr>
              <a:t>　　 　　　プロではないと処理順番をはっきり読み取れない。</a:t>
            </a:r>
            <a:endParaRPr lang="en-US" altLang="ja-JP" sz="2000" dirty="0">
              <a:latin typeface="Meiryo UI" pitchFamily="50" charset="-128"/>
              <a:ea typeface="Meiryo UI" pitchFamily="50" charset="-128"/>
              <a:cs typeface="Meiryo UI" pitchFamily="50" charset="-128"/>
            </a:endParaRPr>
          </a:p>
        </p:txBody>
      </p:sp>
      <p:sp>
        <p:nvSpPr>
          <p:cNvPr id="4098" name="タイトル 1"/>
          <p:cNvSpPr>
            <a:spLocks noGrp="1"/>
          </p:cNvSpPr>
          <p:nvPr>
            <p:ph type="title" idx="4294967295"/>
          </p:nvPr>
        </p:nvSpPr>
        <p:spPr>
          <a:xfrm>
            <a:off x="276894"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３．プログラムの可読性</a:t>
            </a: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4</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4137" name="テキスト ボックス 5"/>
          <p:cNvSpPr txBox="1">
            <a:spLocks noChangeArrowheads="1"/>
          </p:cNvSpPr>
          <p:nvPr/>
        </p:nvSpPr>
        <p:spPr bwMode="auto">
          <a:xfrm>
            <a:off x="223092" y="1005408"/>
            <a:ext cx="857938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eaLnBrk="1" hangingPunct="1">
              <a:spcBef>
                <a:spcPts val="0"/>
              </a:spcBef>
              <a:spcAft>
                <a:spcPts val="600"/>
              </a:spcAft>
              <a:buFontTx/>
              <a:buNone/>
            </a:pPr>
            <a:r>
              <a:rPr lang="ja-JP" altLang="en-US" sz="2000" dirty="0">
                <a:latin typeface="Meiryo UI" pitchFamily="50" charset="-128"/>
                <a:ea typeface="Meiryo UI" pitchFamily="50" charset="-128"/>
                <a:cs typeface="Meiryo UI" pitchFamily="50" charset="-128"/>
              </a:rPr>
              <a:t>プログラムの可読性とは、プログラムの</a:t>
            </a:r>
            <a:r>
              <a:rPr lang="ja-JP" altLang="en-US" sz="2000" b="1" dirty="0">
                <a:solidFill>
                  <a:schemeClr val="accent2"/>
                </a:solidFill>
                <a:latin typeface="Meiryo UI" pitchFamily="50" charset="-128"/>
                <a:ea typeface="Meiryo UI" pitchFamily="50" charset="-128"/>
                <a:cs typeface="Meiryo UI" pitchFamily="50" charset="-128"/>
              </a:rPr>
              <a:t>目的</a:t>
            </a:r>
            <a:r>
              <a:rPr lang="ja-JP" altLang="en-US" sz="2000" dirty="0">
                <a:latin typeface="Meiryo UI" pitchFamily="50" charset="-128"/>
                <a:ea typeface="Meiryo UI" pitchFamily="50" charset="-128"/>
                <a:cs typeface="Meiryo UI" pitchFamily="50" charset="-128"/>
              </a:rPr>
              <a:t>や</a:t>
            </a:r>
            <a:r>
              <a:rPr lang="ja-JP" altLang="en-US" sz="2000" b="1" dirty="0">
                <a:solidFill>
                  <a:schemeClr val="accent2"/>
                </a:solidFill>
                <a:latin typeface="Meiryo UI" pitchFamily="50" charset="-128"/>
                <a:ea typeface="Meiryo UI" pitchFamily="50" charset="-128"/>
                <a:cs typeface="Meiryo UI" pitchFamily="50" charset="-128"/>
              </a:rPr>
              <a:t>処理の流れ</a:t>
            </a:r>
            <a:r>
              <a:rPr lang="ja-JP" altLang="en-US" sz="2000" dirty="0">
                <a:latin typeface="Meiryo UI" pitchFamily="50" charset="-128"/>
                <a:ea typeface="Meiryo UI" pitchFamily="50" charset="-128"/>
                <a:cs typeface="Meiryo UI" pitchFamily="50" charset="-128"/>
              </a:rPr>
              <a:t>の理解しやすさを指している。　　</a:t>
            </a:r>
            <a:r>
              <a:rPr lang="en-US" altLang="ja-JP" sz="1600" dirty="0">
                <a:solidFill>
                  <a:schemeClr val="bg1">
                    <a:lumMod val="65000"/>
                  </a:schemeClr>
                </a:solidFill>
                <a:latin typeface="Meiryo UI" pitchFamily="50" charset="-128"/>
                <a:ea typeface="Meiryo UI" pitchFamily="50" charset="-128"/>
                <a:cs typeface="Meiryo UI" pitchFamily="50" charset="-128"/>
              </a:rPr>
              <a:t>(From : wiki/</a:t>
            </a:r>
            <a:r>
              <a:rPr lang="ja-JP" altLang="en-US" sz="1600" dirty="0">
                <a:solidFill>
                  <a:schemeClr val="bg1">
                    <a:lumMod val="65000"/>
                  </a:schemeClr>
                </a:solidFill>
                <a:latin typeface="Meiryo UI" pitchFamily="50" charset="-128"/>
                <a:ea typeface="Meiryo UI" pitchFamily="50" charset="-128"/>
                <a:cs typeface="Meiryo UI" pitchFamily="50" charset="-128"/>
              </a:rPr>
              <a:t>可読性</a:t>
            </a:r>
            <a:r>
              <a:rPr lang="en-US" altLang="ja-JP" sz="1600" dirty="0">
                <a:solidFill>
                  <a:schemeClr val="bg1">
                    <a:lumMod val="65000"/>
                  </a:schemeClr>
                </a:solidFill>
                <a:latin typeface="Meiryo UI" pitchFamily="50" charset="-128"/>
                <a:ea typeface="Meiryo UI" pitchFamily="50" charset="-128"/>
                <a:cs typeface="Meiryo UI" pitchFamily="50" charset="-128"/>
              </a:rPr>
              <a:t>)</a:t>
            </a:r>
          </a:p>
        </p:txBody>
      </p:sp>
      <p:sp>
        <p:nvSpPr>
          <p:cNvPr id="3" name="AutoShape 6" descr="「我反正信了。」の画像検索結果"/>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1026" name="Picture 2" descr="「BUG」の画像検索結果"/>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4251" y="4705502"/>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BUG」の画像検索結果"/>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2503" y="5414537"/>
            <a:ext cx="540000" cy="540000"/>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5"/>
          <p:cNvSpPr txBox="1">
            <a:spLocks noChangeArrowheads="1"/>
          </p:cNvSpPr>
          <p:nvPr/>
        </p:nvSpPr>
        <p:spPr bwMode="auto">
          <a:xfrm>
            <a:off x="215210" y="1841892"/>
            <a:ext cx="8579385" cy="1877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eaLnBrk="1" hangingPunct="1">
              <a:spcBef>
                <a:spcPts val="0"/>
              </a:spcBef>
              <a:spcAft>
                <a:spcPts val="600"/>
              </a:spcAft>
              <a:buFontTx/>
              <a:buNone/>
            </a:pPr>
            <a:r>
              <a:rPr lang="ja-JP" altLang="en-US" sz="1600" dirty="0">
                <a:solidFill>
                  <a:schemeClr val="bg1">
                    <a:lumMod val="65000"/>
                  </a:schemeClr>
                </a:solidFill>
                <a:latin typeface="Meiryo UI" pitchFamily="50" charset="-128"/>
                <a:ea typeface="Meiryo UI" pitchFamily="50" charset="-128"/>
                <a:cs typeface="Meiryo UI" pitchFamily="50" charset="-128"/>
              </a:rPr>
              <a:t>その「理解しやすさ」は、以下のように考えられます。</a:t>
            </a:r>
            <a:endParaRPr lang="en-US" altLang="ja-JP" sz="1600" dirty="0">
              <a:solidFill>
                <a:schemeClr val="bg1">
                  <a:lumMod val="65000"/>
                </a:schemeClr>
              </a:solidFill>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b="1" dirty="0">
                <a:solidFill>
                  <a:schemeClr val="accent2"/>
                </a:solidFill>
                <a:latin typeface="Meiryo UI" pitchFamily="50" charset="-128"/>
                <a:ea typeface="Meiryo UI" pitchFamily="50" charset="-128"/>
                <a:cs typeface="Meiryo UI" pitchFamily="50" charset="-128"/>
              </a:rPr>
              <a:t>・目的の理解しやすさ</a:t>
            </a:r>
            <a:endParaRPr lang="en-US" altLang="ja-JP" sz="2000" b="1" dirty="0">
              <a:solidFill>
                <a:schemeClr val="accent2"/>
              </a:solidFill>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dirty="0">
                <a:solidFill>
                  <a:srgbClr val="0000FF"/>
                </a:solidFill>
                <a:latin typeface="Meiryo UI" pitchFamily="50" charset="-128"/>
                <a:ea typeface="Meiryo UI" pitchFamily="50" charset="-128"/>
                <a:cs typeface="Meiryo UI" pitchFamily="50" charset="-128"/>
              </a:rPr>
              <a:t>　 </a:t>
            </a:r>
            <a:r>
              <a:rPr lang="ja-JP" altLang="en-US" sz="2000" dirty="0">
                <a:latin typeface="Meiryo UI" pitchFamily="50" charset="-128"/>
                <a:ea typeface="Meiryo UI" pitchFamily="50" charset="-128"/>
                <a:cs typeface="Meiryo UI" pitchFamily="50" charset="-128"/>
              </a:rPr>
              <a:t>プログラムの粒度は、設計書の粒度とマッピングしやすいか否か</a:t>
            </a:r>
            <a:endParaRPr lang="en-US" altLang="ja-JP" sz="2000" dirty="0">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b="1" dirty="0">
                <a:solidFill>
                  <a:schemeClr val="accent2"/>
                </a:solidFill>
                <a:latin typeface="Meiryo UI" pitchFamily="50" charset="-128"/>
                <a:ea typeface="Meiryo UI" pitchFamily="50" charset="-128"/>
                <a:cs typeface="Meiryo UI" pitchFamily="50" charset="-128"/>
              </a:rPr>
              <a:t>・処理流れの理解しやすさ</a:t>
            </a:r>
            <a:endParaRPr lang="en-US" altLang="ja-JP" sz="2000" b="1" dirty="0">
              <a:solidFill>
                <a:schemeClr val="accent2"/>
              </a:solidFill>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dirty="0">
                <a:solidFill>
                  <a:srgbClr val="0000FF"/>
                </a:solidFill>
                <a:latin typeface="Meiryo UI" pitchFamily="50" charset="-128"/>
                <a:ea typeface="Meiryo UI" pitchFamily="50" charset="-128"/>
                <a:cs typeface="Meiryo UI" pitchFamily="50" charset="-128"/>
              </a:rPr>
              <a:t>　 </a:t>
            </a:r>
            <a:r>
              <a:rPr lang="ja-JP" altLang="en-US" sz="2000" dirty="0">
                <a:latin typeface="Meiryo UI" pitchFamily="50" charset="-128"/>
                <a:ea typeface="Meiryo UI" pitchFamily="50" charset="-128"/>
                <a:cs typeface="Meiryo UI" pitchFamily="50" charset="-128"/>
              </a:rPr>
              <a:t>プログラムの記載順番は、設計書の記載順番とマッピングしやすいか否か</a:t>
            </a:r>
          </a:p>
        </p:txBody>
      </p:sp>
    </p:spTree>
    <p:custDataLst>
      <p:tags r:id="rId1"/>
    </p:custDataLst>
    <p:extLst>
      <p:ext uri="{BB962C8B-B14F-4D97-AF65-F5344CB8AC3E}">
        <p14:creationId xmlns:p14="http://schemas.microsoft.com/office/powerpoint/2010/main" val="2012359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53" presetClass="entr" presetSubtype="16" fill="hold" nodeType="withEffect">
                                  <p:stCondLst>
                                    <p:cond delay="0"/>
                                  </p:stCondLst>
                                  <p:childTnLst>
                                    <p:set>
                                      <p:cBhvr>
                                        <p:cTn id="14" dur="1" fill="hold">
                                          <p:stCondLst>
                                            <p:cond delay="0"/>
                                          </p:stCondLst>
                                        </p:cTn>
                                        <p:tgtEl>
                                          <p:spTgt spid="1026"/>
                                        </p:tgtEl>
                                        <p:attrNameLst>
                                          <p:attrName>style.visibility</p:attrName>
                                        </p:attrNameLst>
                                      </p:cBhvr>
                                      <p:to>
                                        <p:strVal val="visible"/>
                                      </p:to>
                                    </p:set>
                                    <p:anim calcmode="lin" valueType="num">
                                      <p:cBhvr>
                                        <p:cTn id="15" dur="500" fill="hold"/>
                                        <p:tgtEl>
                                          <p:spTgt spid="1026"/>
                                        </p:tgtEl>
                                        <p:attrNameLst>
                                          <p:attrName>ppt_w</p:attrName>
                                        </p:attrNameLst>
                                      </p:cBhvr>
                                      <p:tavLst>
                                        <p:tav tm="0">
                                          <p:val>
                                            <p:fltVal val="0"/>
                                          </p:val>
                                        </p:tav>
                                        <p:tav tm="100000">
                                          <p:val>
                                            <p:strVal val="#ppt_w"/>
                                          </p:val>
                                        </p:tav>
                                      </p:tavLst>
                                    </p:anim>
                                    <p:anim calcmode="lin" valueType="num">
                                      <p:cBhvr>
                                        <p:cTn id="16" dur="500" fill="hold"/>
                                        <p:tgtEl>
                                          <p:spTgt spid="1026"/>
                                        </p:tgtEl>
                                        <p:attrNameLst>
                                          <p:attrName>ppt_h</p:attrName>
                                        </p:attrNameLst>
                                      </p:cBhvr>
                                      <p:tavLst>
                                        <p:tav tm="0">
                                          <p:val>
                                            <p:fltVal val="0"/>
                                          </p:val>
                                        </p:tav>
                                        <p:tav tm="100000">
                                          <p:val>
                                            <p:strVal val="#ppt_h"/>
                                          </p:val>
                                        </p:tav>
                                      </p:tavLst>
                                    </p:anim>
                                    <p:animEffect transition="in" filter="fade">
                                      <p:cBhvr>
                                        <p:cTn id="17" dur="500"/>
                                        <p:tgtEl>
                                          <p:spTgt spid="1026"/>
                                        </p:tgtEl>
                                      </p:cBhvr>
                                    </p:animEffect>
                                  </p:childTnLst>
                                </p:cTn>
                              </p:par>
                              <p:par>
                                <p:cTn id="18" presetID="53" presetClass="entr" presetSubtype="16"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 calcmode="lin" valueType="num">
                                      <p:cBhvr>
                                        <p:cTn id="20" dur="500" fill="hold"/>
                                        <p:tgtEl>
                                          <p:spTgt spid="7"/>
                                        </p:tgtEl>
                                        <p:attrNameLst>
                                          <p:attrName>ppt_w</p:attrName>
                                        </p:attrNameLst>
                                      </p:cBhvr>
                                      <p:tavLst>
                                        <p:tav tm="0">
                                          <p:val>
                                            <p:fltVal val="0"/>
                                          </p:val>
                                        </p:tav>
                                        <p:tav tm="100000">
                                          <p:val>
                                            <p:strVal val="#ppt_w"/>
                                          </p:val>
                                        </p:tav>
                                      </p:tavLst>
                                    </p:anim>
                                    <p:anim calcmode="lin" valueType="num">
                                      <p:cBhvr>
                                        <p:cTn id="21" dur="500" fill="hold"/>
                                        <p:tgtEl>
                                          <p:spTgt spid="7"/>
                                        </p:tgtEl>
                                        <p:attrNameLst>
                                          <p:attrName>ppt_h</p:attrName>
                                        </p:attrNameLst>
                                      </p:cBhvr>
                                      <p:tavLst>
                                        <p:tav tm="0">
                                          <p:val>
                                            <p:fltVal val="0"/>
                                          </p:val>
                                        </p:tav>
                                        <p:tav tm="100000">
                                          <p:val>
                                            <p:strVal val="#ppt_h"/>
                                          </p:val>
                                        </p:tav>
                                      </p:tavLst>
                                    </p:anim>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タイトル 1"/>
          <p:cNvSpPr>
            <a:spLocks noGrp="1"/>
          </p:cNvSpPr>
          <p:nvPr>
            <p:ph type="title" idx="4294967295"/>
          </p:nvPr>
        </p:nvSpPr>
        <p:spPr>
          <a:xfrm>
            <a:off x="251136"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４－１．従来の</a:t>
            </a:r>
            <a:r>
              <a:rPr lang="en-US" altLang="ja-JP" sz="2800" dirty="0">
                <a:solidFill>
                  <a:schemeClr val="tx2"/>
                </a:solidFill>
                <a:latin typeface="Meiryo UI" pitchFamily="50" charset="-128"/>
                <a:ea typeface="Meiryo UI" pitchFamily="50" charset="-128"/>
                <a:cs typeface="Meiryo UI" pitchFamily="50" charset="-128"/>
              </a:rPr>
              <a:t>WEB</a:t>
            </a:r>
            <a:r>
              <a:rPr lang="ja-JP" altLang="en-US" sz="2800" dirty="0">
                <a:solidFill>
                  <a:schemeClr val="tx2"/>
                </a:solidFill>
                <a:latin typeface="Meiryo UI" pitchFamily="50" charset="-128"/>
                <a:ea typeface="Meiryo UI" pitchFamily="50" charset="-128"/>
                <a:cs typeface="Meiryo UI" pitchFamily="50" charset="-128"/>
              </a:rPr>
              <a:t>開発における問題</a:t>
            </a:r>
            <a:r>
              <a:rPr lang="en-US" altLang="ja-JP" sz="2800" dirty="0">
                <a:solidFill>
                  <a:schemeClr val="tx2"/>
                </a:solidFill>
                <a:latin typeface="Meiryo UI" pitchFamily="50" charset="-128"/>
                <a:ea typeface="Meiryo UI" pitchFamily="50" charset="-128"/>
                <a:cs typeface="Meiryo UI" pitchFamily="50" charset="-128"/>
              </a:rPr>
              <a:t>1</a:t>
            </a:r>
            <a:endParaRPr lang="ja-JP" altLang="en-US" sz="2800" dirty="0">
              <a:solidFill>
                <a:schemeClr val="tx2"/>
              </a:solidFill>
              <a:latin typeface="Meiryo UI" pitchFamily="50" charset="-128"/>
              <a:ea typeface="Meiryo UI" pitchFamily="50" charset="-128"/>
              <a:cs typeface="Meiryo UI" pitchFamily="50" charset="-128"/>
            </a:endParaRP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5</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4" name="AutoShape 4" descr="「暴走」の画像検索結果"/>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5" name="AutoShape 6" descr="「暴走」の画像検索結果"/>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6" name="正方形/長方形 5"/>
          <p:cNvSpPr/>
          <p:nvPr/>
        </p:nvSpPr>
        <p:spPr>
          <a:xfrm>
            <a:off x="251136" y="1380019"/>
            <a:ext cx="3105416" cy="5204059"/>
          </a:xfrm>
          <a:prstGeom prst="rect">
            <a:avLst/>
          </a:prstGeom>
          <a:solidFill>
            <a:schemeClr val="accent3">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ユーザマスタから以下の条件で以下項目を取得し画面の対応項目に表示する。</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条件：</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ユーザ</a:t>
            </a:r>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ID=</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ログインアカウント</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取得項目：</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ユーザ</a:t>
            </a:r>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ユーザ名</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パスワード</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メールアドレス</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前回ログイン日時</a:t>
            </a: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7" name="テキスト ボックス 6"/>
          <p:cNvSpPr txBox="1"/>
          <p:nvPr/>
        </p:nvSpPr>
        <p:spPr>
          <a:xfrm>
            <a:off x="307973" y="1040827"/>
            <a:ext cx="3375331" cy="338554"/>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基本設計</a:t>
            </a:r>
          </a:p>
        </p:txBody>
      </p:sp>
      <p:grpSp>
        <p:nvGrpSpPr>
          <p:cNvPr id="8" name="グループ化 7"/>
          <p:cNvGrpSpPr/>
          <p:nvPr/>
        </p:nvGrpSpPr>
        <p:grpSpPr>
          <a:xfrm>
            <a:off x="782106" y="1040827"/>
            <a:ext cx="8145434" cy="5529322"/>
            <a:chOff x="782106" y="1040827"/>
            <a:chExt cx="8145434" cy="5529322"/>
          </a:xfrm>
        </p:grpSpPr>
        <p:sp>
          <p:nvSpPr>
            <p:cNvPr id="18" name="テキスト ボックス 17"/>
            <p:cNvSpPr txBox="1"/>
            <p:nvPr/>
          </p:nvSpPr>
          <p:spPr>
            <a:xfrm>
              <a:off x="3460568" y="1040827"/>
              <a:ext cx="3375331" cy="338554"/>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プログラム</a:t>
              </a:r>
            </a:p>
          </p:txBody>
        </p:sp>
        <p:sp>
          <p:nvSpPr>
            <p:cNvPr id="21" name="正方形/長方形 20"/>
            <p:cNvSpPr/>
            <p:nvPr/>
          </p:nvSpPr>
          <p:spPr>
            <a:xfrm>
              <a:off x="3460568" y="1366089"/>
              <a:ext cx="3877765" cy="3291215"/>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User.xml</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&lt;sql id=“getUserByAccount”&gt;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select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username,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password,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mailaddress,</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lastlogindate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from </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m_user</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where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userid=:account</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&lt;/sql&gt;</a:t>
              </a:r>
            </a:p>
          </p:txBody>
        </p:sp>
        <p:sp>
          <p:nvSpPr>
            <p:cNvPr id="19" name="正方形/長方形 18"/>
            <p:cNvSpPr/>
            <p:nvPr/>
          </p:nvSpPr>
          <p:spPr>
            <a:xfrm>
              <a:off x="5355655" y="2088818"/>
              <a:ext cx="3571885" cy="2716541"/>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UserBean.java</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Public class UserBean{</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private userId;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public String getUserId(){</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return userId;</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public void setUserId(String value){</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userId=value;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23" name="正方形/長方形 22"/>
            <p:cNvSpPr/>
            <p:nvPr/>
          </p:nvSpPr>
          <p:spPr>
            <a:xfrm>
              <a:off x="5026021" y="4265348"/>
              <a:ext cx="2951403" cy="1995988"/>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UserDAO.java</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24" name="正方形/長方形 23"/>
            <p:cNvSpPr/>
            <p:nvPr/>
          </p:nvSpPr>
          <p:spPr>
            <a:xfrm>
              <a:off x="3591631" y="4734578"/>
              <a:ext cx="3197963" cy="1835571"/>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UserModel.java</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22" name="正方形/長方形 21"/>
            <p:cNvSpPr/>
            <p:nvPr/>
          </p:nvSpPr>
          <p:spPr>
            <a:xfrm>
              <a:off x="2226541" y="5064558"/>
              <a:ext cx="3197963" cy="1505591"/>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UserControl.java</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25" name="正方形/長方形 24"/>
            <p:cNvSpPr/>
            <p:nvPr/>
          </p:nvSpPr>
          <p:spPr>
            <a:xfrm>
              <a:off x="782106" y="5377979"/>
              <a:ext cx="3197963" cy="1192170"/>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userInput.jsp</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grpSp>
    </p:spTree>
    <p:custDataLst>
      <p:tags r:id="rId1"/>
    </p:custDataLst>
    <p:extLst>
      <p:ext uri="{BB962C8B-B14F-4D97-AF65-F5344CB8AC3E}">
        <p14:creationId xmlns:p14="http://schemas.microsoft.com/office/powerpoint/2010/main" val="214681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678" y="1168221"/>
            <a:ext cx="5296359" cy="51531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2" name="グループ化 1"/>
          <p:cNvGrpSpPr/>
          <p:nvPr/>
        </p:nvGrpSpPr>
        <p:grpSpPr>
          <a:xfrm>
            <a:off x="146650" y="898951"/>
            <a:ext cx="3658729" cy="5645068"/>
            <a:chOff x="146650" y="898951"/>
            <a:chExt cx="3658729" cy="5645068"/>
          </a:xfrm>
        </p:grpSpPr>
        <p:sp>
          <p:nvSpPr>
            <p:cNvPr id="9" name="正方形/長方形 8"/>
            <p:cNvSpPr/>
            <p:nvPr/>
          </p:nvSpPr>
          <p:spPr>
            <a:xfrm>
              <a:off x="194452" y="1159423"/>
              <a:ext cx="3610927" cy="5384596"/>
            </a:xfrm>
            <a:prstGeom prst="rect">
              <a:avLst/>
            </a:prstGeom>
            <a:solidFill>
              <a:schemeClr val="accent3">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cxnSp>
          <p:nvCxnSpPr>
            <p:cNvPr id="11" name="直線コネクタ 10"/>
            <p:cNvCxnSpPr/>
            <p:nvPr/>
          </p:nvCxnSpPr>
          <p:spPr>
            <a:xfrm>
              <a:off x="3009291" y="1239996"/>
              <a:ext cx="0" cy="469440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a:off x="1294791" y="1239996"/>
              <a:ext cx="0" cy="469440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13" name="正方形/長方形 12"/>
            <p:cNvSpPr/>
            <p:nvPr/>
          </p:nvSpPr>
          <p:spPr>
            <a:xfrm>
              <a:off x="2537503" y="1241412"/>
              <a:ext cx="971550" cy="342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サーバ</a:t>
              </a:r>
            </a:p>
          </p:txBody>
        </p:sp>
        <p:sp>
          <p:nvSpPr>
            <p:cNvPr id="14" name="正方形/長方形 13"/>
            <p:cNvSpPr/>
            <p:nvPr/>
          </p:nvSpPr>
          <p:spPr>
            <a:xfrm>
              <a:off x="1175428" y="1755762"/>
              <a:ext cx="200025" cy="942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15" name="直線矢印コネクタ 14"/>
            <p:cNvCxnSpPr/>
            <p:nvPr/>
          </p:nvCxnSpPr>
          <p:spPr>
            <a:xfrm>
              <a:off x="1384978" y="1936737"/>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正方形/長方形 15"/>
            <p:cNvSpPr/>
            <p:nvPr/>
          </p:nvSpPr>
          <p:spPr>
            <a:xfrm>
              <a:off x="1527852" y="1723087"/>
              <a:ext cx="1419226" cy="2366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顧客重複チェック</a:t>
              </a:r>
            </a:p>
          </p:txBody>
        </p:sp>
        <p:sp>
          <p:nvSpPr>
            <p:cNvPr id="17" name="正方形/長方形 16"/>
            <p:cNvSpPr/>
            <p:nvPr/>
          </p:nvSpPr>
          <p:spPr>
            <a:xfrm>
              <a:off x="1560451" y="1955789"/>
              <a:ext cx="1312338" cy="3235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チェック結果返却</a:t>
              </a:r>
            </a:p>
          </p:txBody>
        </p:sp>
        <p:sp>
          <p:nvSpPr>
            <p:cNvPr id="18" name="正方形/長方形 17"/>
            <p:cNvSpPr/>
            <p:nvPr/>
          </p:nvSpPr>
          <p:spPr>
            <a:xfrm>
              <a:off x="1708828" y="2412987"/>
              <a:ext cx="103822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顧客情報登録</a:t>
              </a:r>
            </a:p>
          </p:txBody>
        </p:sp>
        <p:cxnSp>
          <p:nvCxnSpPr>
            <p:cNvPr id="19" name="直線矢印コネクタ 18"/>
            <p:cNvCxnSpPr/>
            <p:nvPr/>
          </p:nvCxnSpPr>
          <p:spPr>
            <a:xfrm flipH="1">
              <a:off x="1375453" y="3079737"/>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0" name="正方形/長方形 19"/>
            <p:cNvSpPr/>
            <p:nvPr/>
          </p:nvSpPr>
          <p:spPr>
            <a:xfrm>
              <a:off x="1708828" y="2651781"/>
              <a:ext cx="1057275" cy="504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画面再表示用データ返却</a:t>
              </a:r>
            </a:p>
          </p:txBody>
        </p:sp>
        <p:sp>
          <p:nvSpPr>
            <p:cNvPr id="21" name="正方形/長方形 20"/>
            <p:cNvSpPr/>
            <p:nvPr/>
          </p:nvSpPr>
          <p:spPr>
            <a:xfrm>
              <a:off x="1175428" y="2813037"/>
              <a:ext cx="200025" cy="523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22" name="正方形/長方形 21"/>
            <p:cNvSpPr/>
            <p:nvPr/>
          </p:nvSpPr>
          <p:spPr>
            <a:xfrm>
              <a:off x="832528" y="1231887"/>
              <a:ext cx="1062339" cy="342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クライアント</a:t>
              </a:r>
            </a:p>
          </p:txBody>
        </p:sp>
        <p:sp>
          <p:nvSpPr>
            <p:cNvPr id="23" name="正方形/長方形 22"/>
            <p:cNvSpPr/>
            <p:nvPr/>
          </p:nvSpPr>
          <p:spPr>
            <a:xfrm>
              <a:off x="1184953" y="3917937"/>
              <a:ext cx="200025" cy="942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24" name="正方形/長方形 23"/>
            <p:cNvSpPr/>
            <p:nvPr/>
          </p:nvSpPr>
          <p:spPr>
            <a:xfrm>
              <a:off x="2908978" y="3917937"/>
              <a:ext cx="219075" cy="6000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25" name="直線矢印コネクタ 24"/>
            <p:cNvCxnSpPr/>
            <p:nvPr/>
          </p:nvCxnSpPr>
          <p:spPr>
            <a:xfrm>
              <a:off x="1394503" y="4098912"/>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p:cNvSpPr/>
            <p:nvPr/>
          </p:nvSpPr>
          <p:spPr>
            <a:xfrm>
              <a:off x="1651678" y="3789350"/>
              <a:ext cx="1068872" cy="3333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lang="ja-JP" altLang="en-US" dirty="0">
                  <a:solidFill>
                    <a:schemeClr val="tx1"/>
                  </a:solidFill>
                </a:rPr>
                <a:t>他人操作有無</a:t>
              </a:r>
              <a:r>
                <a:rPr kumimoji="1" lang="ja-JP" altLang="en-US" sz="1100" dirty="0">
                  <a:solidFill>
                    <a:schemeClr val="tx1"/>
                  </a:solidFill>
                </a:rPr>
                <a:t>チェック</a:t>
              </a:r>
            </a:p>
          </p:txBody>
        </p:sp>
        <p:cxnSp>
          <p:nvCxnSpPr>
            <p:cNvPr id="27" name="直線矢印コネクタ 26"/>
            <p:cNvCxnSpPr/>
            <p:nvPr/>
          </p:nvCxnSpPr>
          <p:spPr>
            <a:xfrm flipH="1">
              <a:off x="1384978" y="4441812"/>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正方形/長方形 27"/>
            <p:cNvSpPr/>
            <p:nvPr/>
          </p:nvSpPr>
          <p:spPr>
            <a:xfrm>
              <a:off x="1552000" y="4194162"/>
              <a:ext cx="1304925" cy="23428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latin typeface="+mn-lt"/>
                  <a:ea typeface="+mn-ea"/>
                  <a:cs typeface="+mn-cs"/>
                </a:rPr>
                <a:t>チェック結果</a:t>
              </a:r>
              <a:r>
                <a:rPr kumimoji="1" lang="ja-JP" altLang="en-US" sz="1100" dirty="0">
                  <a:solidFill>
                    <a:schemeClr val="tx1"/>
                  </a:solidFill>
                </a:rPr>
                <a:t>返却</a:t>
              </a:r>
            </a:p>
          </p:txBody>
        </p:sp>
        <p:sp>
          <p:nvSpPr>
            <p:cNvPr id="29" name="正方形/長方形 28"/>
            <p:cNvSpPr/>
            <p:nvPr/>
          </p:nvSpPr>
          <p:spPr>
            <a:xfrm>
              <a:off x="2908978" y="4689462"/>
              <a:ext cx="219075" cy="6381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30" name="直線矢印コネクタ 29"/>
            <p:cNvCxnSpPr/>
            <p:nvPr/>
          </p:nvCxnSpPr>
          <p:spPr>
            <a:xfrm>
              <a:off x="1384978" y="4803762"/>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p:cNvSpPr/>
            <p:nvPr/>
          </p:nvSpPr>
          <p:spPr>
            <a:xfrm>
              <a:off x="1642153" y="4575162"/>
              <a:ext cx="103822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顧客情報更新</a:t>
              </a:r>
            </a:p>
          </p:txBody>
        </p:sp>
        <p:cxnSp>
          <p:nvCxnSpPr>
            <p:cNvPr id="32" name="直線矢印コネクタ 31"/>
            <p:cNvCxnSpPr/>
            <p:nvPr/>
          </p:nvCxnSpPr>
          <p:spPr>
            <a:xfrm flipH="1">
              <a:off x="1384978" y="5241912"/>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3" name="正方形/長方形 32"/>
            <p:cNvSpPr/>
            <p:nvPr/>
          </p:nvSpPr>
          <p:spPr>
            <a:xfrm>
              <a:off x="1718353" y="4826835"/>
              <a:ext cx="1057275" cy="504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画面再表示用データ返却</a:t>
              </a:r>
            </a:p>
          </p:txBody>
        </p:sp>
        <p:sp>
          <p:nvSpPr>
            <p:cNvPr id="34" name="正方形/長方形 33"/>
            <p:cNvSpPr/>
            <p:nvPr/>
          </p:nvSpPr>
          <p:spPr>
            <a:xfrm>
              <a:off x="1184953" y="4975212"/>
              <a:ext cx="200025" cy="523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5" name="正方形/長方形 34"/>
            <p:cNvSpPr/>
            <p:nvPr/>
          </p:nvSpPr>
          <p:spPr>
            <a:xfrm>
              <a:off x="2908978" y="1774812"/>
              <a:ext cx="219075" cy="6000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6" name="正方形/長方形 35"/>
            <p:cNvSpPr/>
            <p:nvPr/>
          </p:nvSpPr>
          <p:spPr>
            <a:xfrm>
              <a:off x="2908978" y="2546337"/>
              <a:ext cx="219075" cy="6381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7" name="正方形/長方形 36"/>
            <p:cNvSpPr/>
            <p:nvPr/>
          </p:nvSpPr>
          <p:spPr>
            <a:xfrm>
              <a:off x="289603" y="1656840"/>
              <a:ext cx="3362325" cy="20002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38" name="正方形/長方形 37"/>
            <p:cNvSpPr/>
            <p:nvPr/>
          </p:nvSpPr>
          <p:spPr>
            <a:xfrm>
              <a:off x="289603" y="3723765"/>
              <a:ext cx="3362325" cy="273815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39" name="正方形/長方形 38"/>
            <p:cNvSpPr/>
            <p:nvPr/>
          </p:nvSpPr>
          <p:spPr>
            <a:xfrm>
              <a:off x="270553" y="1679562"/>
              <a:ext cx="90487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rPr>
                <a:t>新規モード</a:t>
              </a:r>
              <a:endParaRPr kumimoji="1" lang="ja-JP" altLang="en-US" sz="1100" dirty="0">
                <a:solidFill>
                  <a:schemeClr val="tx1"/>
                </a:solidFill>
              </a:endParaRPr>
            </a:p>
          </p:txBody>
        </p:sp>
        <p:sp>
          <p:nvSpPr>
            <p:cNvPr id="40" name="正方形/長方形 39"/>
            <p:cNvSpPr/>
            <p:nvPr/>
          </p:nvSpPr>
          <p:spPr>
            <a:xfrm>
              <a:off x="266534" y="3705872"/>
              <a:ext cx="942767" cy="2190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rPr>
                <a:t>更新モード</a:t>
              </a:r>
              <a:endParaRPr kumimoji="1" lang="ja-JP" altLang="en-US" sz="1100" dirty="0">
                <a:solidFill>
                  <a:schemeClr val="tx1"/>
                </a:solidFill>
              </a:endParaRPr>
            </a:p>
          </p:txBody>
        </p:sp>
        <p:sp>
          <p:nvSpPr>
            <p:cNvPr id="41" name="テキスト ボックス 40"/>
            <p:cNvSpPr txBox="1"/>
            <p:nvPr/>
          </p:nvSpPr>
          <p:spPr>
            <a:xfrm>
              <a:off x="146650" y="898951"/>
              <a:ext cx="1978027" cy="338554"/>
            </a:xfrm>
            <a:prstGeom prst="rect">
              <a:avLst/>
            </a:prstGeom>
            <a:noFill/>
          </p:spPr>
          <p:txBody>
            <a:bodyPr wrap="square" rtlCol="0">
              <a:spAutoFit/>
            </a:bodyPr>
            <a:lstStyle/>
            <a:p>
              <a:r>
                <a:rPr lang="ja-JP" altLang="en-US" sz="1600" dirty="0">
                  <a:latin typeface="Meiryo UI" panose="020B0604030504040204" pitchFamily="50" charset="-128"/>
                  <a:ea typeface="Meiryo UI" panose="020B0604030504040204" pitchFamily="50" charset="-128"/>
                  <a:cs typeface="Meiryo UI" panose="020B0604030504040204" pitchFamily="50" charset="-128"/>
                </a:rPr>
                <a:t>基本</a:t>
              </a:r>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設計</a:t>
              </a:r>
            </a:p>
          </p:txBody>
        </p:sp>
        <p:cxnSp>
          <p:nvCxnSpPr>
            <p:cNvPr id="42" name="直線矢印コネクタ 41"/>
            <p:cNvCxnSpPr/>
            <p:nvPr/>
          </p:nvCxnSpPr>
          <p:spPr>
            <a:xfrm flipH="1">
              <a:off x="1369114" y="2288827"/>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p:cNvCxnSpPr/>
            <p:nvPr/>
          </p:nvCxnSpPr>
          <p:spPr>
            <a:xfrm>
              <a:off x="1369114" y="2650777"/>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グループ化 2"/>
          <p:cNvGrpSpPr/>
          <p:nvPr/>
        </p:nvGrpSpPr>
        <p:grpSpPr>
          <a:xfrm>
            <a:off x="3739278" y="897854"/>
            <a:ext cx="5228451" cy="5614921"/>
            <a:chOff x="3739278" y="897854"/>
            <a:chExt cx="5228451" cy="5614921"/>
          </a:xfrm>
        </p:grpSpPr>
        <p:sp>
          <p:nvSpPr>
            <p:cNvPr id="10" name="正方形/長方形 9"/>
            <p:cNvSpPr/>
            <p:nvPr/>
          </p:nvSpPr>
          <p:spPr>
            <a:xfrm>
              <a:off x="3805379" y="1128179"/>
              <a:ext cx="5162350" cy="5384596"/>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44" name="テキスト ボックス 43"/>
            <p:cNvSpPr txBox="1"/>
            <p:nvPr/>
          </p:nvSpPr>
          <p:spPr>
            <a:xfrm>
              <a:off x="3739278" y="897854"/>
              <a:ext cx="1978027" cy="338554"/>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プログラム</a:t>
              </a:r>
            </a:p>
          </p:txBody>
        </p:sp>
        <p:sp>
          <p:nvSpPr>
            <p:cNvPr id="45" name="正方形/長方形 44"/>
            <p:cNvSpPr/>
            <p:nvPr/>
          </p:nvSpPr>
          <p:spPr>
            <a:xfrm>
              <a:off x="6572136" y="1218690"/>
              <a:ext cx="971550" cy="3333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a:solidFill>
                    <a:schemeClr val="tx1"/>
                  </a:solidFill>
                </a:rPr>
                <a:t>サーバ</a:t>
              </a:r>
            </a:p>
          </p:txBody>
        </p:sp>
        <p:sp>
          <p:nvSpPr>
            <p:cNvPr id="46" name="正方形/長方形 45"/>
            <p:cNvSpPr/>
            <p:nvPr/>
          </p:nvSpPr>
          <p:spPr>
            <a:xfrm>
              <a:off x="4702287" y="1717344"/>
              <a:ext cx="1126766"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dirty="0">
                  <a:solidFill>
                    <a:sysClr val="windowText" lastClr="000000"/>
                  </a:solidFill>
                </a:rPr>
                <a:t>保存ボタン押下（新規モード）</a:t>
              </a:r>
            </a:p>
          </p:txBody>
        </p:sp>
        <p:cxnSp>
          <p:nvCxnSpPr>
            <p:cNvPr id="47" name="直線矢印コネクタ 46"/>
            <p:cNvCxnSpPr>
              <a:stCxn id="46" idx="3"/>
              <a:endCxn id="51" idx="1"/>
            </p:cNvCxnSpPr>
            <p:nvPr/>
          </p:nvCxnSpPr>
          <p:spPr>
            <a:xfrm>
              <a:off x="5829053" y="1950707"/>
              <a:ext cx="692509" cy="140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p:cNvSpPr/>
            <p:nvPr/>
          </p:nvSpPr>
          <p:spPr>
            <a:xfrm>
              <a:off x="4723617" y="1209165"/>
              <a:ext cx="1072233" cy="342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クライアント</a:t>
              </a:r>
            </a:p>
          </p:txBody>
        </p:sp>
        <p:sp>
          <p:nvSpPr>
            <p:cNvPr id="49" name="正方形/長方形 48"/>
            <p:cNvSpPr/>
            <p:nvPr/>
          </p:nvSpPr>
          <p:spPr>
            <a:xfrm>
              <a:off x="7683612" y="2514090"/>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50" name="正方形/長方形 49"/>
            <p:cNvSpPr/>
            <p:nvPr/>
          </p:nvSpPr>
          <p:spPr>
            <a:xfrm>
              <a:off x="3902187" y="1656840"/>
              <a:ext cx="4933950" cy="20002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51" name="フローチャート: 判断 49"/>
            <p:cNvSpPr/>
            <p:nvPr/>
          </p:nvSpPr>
          <p:spPr>
            <a:xfrm>
              <a:off x="6521562" y="1656840"/>
              <a:ext cx="1123950" cy="590550"/>
            </a:xfrm>
            <a:prstGeom prst="flowChartDecisi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solidFill>
                  <a:sysClr val="windowText" lastClr="000000"/>
                </a:solidFill>
              </a:endParaRPr>
            </a:p>
          </p:txBody>
        </p:sp>
        <p:sp>
          <p:nvSpPr>
            <p:cNvPr id="52" name="正方形/長方形 51"/>
            <p:cNvSpPr/>
            <p:nvPr/>
          </p:nvSpPr>
          <p:spPr>
            <a:xfrm>
              <a:off x="6750162" y="1742565"/>
              <a:ext cx="714375" cy="4286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a:solidFill>
                    <a:sysClr val="windowText" lastClr="000000"/>
                  </a:solidFill>
                </a:rPr>
                <a:t>顧客重複チェック</a:t>
              </a:r>
            </a:p>
          </p:txBody>
        </p:sp>
        <p:sp>
          <p:nvSpPr>
            <p:cNvPr id="53" name="正方形/長方形 52"/>
            <p:cNvSpPr/>
            <p:nvPr/>
          </p:nvSpPr>
          <p:spPr>
            <a:xfrm flipH="1">
              <a:off x="7664562" y="2463111"/>
              <a:ext cx="1038225"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dirty="0">
                  <a:solidFill>
                    <a:sysClr val="windowText" lastClr="000000"/>
                  </a:solidFill>
                </a:rPr>
                <a:t>顧客情報登録</a:t>
              </a:r>
            </a:p>
          </p:txBody>
        </p:sp>
        <p:cxnSp>
          <p:nvCxnSpPr>
            <p:cNvPr id="54" name="直線矢印コネクタ 119"/>
            <p:cNvCxnSpPr/>
            <p:nvPr/>
          </p:nvCxnSpPr>
          <p:spPr>
            <a:xfrm>
              <a:off x="7645512" y="1942590"/>
              <a:ext cx="528638" cy="5715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p:cNvSpPr/>
            <p:nvPr/>
          </p:nvSpPr>
          <p:spPr>
            <a:xfrm>
              <a:off x="7683612" y="3209415"/>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56" name="直線矢印コネクタ 55"/>
            <p:cNvCxnSpPr/>
            <p:nvPr/>
          </p:nvCxnSpPr>
          <p:spPr>
            <a:xfrm flipH="1">
              <a:off x="8174150" y="2876040"/>
              <a:ext cx="0" cy="3333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7" name="正方形/長方形 56"/>
            <p:cNvSpPr/>
            <p:nvPr/>
          </p:nvSpPr>
          <p:spPr>
            <a:xfrm flipH="1">
              <a:off x="7727883" y="3145557"/>
              <a:ext cx="962025" cy="4762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dirty="0">
                  <a:solidFill>
                    <a:sysClr val="windowText" lastClr="000000"/>
                  </a:solidFill>
                  <a:latin typeface="+mn-ea"/>
                  <a:ea typeface="+mn-ea"/>
                </a:rPr>
                <a:t>画面再表示用</a:t>
              </a:r>
              <a:endParaRPr kumimoji="1" lang="en-US" altLang="ja-JP" sz="1000" dirty="0">
                <a:solidFill>
                  <a:sysClr val="windowText" lastClr="000000"/>
                </a:solidFill>
                <a:latin typeface="+mn-ea"/>
                <a:ea typeface="+mn-ea"/>
              </a:endParaRPr>
            </a:p>
            <a:p>
              <a:pPr algn="ctr"/>
              <a:r>
                <a:rPr kumimoji="1" lang="ja-JP" altLang="en-US" sz="1000" dirty="0">
                  <a:solidFill>
                    <a:sysClr val="windowText" lastClr="000000"/>
                  </a:solidFill>
                  <a:latin typeface="+mn-ea"/>
                  <a:ea typeface="+mn-ea"/>
                </a:rPr>
                <a:t>データ取得</a:t>
              </a:r>
            </a:p>
          </p:txBody>
        </p:sp>
        <p:sp>
          <p:nvSpPr>
            <p:cNvPr id="58" name="正方形/長方形 57"/>
            <p:cNvSpPr/>
            <p:nvPr/>
          </p:nvSpPr>
          <p:spPr>
            <a:xfrm>
              <a:off x="4730862" y="3780915"/>
              <a:ext cx="1129383" cy="495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dirty="0">
                  <a:solidFill>
                    <a:sysClr val="windowText" lastClr="000000"/>
                  </a:solidFill>
                </a:rPr>
                <a:t>画面再表示</a:t>
              </a:r>
              <a:endParaRPr kumimoji="1" lang="en-US" altLang="ja-JP" sz="1000" dirty="0">
                <a:solidFill>
                  <a:sysClr val="windowText" lastClr="000000"/>
                </a:solidFill>
              </a:endParaRPr>
            </a:p>
            <a:p>
              <a:pPr algn="l"/>
              <a:r>
                <a:rPr kumimoji="1" lang="ja-JP" altLang="en-US" sz="1000" dirty="0">
                  <a:solidFill>
                    <a:sysClr val="windowText" lastClr="000000"/>
                  </a:solidFill>
                </a:rPr>
                <a:t>（新規保存完了モード）</a:t>
              </a:r>
            </a:p>
          </p:txBody>
        </p:sp>
        <p:cxnSp>
          <p:nvCxnSpPr>
            <p:cNvPr id="59" name="直線矢印コネクタ 127"/>
            <p:cNvCxnSpPr>
              <a:endCxn id="58" idx="3"/>
            </p:cNvCxnSpPr>
            <p:nvPr/>
          </p:nvCxnSpPr>
          <p:spPr>
            <a:xfrm rot="10800000" flipV="1">
              <a:off x="5860246" y="3570571"/>
              <a:ext cx="2314699" cy="457993"/>
            </a:xfrm>
            <a:prstGeom prst="bentConnector3">
              <a:avLst>
                <a:gd name="adj1" fmla="val -63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0" name="直線矢印コネクタ 59"/>
            <p:cNvCxnSpPr/>
            <p:nvPr/>
          </p:nvCxnSpPr>
          <p:spPr>
            <a:xfrm>
              <a:off x="5226162" y="4276215"/>
              <a:ext cx="4763" cy="2762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1" name="正方形/長方形 60"/>
            <p:cNvSpPr/>
            <p:nvPr/>
          </p:nvSpPr>
          <p:spPr>
            <a:xfrm>
              <a:off x="4721337" y="4552440"/>
              <a:ext cx="1138908"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a:solidFill>
                    <a:sysClr val="windowText" lastClr="000000"/>
                  </a:solidFill>
                </a:rPr>
                <a:t>保存ボタン押下（更新モード）</a:t>
              </a:r>
            </a:p>
          </p:txBody>
        </p:sp>
        <p:cxnSp>
          <p:nvCxnSpPr>
            <p:cNvPr id="62" name="直線矢印コネクタ 61"/>
            <p:cNvCxnSpPr>
              <a:stCxn id="61" idx="3"/>
            </p:cNvCxnSpPr>
            <p:nvPr/>
          </p:nvCxnSpPr>
          <p:spPr>
            <a:xfrm flipV="1">
              <a:off x="5860245" y="4781040"/>
              <a:ext cx="689892" cy="476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3" name="正方形/長方形 62"/>
            <p:cNvSpPr/>
            <p:nvPr/>
          </p:nvSpPr>
          <p:spPr>
            <a:xfrm>
              <a:off x="7712187" y="5352540"/>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64" name="フローチャート: 判断 62"/>
            <p:cNvSpPr/>
            <p:nvPr/>
          </p:nvSpPr>
          <p:spPr>
            <a:xfrm>
              <a:off x="6550137" y="4485765"/>
              <a:ext cx="1123950" cy="590550"/>
            </a:xfrm>
            <a:prstGeom prst="flowChartDecisi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solidFill>
                  <a:sysClr val="windowText" lastClr="000000"/>
                </a:solidFill>
              </a:endParaRPr>
            </a:p>
          </p:txBody>
        </p:sp>
        <p:sp>
          <p:nvSpPr>
            <p:cNvPr id="65" name="正方形/長方形 64"/>
            <p:cNvSpPr/>
            <p:nvPr/>
          </p:nvSpPr>
          <p:spPr>
            <a:xfrm>
              <a:off x="7712187" y="6000240"/>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66" name="直線矢印コネクタ 65"/>
            <p:cNvCxnSpPr/>
            <p:nvPr/>
          </p:nvCxnSpPr>
          <p:spPr>
            <a:xfrm flipH="1">
              <a:off x="8202725" y="5714490"/>
              <a:ext cx="0" cy="2857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7" name="正方形/長方形 66"/>
            <p:cNvSpPr/>
            <p:nvPr/>
          </p:nvSpPr>
          <p:spPr>
            <a:xfrm>
              <a:off x="4759437" y="5933565"/>
              <a:ext cx="1072232" cy="495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dirty="0">
                  <a:solidFill>
                    <a:sysClr val="windowText" lastClr="000000"/>
                  </a:solidFill>
                </a:rPr>
                <a:t>画面再表示</a:t>
              </a:r>
              <a:endParaRPr kumimoji="1" lang="en-US" altLang="ja-JP" sz="1000" dirty="0">
                <a:solidFill>
                  <a:sysClr val="windowText" lastClr="000000"/>
                </a:solidFill>
              </a:endParaRPr>
            </a:p>
            <a:p>
              <a:pPr algn="l"/>
              <a:r>
                <a:rPr kumimoji="1" lang="ja-JP" altLang="en-US" sz="1000" dirty="0">
                  <a:solidFill>
                    <a:sysClr val="windowText" lastClr="000000"/>
                  </a:solidFill>
                </a:rPr>
                <a:t>（更新保存完了モード）</a:t>
              </a:r>
            </a:p>
          </p:txBody>
        </p:sp>
        <p:cxnSp>
          <p:nvCxnSpPr>
            <p:cNvPr id="68" name="直線矢印コネクタ 67"/>
            <p:cNvCxnSpPr/>
            <p:nvPr/>
          </p:nvCxnSpPr>
          <p:spPr>
            <a:xfrm flipH="1">
              <a:off x="5860245" y="6181215"/>
              <a:ext cx="1851942" cy="64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9" name="正方形/長方形 68"/>
            <p:cNvSpPr/>
            <p:nvPr/>
          </p:nvSpPr>
          <p:spPr>
            <a:xfrm>
              <a:off x="6712062" y="4577661"/>
              <a:ext cx="838200" cy="4286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dirty="0">
                  <a:solidFill>
                    <a:sysClr val="windowText" lastClr="000000"/>
                  </a:solidFill>
                </a:rPr>
                <a:t>他人更新有無チェック</a:t>
              </a:r>
            </a:p>
          </p:txBody>
        </p:sp>
        <p:sp>
          <p:nvSpPr>
            <p:cNvPr id="70" name="正方形/長方形 69"/>
            <p:cNvSpPr/>
            <p:nvPr/>
          </p:nvSpPr>
          <p:spPr>
            <a:xfrm flipH="1">
              <a:off x="7635987" y="5314440"/>
              <a:ext cx="1038225"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a:solidFill>
                    <a:sysClr val="windowText" lastClr="000000"/>
                  </a:solidFill>
                </a:rPr>
                <a:t>顧客情報更新</a:t>
              </a:r>
            </a:p>
          </p:txBody>
        </p:sp>
        <p:sp>
          <p:nvSpPr>
            <p:cNvPr id="71" name="正方形/長方形 70"/>
            <p:cNvSpPr/>
            <p:nvPr/>
          </p:nvSpPr>
          <p:spPr>
            <a:xfrm flipH="1">
              <a:off x="7683612" y="5943090"/>
              <a:ext cx="962025" cy="4762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a:solidFill>
                    <a:sysClr val="windowText" lastClr="000000"/>
                  </a:solidFill>
                  <a:latin typeface="+mn-ea"/>
                  <a:ea typeface="+mn-ea"/>
                </a:rPr>
                <a:t>画面再表示用</a:t>
              </a:r>
              <a:endParaRPr kumimoji="1" lang="en-US" altLang="ja-JP" sz="1000">
                <a:solidFill>
                  <a:sysClr val="windowText" lastClr="000000"/>
                </a:solidFill>
                <a:latin typeface="+mn-ea"/>
                <a:ea typeface="+mn-ea"/>
              </a:endParaRPr>
            </a:p>
            <a:p>
              <a:pPr algn="ctr"/>
              <a:r>
                <a:rPr kumimoji="1" lang="ja-JP" altLang="en-US" sz="1000">
                  <a:solidFill>
                    <a:sysClr val="windowText" lastClr="000000"/>
                  </a:solidFill>
                  <a:latin typeface="+mn-ea"/>
                  <a:ea typeface="+mn-ea"/>
                </a:rPr>
                <a:t>データ取得</a:t>
              </a:r>
            </a:p>
          </p:txBody>
        </p:sp>
        <p:sp>
          <p:nvSpPr>
            <p:cNvPr id="72" name="正方形/長方形 71"/>
            <p:cNvSpPr/>
            <p:nvPr/>
          </p:nvSpPr>
          <p:spPr>
            <a:xfrm>
              <a:off x="6588237" y="2514090"/>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73" name="直線矢印コネクタ 72"/>
            <p:cNvCxnSpPr/>
            <p:nvPr/>
          </p:nvCxnSpPr>
          <p:spPr>
            <a:xfrm>
              <a:off x="7074012" y="2237865"/>
              <a:ext cx="4763" cy="2762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4" name="正方形/長方形 73"/>
            <p:cNvSpPr/>
            <p:nvPr/>
          </p:nvSpPr>
          <p:spPr>
            <a:xfrm flipH="1">
              <a:off x="6607287" y="2466465"/>
              <a:ext cx="962025" cy="4762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a:solidFill>
                    <a:sysClr val="windowText" lastClr="000000"/>
                  </a:solidFill>
                  <a:latin typeface="+mn-ea"/>
                  <a:ea typeface="+mn-ea"/>
                </a:rPr>
                <a:t>画面再表示用</a:t>
              </a:r>
              <a:endParaRPr kumimoji="1" lang="en-US" altLang="ja-JP" sz="1000">
                <a:solidFill>
                  <a:sysClr val="windowText" lastClr="000000"/>
                </a:solidFill>
                <a:latin typeface="+mn-ea"/>
                <a:ea typeface="+mn-ea"/>
              </a:endParaRPr>
            </a:p>
            <a:p>
              <a:pPr algn="ctr"/>
              <a:r>
                <a:rPr kumimoji="1" lang="ja-JP" altLang="en-US" sz="1000">
                  <a:solidFill>
                    <a:sysClr val="windowText" lastClr="000000"/>
                  </a:solidFill>
                  <a:latin typeface="+mn-ea"/>
                  <a:ea typeface="+mn-ea"/>
                </a:rPr>
                <a:t>データセット</a:t>
              </a:r>
            </a:p>
          </p:txBody>
        </p:sp>
        <p:sp>
          <p:nvSpPr>
            <p:cNvPr id="75" name="正方形/長方形 74"/>
            <p:cNvSpPr/>
            <p:nvPr/>
          </p:nvSpPr>
          <p:spPr>
            <a:xfrm>
              <a:off x="4721337" y="2421657"/>
              <a:ext cx="1107716" cy="56530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dirty="0">
                  <a:solidFill>
                    <a:sysClr val="windowText" lastClr="000000"/>
                  </a:solidFill>
                </a:rPr>
                <a:t>画面再表示</a:t>
              </a:r>
              <a:endParaRPr kumimoji="1" lang="en-US" altLang="ja-JP" sz="1000" dirty="0">
                <a:solidFill>
                  <a:sysClr val="windowText" lastClr="000000"/>
                </a:solidFill>
              </a:endParaRPr>
            </a:p>
            <a:p>
              <a:pPr algn="l"/>
              <a:r>
                <a:rPr kumimoji="1" lang="ja-JP" altLang="en-US" sz="1000" dirty="0">
                  <a:solidFill>
                    <a:sysClr val="windowText" lastClr="000000"/>
                  </a:solidFill>
                </a:rPr>
                <a:t>（新規エラー</a:t>
              </a:r>
              <a:endParaRPr kumimoji="1" lang="en-US" altLang="ja-JP" sz="1000" dirty="0">
                <a:solidFill>
                  <a:sysClr val="windowText" lastClr="000000"/>
                </a:solidFill>
              </a:endParaRPr>
            </a:p>
            <a:p>
              <a:pPr algn="l"/>
              <a:r>
                <a:rPr kumimoji="1" lang="ja-JP" altLang="en-US" sz="1000" dirty="0">
                  <a:solidFill>
                    <a:sysClr val="windowText" lastClr="000000"/>
                  </a:solidFill>
                </a:rPr>
                <a:t>モード）</a:t>
              </a:r>
            </a:p>
          </p:txBody>
        </p:sp>
        <p:cxnSp>
          <p:nvCxnSpPr>
            <p:cNvPr id="76" name="直線矢印コネクタ 75"/>
            <p:cNvCxnSpPr>
              <a:stCxn id="72" idx="1"/>
              <a:endCxn id="75" idx="3"/>
            </p:cNvCxnSpPr>
            <p:nvPr/>
          </p:nvCxnSpPr>
          <p:spPr>
            <a:xfrm flipH="1">
              <a:off x="5829053" y="2695065"/>
              <a:ext cx="759184" cy="924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119"/>
            <p:cNvCxnSpPr/>
            <p:nvPr/>
          </p:nvCxnSpPr>
          <p:spPr>
            <a:xfrm rot="16200000" flipH="1">
              <a:off x="7648687" y="4796915"/>
              <a:ext cx="569913" cy="539750"/>
            </a:xfrm>
            <a:prstGeom prst="bentConnector3">
              <a:avLst>
                <a:gd name="adj1" fmla="val -1667"/>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8" name="正方形/長方形 77"/>
            <p:cNvSpPr/>
            <p:nvPr/>
          </p:nvSpPr>
          <p:spPr>
            <a:xfrm>
              <a:off x="3902187" y="3723765"/>
              <a:ext cx="4953000" cy="273815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79" name="正方形/長方形 78"/>
            <p:cNvSpPr/>
            <p:nvPr/>
          </p:nvSpPr>
          <p:spPr>
            <a:xfrm>
              <a:off x="6626337" y="5362065"/>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80" name="直線矢印コネクタ 79"/>
            <p:cNvCxnSpPr/>
            <p:nvPr/>
          </p:nvCxnSpPr>
          <p:spPr>
            <a:xfrm>
              <a:off x="7112112" y="5085840"/>
              <a:ext cx="4763" cy="2762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1" name="正方形/長方形 80"/>
            <p:cNvSpPr/>
            <p:nvPr/>
          </p:nvSpPr>
          <p:spPr>
            <a:xfrm>
              <a:off x="4752304" y="5274033"/>
              <a:ext cx="1103674" cy="5424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dirty="0">
                  <a:solidFill>
                    <a:sysClr val="windowText" lastClr="000000"/>
                  </a:solidFill>
                </a:rPr>
                <a:t>画面再表示</a:t>
              </a:r>
              <a:endParaRPr kumimoji="1" lang="en-US" altLang="ja-JP" sz="1000" dirty="0">
                <a:solidFill>
                  <a:sysClr val="windowText" lastClr="000000"/>
                </a:solidFill>
              </a:endParaRPr>
            </a:p>
            <a:p>
              <a:pPr algn="l"/>
              <a:r>
                <a:rPr kumimoji="1" lang="ja-JP" altLang="en-US" sz="1000" dirty="0">
                  <a:solidFill>
                    <a:sysClr val="windowText" lastClr="000000"/>
                  </a:solidFill>
                </a:rPr>
                <a:t>（更新エラー</a:t>
              </a:r>
              <a:endParaRPr kumimoji="1" lang="en-US" altLang="ja-JP" sz="1000" dirty="0">
                <a:solidFill>
                  <a:sysClr val="windowText" lastClr="000000"/>
                </a:solidFill>
              </a:endParaRPr>
            </a:p>
            <a:p>
              <a:pPr algn="l"/>
              <a:r>
                <a:rPr kumimoji="1" lang="ja-JP" altLang="en-US" sz="1000" dirty="0">
                  <a:solidFill>
                    <a:sysClr val="windowText" lastClr="000000"/>
                  </a:solidFill>
                </a:rPr>
                <a:t>モード）</a:t>
              </a:r>
            </a:p>
          </p:txBody>
        </p:sp>
        <p:cxnSp>
          <p:nvCxnSpPr>
            <p:cNvPr id="82" name="直線矢印コネクタ 81"/>
            <p:cNvCxnSpPr>
              <a:stCxn id="79" idx="1"/>
              <a:endCxn id="81" idx="3"/>
            </p:cNvCxnSpPr>
            <p:nvPr/>
          </p:nvCxnSpPr>
          <p:spPr>
            <a:xfrm flipH="1">
              <a:off x="5855978" y="5543040"/>
              <a:ext cx="770359" cy="220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p:cNvSpPr/>
            <p:nvPr/>
          </p:nvSpPr>
          <p:spPr>
            <a:xfrm flipH="1">
              <a:off x="6654912" y="5304915"/>
              <a:ext cx="962025" cy="4762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a:solidFill>
                    <a:sysClr val="windowText" lastClr="000000"/>
                  </a:solidFill>
                  <a:latin typeface="+mn-ea"/>
                  <a:ea typeface="+mn-ea"/>
                </a:rPr>
                <a:t>画面再表示用</a:t>
              </a:r>
              <a:endParaRPr kumimoji="1" lang="en-US" altLang="ja-JP" sz="1000">
                <a:solidFill>
                  <a:sysClr val="windowText" lastClr="000000"/>
                </a:solidFill>
                <a:latin typeface="+mn-ea"/>
                <a:ea typeface="+mn-ea"/>
              </a:endParaRPr>
            </a:p>
            <a:p>
              <a:pPr algn="ctr"/>
              <a:r>
                <a:rPr kumimoji="1" lang="ja-JP" altLang="en-US" sz="1000">
                  <a:solidFill>
                    <a:sysClr val="windowText" lastClr="000000"/>
                  </a:solidFill>
                  <a:latin typeface="+mn-ea"/>
                  <a:ea typeface="+mn-ea"/>
                </a:rPr>
                <a:t>データセット</a:t>
              </a:r>
            </a:p>
          </p:txBody>
        </p:sp>
        <p:sp>
          <p:nvSpPr>
            <p:cNvPr id="84" name="正方形/長方形 83"/>
            <p:cNvSpPr/>
            <p:nvPr/>
          </p:nvSpPr>
          <p:spPr>
            <a:xfrm>
              <a:off x="7083537" y="2209291"/>
              <a:ext cx="447293"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en-US" altLang="ja-JP" sz="1000" dirty="0">
                  <a:solidFill>
                    <a:schemeClr val="tx1"/>
                  </a:solidFill>
                </a:rPr>
                <a:t>Yes</a:t>
              </a:r>
              <a:endParaRPr kumimoji="1" lang="ja-JP" altLang="en-US" sz="1000" dirty="0">
                <a:solidFill>
                  <a:schemeClr val="tx1"/>
                </a:solidFill>
              </a:endParaRPr>
            </a:p>
          </p:txBody>
        </p:sp>
        <p:sp>
          <p:nvSpPr>
            <p:cNvPr id="85" name="正方形/長方形 84"/>
            <p:cNvSpPr/>
            <p:nvPr/>
          </p:nvSpPr>
          <p:spPr>
            <a:xfrm>
              <a:off x="7683612" y="1694940"/>
              <a:ext cx="371475" cy="2571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en-US" altLang="ja-JP" sz="1000" dirty="0">
                  <a:solidFill>
                    <a:schemeClr val="tx1"/>
                  </a:solidFill>
                </a:rPr>
                <a:t>No</a:t>
              </a:r>
              <a:endParaRPr kumimoji="1" lang="ja-JP" altLang="en-US" sz="1000" dirty="0">
                <a:solidFill>
                  <a:schemeClr val="tx1"/>
                </a:solidFill>
              </a:endParaRPr>
            </a:p>
          </p:txBody>
        </p:sp>
        <p:sp>
          <p:nvSpPr>
            <p:cNvPr id="86" name="正方形/長方形 85"/>
            <p:cNvSpPr/>
            <p:nvPr/>
          </p:nvSpPr>
          <p:spPr>
            <a:xfrm>
              <a:off x="7093062" y="5019166"/>
              <a:ext cx="463662" cy="2476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en-US" altLang="ja-JP" sz="1000" dirty="0">
                  <a:solidFill>
                    <a:schemeClr val="tx1"/>
                  </a:solidFill>
                </a:rPr>
                <a:t>Yes</a:t>
              </a:r>
              <a:endParaRPr kumimoji="1" lang="ja-JP" altLang="en-US" sz="1000" dirty="0">
                <a:solidFill>
                  <a:schemeClr val="tx1"/>
                </a:solidFill>
              </a:endParaRPr>
            </a:p>
          </p:txBody>
        </p:sp>
        <p:sp>
          <p:nvSpPr>
            <p:cNvPr id="87" name="正方形/長方形 86"/>
            <p:cNvSpPr/>
            <p:nvPr/>
          </p:nvSpPr>
          <p:spPr>
            <a:xfrm>
              <a:off x="7693137" y="4504815"/>
              <a:ext cx="371475" cy="2571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en-US" altLang="ja-JP" sz="1000">
                  <a:solidFill>
                    <a:schemeClr val="tx1"/>
                  </a:solidFill>
                </a:rPr>
                <a:t>No</a:t>
              </a:r>
              <a:endParaRPr kumimoji="1" lang="ja-JP" altLang="en-US" sz="1000">
                <a:solidFill>
                  <a:schemeClr val="tx1"/>
                </a:solidFill>
              </a:endParaRPr>
            </a:p>
          </p:txBody>
        </p:sp>
        <p:sp>
          <p:nvSpPr>
            <p:cNvPr id="88" name="正方形/長方形 87"/>
            <p:cNvSpPr/>
            <p:nvPr/>
          </p:nvSpPr>
          <p:spPr>
            <a:xfrm>
              <a:off x="3819278" y="1643962"/>
              <a:ext cx="885825" cy="23192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dirty="0">
                  <a:solidFill>
                    <a:schemeClr val="tx1"/>
                  </a:solidFill>
                  <a:effectLst/>
                </a:rPr>
                <a:t>新規モード</a:t>
              </a:r>
              <a:endParaRPr kumimoji="1" lang="ja-JP" altLang="en-US" sz="1000" dirty="0">
                <a:solidFill>
                  <a:schemeClr val="tx1"/>
                </a:solidFill>
              </a:endParaRPr>
            </a:p>
          </p:txBody>
        </p:sp>
        <p:sp>
          <p:nvSpPr>
            <p:cNvPr id="89" name="正方形/長方形 88"/>
            <p:cNvSpPr/>
            <p:nvPr/>
          </p:nvSpPr>
          <p:spPr>
            <a:xfrm>
              <a:off x="3828803" y="3691836"/>
              <a:ext cx="847725" cy="27955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dirty="0">
                  <a:solidFill>
                    <a:schemeClr val="tx1"/>
                  </a:solidFill>
                  <a:effectLst/>
                </a:rPr>
                <a:t>更新モード</a:t>
              </a:r>
              <a:endParaRPr kumimoji="1" lang="ja-JP" altLang="en-US" sz="1000" dirty="0">
                <a:solidFill>
                  <a:schemeClr val="tx1"/>
                </a:solidFill>
              </a:endParaRPr>
            </a:p>
          </p:txBody>
        </p:sp>
        <p:cxnSp>
          <p:nvCxnSpPr>
            <p:cNvPr id="90" name="直線コネクタ 89"/>
            <p:cNvCxnSpPr/>
            <p:nvPr/>
          </p:nvCxnSpPr>
          <p:spPr>
            <a:xfrm>
              <a:off x="6207618" y="1218690"/>
              <a:ext cx="25757" cy="5243227"/>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91" name="直線矢印コネクタ 127"/>
            <p:cNvCxnSpPr>
              <a:stCxn id="75" idx="1"/>
              <a:endCxn id="46" idx="1"/>
            </p:cNvCxnSpPr>
            <p:nvPr/>
          </p:nvCxnSpPr>
          <p:spPr>
            <a:xfrm rot="10800000">
              <a:off x="4702287" y="1950708"/>
              <a:ext cx="19050" cy="753601"/>
            </a:xfrm>
            <a:prstGeom prst="bentConnector3">
              <a:avLst>
                <a:gd name="adj1" fmla="val 130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直線矢印コネクタ 127"/>
            <p:cNvCxnSpPr>
              <a:stCxn id="67" idx="1"/>
              <a:endCxn id="61" idx="1"/>
            </p:cNvCxnSpPr>
            <p:nvPr/>
          </p:nvCxnSpPr>
          <p:spPr>
            <a:xfrm rot="10800000">
              <a:off x="4721337" y="4785803"/>
              <a:ext cx="38100" cy="1395412"/>
            </a:xfrm>
            <a:prstGeom prst="bentConnector3">
              <a:avLst>
                <a:gd name="adj1" fmla="val 70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
        <p:nvSpPr>
          <p:cNvPr id="4098" name="タイトル 1"/>
          <p:cNvSpPr>
            <a:spLocks noGrp="1"/>
          </p:cNvSpPr>
          <p:nvPr>
            <p:ph type="title" idx="4294967295"/>
          </p:nvPr>
        </p:nvSpPr>
        <p:spPr>
          <a:xfrm>
            <a:off x="251136"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４－２．従来の</a:t>
            </a:r>
            <a:r>
              <a:rPr lang="en-US" altLang="ja-JP" sz="2800" dirty="0">
                <a:solidFill>
                  <a:schemeClr val="tx2"/>
                </a:solidFill>
                <a:latin typeface="Meiryo UI" pitchFamily="50" charset="-128"/>
                <a:ea typeface="Meiryo UI" pitchFamily="50" charset="-128"/>
                <a:cs typeface="Meiryo UI" pitchFamily="50" charset="-128"/>
              </a:rPr>
              <a:t>WEB</a:t>
            </a:r>
            <a:r>
              <a:rPr lang="ja-JP" altLang="en-US" sz="2800" dirty="0">
                <a:solidFill>
                  <a:schemeClr val="tx2"/>
                </a:solidFill>
                <a:latin typeface="Meiryo UI" pitchFamily="50" charset="-128"/>
                <a:ea typeface="Meiryo UI" pitchFamily="50" charset="-128"/>
                <a:cs typeface="Meiryo UI" pitchFamily="50" charset="-128"/>
              </a:rPr>
              <a:t>開発における問題</a:t>
            </a:r>
            <a:r>
              <a:rPr lang="en-US" altLang="ja-JP" sz="2800" dirty="0">
                <a:solidFill>
                  <a:schemeClr val="tx2"/>
                </a:solidFill>
                <a:latin typeface="Meiryo UI" pitchFamily="50" charset="-128"/>
                <a:ea typeface="Meiryo UI" pitchFamily="50" charset="-128"/>
                <a:cs typeface="Meiryo UI" pitchFamily="50" charset="-128"/>
              </a:rPr>
              <a:t>2</a:t>
            </a:r>
            <a:endParaRPr lang="ja-JP" altLang="en-US" sz="2800" dirty="0">
              <a:solidFill>
                <a:schemeClr val="tx2"/>
              </a:solidFill>
              <a:latin typeface="Meiryo UI" pitchFamily="50" charset="-128"/>
              <a:ea typeface="Meiryo UI" pitchFamily="50" charset="-128"/>
              <a:cs typeface="Meiryo UI" pitchFamily="50" charset="-128"/>
            </a:endParaRP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6</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4" name="AutoShape 4" descr="「暴走」の画像検索結果"/>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5" name="AutoShape 6" descr="「暴走」の画像検索結果"/>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Tree>
    <p:custDataLst>
      <p:tags r:id="rId1"/>
    </p:custDataLst>
    <p:extLst>
      <p:ext uri="{BB962C8B-B14F-4D97-AF65-F5344CB8AC3E}">
        <p14:creationId xmlns:p14="http://schemas.microsoft.com/office/powerpoint/2010/main" val="951432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08"/>
                                        </p:tgtEl>
                                      </p:cBhvr>
                                    </p:animEffect>
                                    <p:set>
                                      <p:cBhvr>
                                        <p:cTn id="7" dur="1" fill="hold">
                                          <p:stCondLst>
                                            <p:cond delay="499"/>
                                          </p:stCondLst>
                                        </p:cTn>
                                        <p:tgtEl>
                                          <p:spTgt spid="308"/>
                                        </p:tgtEl>
                                        <p:attrNameLst>
                                          <p:attrName>style.visibility</p:attrName>
                                        </p:attrNameLst>
                                      </p:cBhvr>
                                      <p:to>
                                        <p:strVal val="hidden"/>
                                      </p:to>
                                    </p:set>
                                  </p:childTnLst>
                                </p:cTn>
                              </p:par>
                              <p:par>
                                <p:cTn id="8" presetID="10" presetClass="entr" presetSubtype="0"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1"/>
          <p:cNvSpPr>
            <a:spLocks noGrp="1"/>
          </p:cNvSpPr>
          <p:nvPr>
            <p:ph type="title" idx="4294967295"/>
          </p:nvPr>
        </p:nvSpPr>
        <p:spPr>
          <a:xfrm>
            <a:off x="251136"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５－１．従来問題１の解決</a:t>
            </a: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7</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8" name="正方形/長方形 7"/>
          <p:cNvSpPr/>
          <p:nvPr/>
        </p:nvSpPr>
        <p:spPr>
          <a:xfrm>
            <a:off x="243712" y="1366089"/>
            <a:ext cx="3105416" cy="2423713"/>
          </a:xfrm>
          <a:prstGeom prst="rect">
            <a:avLst/>
          </a:prstGeom>
          <a:solidFill>
            <a:schemeClr val="accent3">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ユーザマスタから以下の条件で以下項目を取得し画面の対応項目に表示する。</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条件：</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ユーザ</a:t>
            </a:r>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ID=</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ログインアカウント</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取得項目：</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ユーザ</a:t>
            </a:r>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ユーザ名</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パスワード</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メールアドレス</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前回ログイン日時</a:t>
            </a: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2" name="テキスト ボックス 11"/>
          <p:cNvSpPr txBox="1"/>
          <p:nvPr/>
        </p:nvSpPr>
        <p:spPr>
          <a:xfrm>
            <a:off x="307973" y="1040827"/>
            <a:ext cx="3375331" cy="338554"/>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基本設計</a:t>
            </a:r>
          </a:p>
        </p:txBody>
      </p:sp>
      <p:grpSp>
        <p:nvGrpSpPr>
          <p:cNvPr id="4" name="グループ化 3"/>
          <p:cNvGrpSpPr/>
          <p:nvPr/>
        </p:nvGrpSpPr>
        <p:grpSpPr>
          <a:xfrm>
            <a:off x="3460568" y="1040827"/>
            <a:ext cx="5683433" cy="5260821"/>
            <a:chOff x="3460568" y="1040827"/>
            <a:chExt cx="5683433" cy="5260821"/>
          </a:xfrm>
        </p:grpSpPr>
        <p:sp>
          <p:nvSpPr>
            <p:cNvPr id="21" name="正方形/長方形 20"/>
            <p:cNvSpPr/>
            <p:nvPr/>
          </p:nvSpPr>
          <p:spPr>
            <a:xfrm>
              <a:off x="3460568" y="4898611"/>
              <a:ext cx="3197963" cy="1192170"/>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userInput.jsp</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&lt;input id=“txt_userId”</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5" name="正方形/長方形 14"/>
            <p:cNvSpPr/>
            <p:nvPr/>
          </p:nvSpPr>
          <p:spPr>
            <a:xfrm>
              <a:off x="3460568" y="1366089"/>
              <a:ext cx="3877765" cy="3291215"/>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User.xml</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&lt;sql id=“getUserByAccount”&gt;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select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username,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password,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mailaddress,</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lastlogindate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from </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m_user</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where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userid=:account</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&lt;/sql&gt;</a:t>
              </a:r>
            </a:p>
          </p:txBody>
        </p:sp>
        <p:sp>
          <p:nvSpPr>
            <p:cNvPr id="14" name="テキスト ボックス 13"/>
            <p:cNvSpPr txBox="1"/>
            <p:nvPr/>
          </p:nvSpPr>
          <p:spPr>
            <a:xfrm>
              <a:off x="3460568" y="1040827"/>
              <a:ext cx="3375331" cy="338554"/>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プログラム</a:t>
              </a:r>
            </a:p>
          </p:txBody>
        </p:sp>
        <p:sp>
          <p:nvSpPr>
            <p:cNvPr id="16" name="正方形/長方形 15"/>
            <p:cNvSpPr/>
            <p:nvPr/>
          </p:nvSpPr>
          <p:spPr>
            <a:xfrm>
              <a:off x="5399451" y="2088818"/>
              <a:ext cx="3744550" cy="4212830"/>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userInput_init.js</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var objUser=db.select(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“getUserByAccount”,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{“account”:session.get(“USER_ID”)}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).map({</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“#txt_userId”:”userid”,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“#txt_userName”:”username”,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“#txt_password”:”password”,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“#txt_mail”:”mailaddress”,</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“#txt_lastLoginDate”:”lastlogindate”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}).getSingle();</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r</a:t>
              </a:r>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eturn (new Result())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.runat(“body”)</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.withdata(objUser);</a:t>
              </a:r>
            </a:p>
            <a:p>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grpSp>
      <p:sp>
        <p:nvSpPr>
          <p:cNvPr id="9" name="テキスト ボックス 5"/>
          <p:cNvSpPr txBox="1">
            <a:spLocks noChangeArrowheads="1"/>
          </p:cNvSpPr>
          <p:nvPr/>
        </p:nvSpPr>
        <p:spPr bwMode="auto">
          <a:xfrm>
            <a:off x="2146719" y="2922344"/>
            <a:ext cx="4801769" cy="2468608"/>
          </a:xfrm>
          <a:prstGeom prst="rect">
            <a:avLst/>
          </a:prstGeom>
          <a:solidFill>
            <a:schemeClr val="accent6">
              <a:lumMod val="20000"/>
              <a:lumOff val="80000"/>
            </a:schemeClr>
          </a:solidFill>
          <a:ln/>
          <a:extLst/>
        </p:spPr>
        <p:style>
          <a:lnRef idx="3">
            <a:schemeClr val="lt1"/>
          </a:lnRef>
          <a:fillRef idx="1">
            <a:schemeClr val="accent5"/>
          </a:fillRef>
          <a:effectRef idx="1">
            <a:schemeClr val="accent5"/>
          </a:effectRef>
          <a:fontRef idx="minor">
            <a:schemeClr val="lt1"/>
          </a:fontRef>
        </p:style>
        <p:txBody>
          <a:bodyPr rtlCol="0" anchor="ctr" anchorCtr="0"/>
          <a:lstStyle>
            <a:defPPr>
              <a:defRPr lang="ja-JP"/>
            </a:defPPr>
            <a:lvl1pPr>
              <a:defRPr sz="1400">
                <a:solidFill>
                  <a:schemeClr val="bg1"/>
                </a:solidFill>
                <a:latin typeface="Meiryo UI" panose="020B0604030504040204" pitchFamily="50" charset="-128"/>
                <a:ea typeface="Meiryo UI" panose="020B0604030504040204" pitchFamily="50" charset="-128"/>
                <a:cs typeface="Meiryo UI" panose="020B0604030504040204" pitchFamily="50" charset="-128"/>
              </a:defRPr>
            </a:lvl1pPr>
            <a:lvl2pPr>
              <a:defRPr>
                <a:solidFill>
                  <a:schemeClr val="lt1"/>
                </a:solidFill>
                <a:latin typeface="+mn-lt"/>
                <a:ea typeface="+mn-ea"/>
              </a:defRPr>
            </a:lvl2pPr>
            <a:lvl3pPr>
              <a:defRPr>
                <a:solidFill>
                  <a:schemeClr val="lt1"/>
                </a:solidFill>
                <a:latin typeface="+mn-lt"/>
                <a:ea typeface="+mn-ea"/>
              </a:defRPr>
            </a:lvl3pPr>
            <a:lvl4pPr>
              <a:defRPr>
                <a:solidFill>
                  <a:schemeClr val="lt1"/>
                </a:solidFill>
                <a:latin typeface="+mn-lt"/>
                <a:ea typeface="+mn-ea"/>
              </a:defRPr>
            </a:lvl4pPr>
            <a:lvl5pPr>
              <a:defRPr>
                <a:solidFill>
                  <a:schemeClr val="lt1"/>
                </a:solidFill>
                <a:latin typeface="+mn-lt"/>
                <a:ea typeface="+mn-ea"/>
              </a:defRPr>
            </a:lvl5pPr>
            <a:lvl6pPr>
              <a:defRPr>
                <a:solidFill>
                  <a:schemeClr val="lt1"/>
                </a:solidFill>
                <a:latin typeface="+mn-lt"/>
                <a:ea typeface="+mn-ea"/>
              </a:defRPr>
            </a:lvl6pPr>
            <a:lvl7pPr>
              <a:defRPr>
                <a:solidFill>
                  <a:schemeClr val="lt1"/>
                </a:solidFill>
                <a:latin typeface="+mn-lt"/>
                <a:ea typeface="+mn-ea"/>
              </a:defRPr>
            </a:lvl7pPr>
            <a:lvl8pPr>
              <a:defRPr>
                <a:solidFill>
                  <a:schemeClr val="lt1"/>
                </a:solidFill>
                <a:latin typeface="+mn-lt"/>
                <a:ea typeface="+mn-ea"/>
              </a:defRPr>
            </a:lvl8pPr>
            <a:lvl9pPr>
              <a:defRPr>
                <a:solidFill>
                  <a:schemeClr val="lt1"/>
                </a:solidFill>
                <a:latin typeface="+mn-lt"/>
                <a:ea typeface="+mn-ea"/>
              </a:defRPr>
            </a:lvl9pPr>
          </a:lstStyle>
          <a:p>
            <a:r>
              <a:rPr lang="en-US" altLang="ja-JP" sz="1600" dirty="0">
                <a:solidFill>
                  <a:schemeClr val="tx1"/>
                </a:solidFill>
              </a:rPr>
              <a:t>WEB</a:t>
            </a:r>
            <a:r>
              <a:rPr lang="ja-JP" altLang="en-US" sz="1600" dirty="0">
                <a:solidFill>
                  <a:schemeClr val="tx1"/>
                </a:solidFill>
              </a:rPr>
              <a:t>システム開発には、「</a:t>
            </a:r>
            <a:r>
              <a:rPr lang="ja-JP" altLang="en-US" sz="1600" dirty="0">
                <a:solidFill>
                  <a:schemeClr val="accent2"/>
                </a:solidFill>
              </a:rPr>
              <a:t>パラメータ受信・入力チェック・ データ表示・活性非活性・表示非表示・画面遷移</a:t>
            </a:r>
            <a:r>
              <a:rPr lang="ja-JP" altLang="en-US" sz="1600" dirty="0">
                <a:solidFill>
                  <a:schemeClr val="tx1"/>
                </a:solidFill>
              </a:rPr>
              <a:t>」などの処理がよくあります。</a:t>
            </a:r>
            <a:endParaRPr lang="en-US" altLang="ja-JP" sz="1600" dirty="0">
              <a:solidFill>
                <a:schemeClr val="tx1"/>
              </a:solidFill>
            </a:endParaRPr>
          </a:p>
          <a:p>
            <a:endParaRPr lang="en-US" altLang="ja-JP" sz="1600" dirty="0">
              <a:solidFill>
                <a:schemeClr val="tx1"/>
              </a:solidFill>
            </a:endParaRPr>
          </a:p>
          <a:p>
            <a:r>
              <a:rPr lang="en-US" altLang="ja-JP" sz="1600" dirty="0">
                <a:solidFill>
                  <a:schemeClr val="tx1"/>
                </a:solidFill>
              </a:rPr>
              <a:t>E-FW</a:t>
            </a:r>
            <a:r>
              <a:rPr lang="ja-JP" altLang="en-US" sz="1600" dirty="0">
                <a:solidFill>
                  <a:schemeClr val="tx1"/>
                </a:solidFill>
              </a:rPr>
              <a:t>はそれらをパターン化して、</a:t>
            </a:r>
            <a:r>
              <a:rPr lang="en-US" altLang="ja-JP" sz="1600" dirty="0">
                <a:solidFill>
                  <a:schemeClr val="tx1"/>
                </a:solidFill>
              </a:rPr>
              <a:t>WEB</a:t>
            </a:r>
            <a:r>
              <a:rPr lang="ja-JP" altLang="en-US" sz="1600" dirty="0">
                <a:solidFill>
                  <a:schemeClr val="tx1"/>
                </a:solidFill>
              </a:rPr>
              <a:t>画面開発の</a:t>
            </a:r>
          </a:p>
          <a:p>
            <a:r>
              <a:rPr lang="ja-JP" altLang="en-US" sz="1600" dirty="0">
                <a:solidFill>
                  <a:schemeClr val="accent2"/>
                </a:solidFill>
              </a:rPr>
              <a:t>専用言語</a:t>
            </a:r>
            <a:r>
              <a:rPr lang="en-US" altLang="ja-JP" sz="1600" dirty="0">
                <a:solidFill>
                  <a:schemeClr val="accent2"/>
                </a:solidFill>
              </a:rPr>
              <a:t>(DSL)</a:t>
            </a:r>
            <a:r>
              <a:rPr lang="ja-JP" altLang="en-US" sz="1600" dirty="0">
                <a:solidFill>
                  <a:schemeClr val="tx1"/>
                </a:solidFill>
              </a:rPr>
              <a:t>を設計・実装します。</a:t>
            </a:r>
          </a:p>
          <a:p>
            <a:r>
              <a:rPr lang="ja-JP" altLang="en-US" sz="1600" dirty="0">
                <a:solidFill>
                  <a:schemeClr val="tx1"/>
                </a:solidFill>
              </a:rPr>
              <a:t>言い換えると「</a:t>
            </a:r>
            <a:r>
              <a:rPr lang="ja-JP" altLang="en-US" sz="1600" dirty="0">
                <a:solidFill>
                  <a:schemeClr val="accent2"/>
                </a:solidFill>
              </a:rPr>
              <a:t>入力データ収集と処理結果表示の自動化</a:t>
            </a:r>
            <a:r>
              <a:rPr lang="ja-JP" altLang="en-US" sz="1600" dirty="0">
                <a:solidFill>
                  <a:schemeClr val="tx1"/>
                </a:solidFill>
              </a:rPr>
              <a:t>」です。</a:t>
            </a:r>
            <a:endParaRPr lang="en-US" altLang="ja-JP" sz="1600" dirty="0">
              <a:solidFill>
                <a:schemeClr val="tx1"/>
              </a:solidFill>
            </a:endParaRPr>
          </a:p>
        </p:txBody>
      </p:sp>
    </p:spTree>
    <p:custDataLst>
      <p:tags r:id="rId1"/>
    </p:custDataLst>
    <p:extLst>
      <p:ext uri="{BB962C8B-B14F-4D97-AF65-F5344CB8AC3E}">
        <p14:creationId xmlns:p14="http://schemas.microsoft.com/office/powerpoint/2010/main" val="326413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1"/>
          <p:cNvGrpSpPr/>
          <p:nvPr/>
        </p:nvGrpSpPr>
        <p:grpSpPr>
          <a:xfrm>
            <a:off x="146650" y="898951"/>
            <a:ext cx="3658729" cy="5645068"/>
            <a:chOff x="146650" y="898951"/>
            <a:chExt cx="3658729" cy="5645068"/>
          </a:xfrm>
        </p:grpSpPr>
        <p:sp>
          <p:nvSpPr>
            <p:cNvPr id="9" name="正方形/長方形 8"/>
            <p:cNvSpPr/>
            <p:nvPr/>
          </p:nvSpPr>
          <p:spPr>
            <a:xfrm>
              <a:off x="194452" y="1159423"/>
              <a:ext cx="3610927" cy="5384596"/>
            </a:xfrm>
            <a:prstGeom prst="rect">
              <a:avLst/>
            </a:prstGeom>
            <a:solidFill>
              <a:schemeClr val="accent3">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cxnSp>
          <p:nvCxnSpPr>
            <p:cNvPr id="11" name="直線コネクタ 10"/>
            <p:cNvCxnSpPr/>
            <p:nvPr/>
          </p:nvCxnSpPr>
          <p:spPr>
            <a:xfrm>
              <a:off x="3009291" y="1239996"/>
              <a:ext cx="0" cy="469440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a:off x="1294791" y="1239996"/>
              <a:ext cx="0" cy="469440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13" name="正方形/長方形 12"/>
            <p:cNvSpPr/>
            <p:nvPr/>
          </p:nvSpPr>
          <p:spPr>
            <a:xfrm>
              <a:off x="2537503" y="1241412"/>
              <a:ext cx="971550" cy="342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サーバ</a:t>
              </a:r>
            </a:p>
          </p:txBody>
        </p:sp>
        <p:sp>
          <p:nvSpPr>
            <p:cNvPr id="14" name="正方形/長方形 13"/>
            <p:cNvSpPr/>
            <p:nvPr/>
          </p:nvSpPr>
          <p:spPr>
            <a:xfrm>
              <a:off x="1175428" y="1755762"/>
              <a:ext cx="200025" cy="942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15" name="直線矢印コネクタ 14"/>
            <p:cNvCxnSpPr/>
            <p:nvPr/>
          </p:nvCxnSpPr>
          <p:spPr>
            <a:xfrm>
              <a:off x="1384978" y="1936737"/>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正方形/長方形 15"/>
            <p:cNvSpPr/>
            <p:nvPr/>
          </p:nvSpPr>
          <p:spPr>
            <a:xfrm>
              <a:off x="1527852" y="1723087"/>
              <a:ext cx="1419226" cy="2366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顧客重複チェック</a:t>
              </a:r>
            </a:p>
          </p:txBody>
        </p:sp>
        <p:sp>
          <p:nvSpPr>
            <p:cNvPr id="17" name="正方形/長方形 16"/>
            <p:cNvSpPr/>
            <p:nvPr/>
          </p:nvSpPr>
          <p:spPr>
            <a:xfrm>
              <a:off x="1560451" y="1955789"/>
              <a:ext cx="1312338" cy="3235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チェック結果返却</a:t>
              </a:r>
            </a:p>
          </p:txBody>
        </p:sp>
        <p:sp>
          <p:nvSpPr>
            <p:cNvPr id="18" name="正方形/長方形 17"/>
            <p:cNvSpPr/>
            <p:nvPr/>
          </p:nvSpPr>
          <p:spPr>
            <a:xfrm>
              <a:off x="1708828" y="2412987"/>
              <a:ext cx="103822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顧客情報登録</a:t>
              </a:r>
            </a:p>
          </p:txBody>
        </p:sp>
        <p:cxnSp>
          <p:nvCxnSpPr>
            <p:cNvPr id="19" name="直線矢印コネクタ 18"/>
            <p:cNvCxnSpPr/>
            <p:nvPr/>
          </p:nvCxnSpPr>
          <p:spPr>
            <a:xfrm flipH="1">
              <a:off x="1375453" y="3079737"/>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0" name="正方形/長方形 19"/>
            <p:cNvSpPr/>
            <p:nvPr/>
          </p:nvSpPr>
          <p:spPr>
            <a:xfrm>
              <a:off x="1708828" y="2651781"/>
              <a:ext cx="1057275" cy="504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画面再表示用データ返却</a:t>
              </a:r>
            </a:p>
          </p:txBody>
        </p:sp>
        <p:sp>
          <p:nvSpPr>
            <p:cNvPr id="21" name="正方形/長方形 20"/>
            <p:cNvSpPr/>
            <p:nvPr/>
          </p:nvSpPr>
          <p:spPr>
            <a:xfrm>
              <a:off x="1175428" y="2813037"/>
              <a:ext cx="200025" cy="523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22" name="正方形/長方形 21"/>
            <p:cNvSpPr/>
            <p:nvPr/>
          </p:nvSpPr>
          <p:spPr>
            <a:xfrm>
              <a:off x="832528" y="1231887"/>
              <a:ext cx="1062339" cy="342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クライアント</a:t>
              </a:r>
            </a:p>
          </p:txBody>
        </p:sp>
        <p:sp>
          <p:nvSpPr>
            <p:cNvPr id="23" name="正方形/長方形 22"/>
            <p:cNvSpPr/>
            <p:nvPr/>
          </p:nvSpPr>
          <p:spPr>
            <a:xfrm>
              <a:off x="1184953" y="3917937"/>
              <a:ext cx="200025" cy="942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24" name="正方形/長方形 23"/>
            <p:cNvSpPr/>
            <p:nvPr/>
          </p:nvSpPr>
          <p:spPr>
            <a:xfrm>
              <a:off x="2908978" y="3917937"/>
              <a:ext cx="219075" cy="6000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25" name="直線矢印コネクタ 24"/>
            <p:cNvCxnSpPr/>
            <p:nvPr/>
          </p:nvCxnSpPr>
          <p:spPr>
            <a:xfrm>
              <a:off x="1394503" y="4098912"/>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p:cNvSpPr/>
            <p:nvPr/>
          </p:nvSpPr>
          <p:spPr>
            <a:xfrm>
              <a:off x="1651678" y="3789350"/>
              <a:ext cx="1068872" cy="3333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lang="ja-JP" altLang="en-US" dirty="0">
                  <a:solidFill>
                    <a:schemeClr val="tx1"/>
                  </a:solidFill>
                </a:rPr>
                <a:t>他人操作有無</a:t>
              </a:r>
              <a:r>
                <a:rPr kumimoji="1" lang="ja-JP" altLang="en-US" sz="1100" dirty="0">
                  <a:solidFill>
                    <a:schemeClr val="tx1"/>
                  </a:solidFill>
                </a:rPr>
                <a:t>チェック</a:t>
              </a:r>
            </a:p>
          </p:txBody>
        </p:sp>
        <p:cxnSp>
          <p:nvCxnSpPr>
            <p:cNvPr id="27" name="直線矢印コネクタ 26"/>
            <p:cNvCxnSpPr/>
            <p:nvPr/>
          </p:nvCxnSpPr>
          <p:spPr>
            <a:xfrm flipH="1">
              <a:off x="1384978" y="4441812"/>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正方形/長方形 27"/>
            <p:cNvSpPr/>
            <p:nvPr/>
          </p:nvSpPr>
          <p:spPr>
            <a:xfrm>
              <a:off x="1552000" y="4194162"/>
              <a:ext cx="1304925" cy="23428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latin typeface="+mn-lt"/>
                  <a:ea typeface="+mn-ea"/>
                  <a:cs typeface="+mn-cs"/>
                </a:rPr>
                <a:t>チェック結果</a:t>
              </a:r>
              <a:r>
                <a:rPr kumimoji="1" lang="ja-JP" altLang="en-US" sz="1100" dirty="0">
                  <a:solidFill>
                    <a:schemeClr val="tx1"/>
                  </a:solidFill>
                </a:rPr>
                <a:t>返却</a:t>
              </a:r>
            </a:p>
          </p:txBody>
        </p:sp>
        <p:sp>
          <p:nvSpPr>
            <p:cNvPr id="29" name="正方形/長方形 28"/>
            <p:cNvSpPr/>
            <p:nvPr/>
          </p:nvSpPr>
          <p:spPr>
            <a:xfrm>
              <a:off x="2908978" y="4689462"/>
              <a:ext cx="219075" cy="6381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30" name="直線矢印コネクタ 29"/>
            <p:cNvCxnSpPr/>
            <p:nvPr/>
          </p:nvCxnSpPr>
          <p:spPr>
            <a:xfrm>
              <a:off x="1384978" y="4803762"/>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p:cNvSpPr/>
            <p:nvPr/>
          </p:nvSpPr>
          <p:spPr>
            <a:xfrm>
              <a:off x="1642153" y="4575162"/>
              <a:ext cx="103822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顧客情報更新</a:t>
              </a:r>
            </a:p>
          </p:txBody>
        </p:sp>
        <p:cxnSp>
          <p:nvCxnSpPr>
            <p:cNvPr id="32" name="直線矢印コネクタ 31"/>
            <p:cNvCxnSpPr/>
            <p:nvPr/>
          </p:nvCxnSpPr>
          <p:spPr>
            <a:xfrm flipH="1">
              <a:off x="1384978" y="5241912"/>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3" name="正方形/長方形 32"/>
            <p:cNvSpPr/>
            <p:nvPr/>
          </p:nvSpPr>
          <p:spPr>
            <a:xfrm>
              <a:off x="1718353" y="4826835"/>
              <a:ext cx="1057275" cy="504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画面再表示用データ返却</a:t>
              </a:r>
            </a:p>
          </p:txBody>
        </p:sp>
        <p:sp>
          <p:nvSpPr>
            <p:cNvPr id="34" name="正方形/長方形 33"/>
            <p:cNvSpPr/>
            <p:nvPr/>
          </p:nvSpPr>
          <p:spPr>
            <a:xfrm>
              <a:off x="1184953" y="4975212"/>
              <a:ext cx="200025" cy="523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5" name="正方形/長方形 34"/>
            <p:cNvSpPr/>
            <p:nvPr/>
          </p:nvSpPr>
          <p:spPr>
            <a:xfrm>
              <a:off x="2908978" y="1774812"/>
              <a:ext cx="219075" cy="6000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6" name="正方形/長方形 35"/>
            <p:cNvSpPr/>
            <p:nvPr/>
          </p:nvSpPr>
          <p:spPr>
            <a:xfrm>
              <a:off x="2908978" y="2546337"/>
              <a:ext cx="219075" cy="6381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7" name="正方形/長方形 36"/>
            <p:cNvSpPr/>
            <p:nvPr/>
          </p:nvSpPr>
          <p:spPr>
            <a:xfrm>
              <a:off x="289603" y="1656840"/>
              <a:ext cx="3362325" cy="20002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38" name="正方形/長方形 37"/>
            <p:cNvSpPr/>
            <p:nvPr/>
          </p:nvSpPr>
          <p:spPr>
            <a:xfrm>
              <a:off x="289603" y="3723765"/>
              <a:ext cx="3362325" cy="273815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39" name="正方形/長方形 38"/>
            <p:cNvSpPr/>
            <p:nvPr/>
          </p:nvSpPr>
          <p:spPr>
            <a:xfrm>
              <a:off x="270553" y="1679562"/>
              <a:ext cx="90487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rPr>
                <a:t>新規モード</a:t>
              </a:r>
              <a:endParaRPr kumimoji="1" lang="ja-JP" altLang="en-US" sz="1100" dirty="0">
                <a:solidFill>
                  <a:schemeClr val="tx1"/>
                </a:solidFill>
              </a:endParaRPr>
            </a:p>
          </p:txBody>
        </p:sp>
        <p:sp>
          <p:nvSpPr>
            <p:cNvPr id="40" name="正方形/長方形 39"/>
            <p:cNvSpPr/>
            <p:nvPr/>
          </p:nvSpPr>
          <p:spPr>
            <a:xfrm>
              <a:off x="266534" y="3705872"/>
              <a:ext cx="942767" cy="2190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rPr>
                <a:t>更新モード</a:t>
              </a:r>
              <a:endParaRPr kumimoji="1" lang="ja-JP" altLang="en-US" sz="1100" dirty="0">
                <a:solidFill>
                  <a:schemeClr val="tx1"/>
                </a:solidFill>
              </a:endParaRPr>
            </a:p>
          </p:txBody>
        </p:sp>
        <p:sp>
          <p:nvSpPr>
            <p:cNvPr id="41" name="テキスト ボックス 40"/>
            <p:cNvSpPr txBox="1"/>
            <p:nvPr/>
          </p:nvSpPr>
          <p:spPr>
            <a:xfrm>
              <a:off x="146650" y="898951"/>
              <a:ext cx="1978027" cy="338554"/>
            </a:xfrm>
            <a:prstGeom prst="rect">
              <a:avLst/>
            </a:prstGeom>
            <a:noFill/>
          </p:spPr>
          <p:txBody>
            <a:bodyPr wrap="square" rtlCol="0">
              <a:spAutoFit/>
            </a:bodyPr>
            <a:lstStyle/>
            <a:p>
              <a:r>
                <a:rPr lang="ja-JP" altLang="en-US" sz="1600" dirty="0">
                  <a:latin typeface="Meiryo UI" panose="020B0604030504040204" pitchFamily="50" charset="-128"/>
                  <a:ea typeface="Meiryo UI" panose="020B0604030504040204" pitchFamily="50" charset="-128"/>
                  <a:cs typeface="Meiryo UI" panose="020B0604030504040204" pitchFamily="50" charset="-128"/>
                </a:rPr>
                <a:t>基本</a:t>
              </a:r>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設計</a:t>
              </a:r>
            </a:p>
          </p:txBody>
        </p:sp>
        <p:cxnSp>
          <p:nvCxnSpPr>
            <p:cNvPr id="42" name="直線矢印コネクタ 41"/>
            <p:cNvCxnSpPr/>
            <p:nvPr/>
          </p:nvCxnSpPr>
          <p:spPr>
            <a:xfrm flipH="1">
              <a:off x="1369114" y="2288827"/>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p:cNvCxnSpPr/>
            <p:nvPr/>
          </p:nvCxnSpPr>
          <p:spPr>
            <a:xfrm>
              <a:off x="1369114" y="2650777"/>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8</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4" name="AutoShape 4" descr="「暴走」の画像検索結果"/>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5" name="AutoShape 6" descr="「暴走」の画像検索結果"/>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4098" name="タイトル 1"/>
          <p:cNvSpPr>
            <a:spLocks noGrp="1"/>
          </p:cNvSpPr>
          <p:nvPr>
            <p:ph type="title" idx="4294967295"/>
          </p:nvPr>
        </p:nvSpPr>
        <p:spPr>
          <a:xfrm>
            <a:off x="251136" y="275784"/>
            <a:ext cx="5686956"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５－２．従来問題２の解決</a:t>
            </a:r>
          </a:p>
        </p:txBody>
      </p:sp>
      <p:grpSp>
        <p:nvGrpSpPr>
          <p:cNvPr id="7" name="グループ化 6"/>
          <p:cNvGrpSpPr/>
          <p:nvPr/>
        </p:nvGrpSpPr>
        <p:grpSpPr>
          <a:xfrm>
            <a:off x="3922004" y="605926"/>
            <a:ext cx="5034710" cy="6125375"/>
            <a:chOff x="3922004" y="843010"/>
            <a:chExt cx="5034710" cy="5583187"/>
          </a:xfrm>
        </p:grpSpPr>
        <p:sp>
          <p:nvSpPr>
            <p:cNvPr id="6" name="正方形/長方形 5"/>
            <p:cNvSpPr/>
            <p:nvPr/>
          </p:nvSpPr>
          <p:spPr>
            <a:xfrm>
              <a:off x="3922004" y="843010"/>
              <a:ext cx="5034710" cy="5583187"/>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新規モード</a:t>
              </a:r>
              <a:endPar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i</a:t>
              </a:r>
              <a:r>
                <a:rPr kumimoji="1"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f (params[“hnd_mode”]==“new_mode”){</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var blnExists=db.select( “User”, “checkExists”,</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{“userId”:params[“#txt_userId”]}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).getValue(“ret”);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if (blnExists){</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return (new Result())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.alert(“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該当顧客はすでに登録しました。</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}else{</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db.change(“User”,”addNewUser”,{</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return (new Result())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.alert(“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保存しました。</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.concat(event.fire(“userInput_show”,</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{“userId”:params[“#txt_userId”]}))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.disable(“#txt_userId”);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更新モード</a:t>
              </a:r>
              <a:endPar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else{</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var blnOperated=db.select(“User”,“checkOperated”,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{“userId”:params[“#txt_userId”],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“updateDate”:params[“#hdn_updateDate”]}</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).getValue(“ret”);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if (blnOperated){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return (new Result())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.alert(“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他人操作中のため、該当処理は実行できません。</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}else{</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db.change(“User”,”updateUser”,{</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return (new Result())</a:t>
              </a:r>
            </a:p>
            <a:p>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.concat(event.fire(“userInput_show”,</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{“userId”:params[“#txt_userId”]}))</a:t>
              </a:r>
            </a:p>
            <a:p>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.alert(“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保存しました。</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p>
            <a:p>
              <a:r>
                <a:rPr kumimoji="1"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p:txBody>
        </p:sp>
        <p:sp>
          <p:nvSpPr>
            <p:cNvPr id="93" name="テキスト ボックス 92"/>
            <p:cNvSpPr txBox="1"/>
            <p:nvPr/>
          </p:nvSpPr>
          <p:spPr>
            <a:xfrm>
              <a:off x="7774511" y="921955"/>
              <a:ext cx="1027966" cy="308587"/>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プログラム</a:t>
              </a:r>
            </a:p>
          </p:txBody>
        </p:sp>
      </p:grpSp>
      <p:sp>
        <p:nvSpPr>
          <p:cNvPr id="45" name="テキスト ボックス 5"/>
          <p:cNvSpPr txBox="1">
            <a:spLocks noChangeArrowheads="1"/>
          </p:cNvSpPr>
          <p:nvPr/>
        </p:nvSpPr>
        <p:spPr bwMode="auto">
          <a:xfrm>
            <a:off x="1894867" y="2745654"/>
            <a:ext cx="4806442" cy="2468608"/>
          </a:xfrm>
          <a:prstGeom prst="rect">
            <a:avLst/>
          </a:prstGeom>
          <a:solidFill>
            <a:schemeClr val="accent6">
              <a:lumMod val="20000"/>
              <a:lumOff val="80000"/>
            </a:schemeClr>
          </a:solidFill>
          <a:ln/>
          <a:extLst/>
        </p:spPr>
        <p:style>
          <a:lnRef idx="3">
            <a:schemeClr val="lt1"/>
          </a:lnRef>
          <a:fillRef idx="1">
            <a:schemeClr val="accent5"/>
          </a:fillRef>
          <a:effectRef idx="1">
            <a:schemeClr val="accent5"/>
          </a:effectRef>
          <a:fontRef idx="minor">
            <a:schemeClr val="lt1"/>
          </a:fontRef>
        </p:style>
        <p:txBody>
          <a:bodyPr rtlCol="0" anchor="ctr" anchorCtr="0"/>
          <a:lstStyle>
            <a:defPPr>
              <a:defRPr lang="ja-JP"/>
            </a:defPPr>
            <a:lvl1pPr>
              <a:defRPr sz="1400">
                <a:solidFill>
                  <a:schemeClr val="bg1"/>
                </a:solidFill>
                <a:latin typeface="Meiryo UI" panose="020B0604030504040204" pitchFamily="50" charset="-128"/>
                <a:ea typeface="Meiryo UI" panose="020B0604030504040204" pitchFamily="50" charset="-128"/>
                <a:cs typeface="Meiryo UI" panose="020B0604030504040204" pitchFamily="50" charset="-128"/>
              </a:defRPr>
            </a:lvl1pPr>
            <a:lvl2pPr>
              <a:defRPr>
                <a:solidFill>
                  <a:schemeClr val="lt1"/>
                </a:solidFill>
                <a:latin typeface="+mn-lt"/>
                <a:ea typeface="+mn-ea"/>
              </a:defRPr>
            </a:lvl2pPr>
            <a:lvl3pPr>
              <a:defRPr>
                <a:solidFill>
                  <a:schemeClr val="lt1"/>
                </a:solidFill>
                <a:latin typeface="+mn-lt"/>
                <a:ea typeface="+mn-ea"/>
              </a:defRPr>
            </a:lvl3pPr>
            <a:lvl4pPr>
              <a:defRPr>
                <a:solidFill>
                  <a:schemeClr val="lt1"/>
                </a:solidFill>
                <a:latin typeface="+mn-lt"/>
                <a:ea typeface="+mn-ea"/>
              </a:defRPr>
            </a:lvl4pPr>
            <a:lvl5pPr>
              <a:defRPr>
                <a:solidFill>
                  <a:schemeClr val="lt1"/>
                </a:solidFill>
                <a:latin typeface="+mn-lt"/>
                <a:ea typeface="+mn-ea"/>
              </a:defRPr>
            </a:lvl5pPr>
            <a:lvl6pPr>
              <a:defRPr>
                <a:solidFill>
                  <a:schemeClr val="lt1"/>
                </a:solidFill>
                <a:latin typeface="+mn-lt"/>
                <a:ea typeface="+mn-ea"/>
              </a:defRPr>
            </a:lvl6pPr>
            <a:lvl7pPr>
              <a:defRPr>
                <a:solidFill>
                  <a:schemeClr val="lt1"/>
                </a:solidFill>
                <a:latin typeface="+mn-lt"/>
                <a:ea typeface="+mn-ea"/>
              </a:defRPr>
            </a:lvl7pPr>
            <a:lvl8pPr>
              <a:defRPr>
                <a:solidFill>
                  <a:schemeClr val="lt1"/>
                </a:solidFill>
                <a:latin typeface="+mn-lt"/>
                <a:ea typeface="+mn-ea"/>
              </a:defRPr>
            </a:lvl8pPr>
            <a:lvl9pPr>
              <a:defRPr>
                <a:solidFill>
                  <a:schemeClr val="lt1"/>
                </a:solidFill>
                <a:latin typeface="+mn-lt"/>
                <a:ea typeface="+mn-ea"/>
              </a:defRPr>
            </a:lvl9pPr>
          </a:lstStyle>
          <a:p>
            <a:r>
              <a:rPr lang="en-US" altLang="ja-JP" sz="1600" dirty="0">
                <a:solidFill>
                  <a:schemeClr val="tx1"/>
                </a:solidFill>
              </a:rPr>
              <a:t>E-FW</a:t>
            </a:r>
            <a:r>
              <a:rPr lang="ja-JP" altLang="en-US" sz="1600" dirty="0">
                <a:solidFill>
                  <a:schemeClr val="tx1"/>
                </a:solidFill>
              </a:rPr>
              <a:t>の仕組みには、</a:t>
            </a:r>
            <a:r>
              <a:rPr lang="ja-JP" altLang="en-US" sz="1600" dirty="0">
                <a:solidFill>
                  <a:schemeClr val="accent2"/>
                </a:solidFill>
              </a:rPr>
              <a:t>クライアント動作</a:t>
            </a:r>
            <a:r>
              <a:rPr lang="ja-JP" altLang="en-US" sz="1600" dirty="0">
                <a:solidFill>
                  <a:schemeClr val="tx1"/>
                </a:solidFill>
              </a:rPr>
              <a:t>か</a:t>
            </a:r>
            <a:r>
              <a:rPr lang="ja-JP" altLang="en-US" sz="1600" dirty="0">
                <a:solidFill>
                  <a:schemeClr val="accent2"/>
                </a:solidFill>
              </a:rPr>
              <a:t>サーバ動作</a:t>
            </a:r>
            <a:r>
              <a:rPr lang="ja-JP" altLang="en-US" sz="1600" dirty="0">
                <a:solidFill>
                  <a:schemeClr val="tx1"/>
                </a:solidFill>
              </a:rPr>
              <a:t>か  関係なく、ロジックはほぼ全部</a:t>
            </a:r>
            <a:r>
              <a:rPr lang="ja-JP" altLang="en-US" sz="1600" dirty="0">
                <a:solidFill>
                  <a:schemeClr val="accent2"/>
                </a:solidFill>
              </a:rPr>
              <a:t>イベント</a:t>
            </a:r>
            <a:r>
              <a:rPr lang="en-US" altLang="ja-JP" sz="1600" dirty="0">
                <a:solidFill>
                  <a:schemeClr val="accent2"/>
                </a:solidFill>
              </a:rPr>
              <a:t>JS</a:t>
            </a:r>
            <a:r>
              <a:rPr lang="ja-JP" altLang="en-US" sz="1600" dirty="0">
                <a:solidFill>
                  <a:schemeClr val="accent2"/>
                </a:solidFill>
              </a:rPr>
              <a:t>ファイルに集中</a:t>
            </a:r>
            <a:r>
              <a:rPr lang="ja-JP" altLang="en-US" sz="1600" dirty="0">
                <a:solidFill>
                  <a:schemeClr val="tx1"/>
                </a:solidFill>
              </a:rPr>
              <a:t>します。また、「</a:t>
            </a:r>
            <a:r>
              <a:rPr lang="ja-JP" altLang="en-US" sz="1600" dirty="0">
                <a:solidFill>
                  <a:schemeClr val="accent2"/>
                </a:solidFill>
              </a:rPr>
              <a:t>目的指向</a:t>
            </a:r>
            <a:r>
              <a:rPr lang="ja-JP" altLang="en-US" sz="1600" dirty="0">
                <a:solidFill>
                  <a:schemeClr val="tx1"/>
                </a:solidFill>
              </a:rPr>
              <a:t>」のため、</a:t>
            </a:r>
            <a:r>
              <a:rPr lang="ja-JP" altLang="en-US" sz="1600" dirty="0">
                <a:solidFill>
                  <a:schemeClr val="accent2"/>
                </a:solidFill>
              </a:rPr>
              <a:t>プログラムの粒度は設計書とマッピング</a:t>
            </a:r>
            <a:r>
              <a:rPr lang="ja-JP" altLang="en-US" sz="1600" dirty="0">
                <a:solidFill>
                  <a:schemeClr val="tx1"/>
                </a:solidFill>
              </a:rPr>
              <a:t>しやすいです。</a:t>
            </a:r>
            <a:endParaRPr lang="en-US" altLang="ja-JP" sz="1600" dirty="0">
              <a:solidFill>
                <a:schemeClr val="tx1"/>
              </a:solidFill>
            </a:endParaRPr>
          </a:p>
          <a:p>
            <a:endParaRPr lang="en-US" altLang="ja-JP" sz="1600" dirty="0">
              <a:solidFill>
                <a:schemeClr val="tx1"/>
              </a:solidFill>
            </a:endParaRPr>
          </a:p>
          <a:p>
            <a:r>
              <a:rPr lang="ja-JP" altLang="en-US" sz="1600" dirty="0">
                <a:solidFill>
                  <a:schemeClr val="tx1"/>
                </a:solidFill>
              </a:rPr>
              <a:t>そして、</a:t>
            </a:r>
            <a:r>
              <a:rPr lang="ja-JP" altLang="en-US" sz="1600" dirty="0">
                <a:solidFill>
                  <a:schemeClr val="accent2"/>
                </a:solidFill>
              </a:rPr>
              <a:t>イベント</a:t>
            </a:r>
            <a:r>
              <a:rPr lang="en-US" altLang="ja-JP" sz="1600" dirty="0">
                <a:solidFill>
                  <a:schemeClr val="accent2"/>
                </a:solidFill>
              </a:rPr>
              <a:t>JS</a:t>
            </a:r>
            <a:r>
              <a:rPr lang="ja-JP" altLang="en-US" sz="1600" dirty="0">
                <a:solidFill>
                  <a:schemeClr val="accent2"/>
                </a:solidFill>
              </a:rPr>
              <a:t>ファイル</a:t>
            </a:r>
            <a:r>
              <a:rPr lang="ja-JP" altLang="en-US" sz="1600" dirty="0">
                <a:solidFill>
                  <a:schemeClr val="tx1"/>
                </a:solidFill>
              </a:rPr>
              <a:t>のみで</a:t>
            </a:r>
            <a:r>
              <a:rPr lang="ja-JP" altLang="en-US" sz="1600" dirty="0">
                <a:solidFill>
                  <a:schemeClr val="accent2"/>
                </a:solidFill>
              </a:rPr>
              <a:t>処理の流れ</a:t>
            </a:r>
            <a:r>
              <a:rPr lang="ja-JP" altLang="en-US" sz="1600" dirty="0">
                <a:solidFill>
                  <a:schemeClr val="tx1"/>
                </a:solidFill>
              </a:rPr>
              <a:t>を分かりやすく</a:t>
            </a:r>
            <a:r>
              <a:rPr lang="ja-JP" altLang="en-US" sz="1600" dirty="0">
                <a:solidFill>
                  <a:schemeClr val="accent2"/>
                </a:solidFill>
              </a:rPr>
              <a:t>読み取れます</a:t>
            </a:r>
            <a:r>
              <a:rPr lang="ja-JP" altLang="en-US" sz="1600" dirty="0">
                <a:solidFill>
                  <a:schemeClr val="tx1"/>
                </a:solidFill>
              </a:rPr>
              <a:t>。</a:t>
            </a:r>
            <a:endParaRPr lang="en-US" altLang="ja-JP" sz="1600" dirty="0">
              <a:solidFill>
                <a:schemeClr val="tx1"/>
              </a:solidFill>
            </a:endParaRPr>
          </a:p>
        </p:txBody>
      </p:sp>
    </p:spTree>
    <p:custDataLst>
      <p:tags r:id="rId1"/>
    </p:custDataLst>
    <p:extLst>
      <p:ext uri="{BB962C8B-B14F-4D97-AF65-F5344CB8AC3E}">
        <p14:creationId xmlns:p14="http://schemas.microsoft.com/office/powerpoint/2010/main" val="3170849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5"/>
                                        </p:tgtEl>
                                        <p:attrNameLst>
                                          <p:attrName>style.visibility</p:attrName>
                                        </p:attrNameLst>
                                      </p:cBhvr>
                                      <p:to>
                                        <p:strVal val="visible"/>
                                      </p:to>
                                    </p:set>
                                    <p:animEffect transition="in" filter="fade">
                                      <p:cBhvr>
                                        <p:cTn id="12"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タイトル 1">
            <a:extLst>
              <a:ext uri="{FF2B5EF4-FFF2-40B4-BE49-F238E27FC236}">
                <a16:creationId xmlns:a16="http://schemas.microsoft.com/office/drawing/2014/main" id="{5D4C7412-9240-40F2-AB85-2F09118988D8}"/>
              </a:ext>
            </a:extLst>
          </p:cNvPr>
          <p:cNvSpPr txBox="1">
            <a:spLocks/>
          </p:cNvSpPr>
          <p:nvPr/>
        </p:nvSpPr>
        <p:spPr bwMode="auto">
          <a:xfrm>
            <a:off x="315531" y="987879"/>
            <a:ext cx="8622407" cy="526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algn="ctr" rtl="0" eaLnBrk="0" fontAlgn="base" hangingPunct="0">
              <a:spcBef>
                <a:spcPct val="0"/>
              </a:spcBef>
              <a:spcAft>
                <a:spcPct val="0"/>
              </a:spcAft>
              <a:defRPr kumimoji="1" sz="4400" kern="1200">
                <a:solidFill>
                  <a:schemeClr val="tx1"/>
                </a:solidFill>
                <a:latin typeface="Arial" charset="0"/>
                <a:ea typeface="+mj-ea"/>
                <a:cs typeface="+mj-cs"/>
              </a:defRPr>
            </a:lvl1pPr>
            <a:lvl2pPr algn="ctr" rtl="0" eaLnBrk="0" fontAlgn="base" hangingPunct="0">
              <a:spcBef>
                <a:spcPct val="0"/>
              </a:spcBef>
              <a:spcAft>
                <a:spcPct val="0"/>
              </a:spcAft>
              <a:defRPr kumimoji="1" sz="4400">
                <a:solidFill>
                  <a:schemeClr val="tx1"/>
                </a:solidFill>
                <a:latin typeface="Arial" charset="0"/>
                <a:ea typeface="ＭＳ Ｐゴシック" charset="-128"/>
              </a:defRPr>
            </a:lvl2pPr>
            <a:lvl3pPr algn="ctr" rtl="0" eaLnBrk="0" fontAlgn="base" hangingPunct="0">
              <a:spcBef>
                <a:spcPct val="0"/>
              </a:spcBef>
              <a:spcAft>
                <a:spcPct val="0"/>
              </a:spcAft>
              <a:defRPr kumimoji="1" sz="4400">
                <a:solidFill>
                  <a:schemeClr val="tx1"/>
                </a:solidFill>
                <a:latin typeface="Arial" charset="0"/>
                <a:ea typeface="ＭＳ Ｐゴシック" charset="-128"/>
              </a:defRPr>
            </a:lvl3pPr>
            <a:lvl4pPr algn="ctr" rtl="0" eaLnBrk="0" fontAlgn="base" hangingPunct="0">
              <a:spcBef>
                <a:spcPct val="0"/>
              </a:spcBef>
              <a:spcAft>
                <a:spcPct val="0"/>
              </a:spcAft>
              <a:defRPr kumimoji="1" sz="4400">
                <a:solidFill>
                  <a:schemeClr val="tx1"/>
                </a:solidFill>
                <a:latin typeface="Arial" charset="0"/>
                <a:ea typeface="ＭＳ Ｐゴシック" charset="-128"/>
              </a:defRPr>
            </a:lvl4pPr>
            <a:lvl5pPr algn="ctr" rtl="0" eaLnBrk="0" fontAlgn="base" hangingPunct="0">
              <a:spcBef>
                <a:spcPct val="0"/>
              </a:spcBef>
              <a:spcAft>
                <a:spcPct val="0"/>
              </a:spcAft>
              <a:defRPr kumimoji="1" sz="4400">
                <a:solidFill>
                  <a:schemeClr val="tx1"/>
                </a:solidFill>
                <a:latin typeface="Arial"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a:lstStyle>
          <a:p>
            <a:pPr marL="457200" indent="-457200" algn="l">
              <a:lnSpc>
                <a:spcPct val="150000"/>
              </a:lnSpc>
              <a:buFont typeface="Wingdings" panose="05000000000000000000" pitchFamily="2" charset="2"/>
              <a:buChar char="Ø"/>
            </a:pPr>
            <a:r>
              <a:rPr lang="ja-JP" altLang="en-US" sz="1600" dirty="0">
                <a:latin typeface="Meiryo UI" pitchFamily="50" charset="-128"/>
                <a:ea typeface="Meiryo UI" pitchFamily="50" charset="-128"/>
                <a:cs typeface="Meiryo UI" pitchFamily="50" charset="-128"/>
              </a:rPr>
              <a:t>ソース：</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en-US" altLang="ja-JP" sz="1600" dirty="0">
                <a:latin typeface="Meiryo UI" pitchFamily="50" charset="-128"/>
                <a:ea typeface="Meiryo UI" pitchFamily="50" charset="-128"/>
                <a:cs typeface="Meiryo UI" pitchFamily="50" charset="-128"/>
                <a:hlinkClick r:id="rId4"/>
              </a:rPr>
              <a:t>https://github.com/efwGrp/efw4.X</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1600" dirty="0">
                <a:latin typeface="Meiryo UI" pitchFamily="50" charset="-128"/>
                <a:ea typeface="Meiryo UI" pitchFamily="50" charset="-128"/>
                <a:cs typeface="Meiryo UI" pitchFamily="50" charset="-128"/>
              </a:rPr>
              <a:t>サンプル：</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en-US" altLang="ja-JP" sz="1600" dirty="0">
                <a:latin typeface="Meiryo UI" pitchFamily="50" charset="-128"/>
                <a:ea typeface="Meiryo UI" pitchFamily="50" charset="-128"/>
                <a:cs typeface="Meiryo UI" pitchFamily="50" charset="-128"/>
                <a:hlinkClick r:id="rId5"/>
              </a:rPr>
              <a:t>https://efwgrp.github.io/efw4.X/j/examples.html</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en-US" altLang="ja-JP" sz="1600" dirty="0">
                <a:latin typeface="Meiryo UI" pitchFamily="50" charset="-128"/>
                <a:ea typeface="Meiryo UI" pitchFamily="50" charset="-128"/>
                <a:cs typeface="Meiryo UI" pitchFamily="50" charset="-128"/>
              </a:rPr>
              <a:t>API</a:t>
            </a:r>
            <a:r>
              <a:rPr lang="ja-JP" altLang="en-US" sz="1600" dirty="0">
                <a:latin typeface="Meiryo UI" pitchFamily="50" charset="-128"/>
                <a:ea typeface="Meiryo UI" pitchFamily="50" charset="-128"/>
                <a:cs typeface="Meiryo UI" pitchFamily="50" charset="-128"/>
              </a:rPr>
              <a:t>：</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en-US" altLang="ja-JP" sz="1600" dirty="0">
                <a:latin typeface="Meiryo UI" pitchFamily="50" charset="-128"/>
                <a:ea typeface="Meiryo UI" pitchFamily="50" charset="-128"/>
                <a:cs typeface="Meiryo UI" pitchFamily="50" charset="-128"/>
                <a:hlinkClick r:id="rId6"/>
              </a:rPr>
              <a:t>https://efwgrp.github.io/efw4.X/j/api.html</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1600" dirty="0">
                <a:latin typeface="Meiryo UI" pitchFamily="50" charset="-128"/>
                <a:ea typeface="Meiryo UI" pitchFamily="50" charset="-128"/>
                <a:cs typeface="Meiryo UI" pitchFamily="50" charset="-128"/>
              </a:rPr>
              <a:t>特徴分析：</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en-US" altLang="ja-JP" sz="1600" dirty="0">
                <a:latin typeface="Meiryo UI" pitchFamily="50" charset="-128"/>
                <a:ea typeface="Meiryo UI" pitchFamily="50" charset="-128"/>
                <a:cs typeface="Meiryo UI" pitchFamily="50" charset="-128"/>
                <a:hlinkClick r:id="rId7"/>
              </a:rPr>
              <a:t>https://efwgrp.github.io/efw4.X/j/analysis.html</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1600" dirty="0">
                <a:latin typeface="Meiryo UI" pitchFamily="50" charset="-128"/>
                <a:ea typeface="Meiryo UI" pitchFamily="50" charset="-128"/>
                <a:cs typeface="Meiryo UI" pitchFamily="50" charset="-128"/>
              </a:rPr>
              <a:t>セキュリティ分析：</a:t>
            </a:r>
            <a:r>
              <a:rPr lang="en-US" altLang="ja-JP" sz="1600" dirty="0">
                <a:latin typeface="Meiryo UI" pitchFamily="50" charset="-128"/>
                <a:ea typeface="Meiryo UI" pitchFamily="50" charset="-128"/>
                <a:cs typeface="Meiryo UI" pitchFamily="50" charset="-128"/>
                <a:hlinkClick r:id="rId8"/>
              </a:rPr>
              <a:t>https://efwgrp.github.io/efw4.X/j/analysis.security.html</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1600" dirty="0">
                <a:latin typeface="Meiryo UI" pitchFamily="50" charset="-128"/>
                <a:ea typeface="Meiryo UI" pitchFamily="50" charset="-128"/>
                <a:cs typeface="Meiryo UI" pitchFamily="50" charset="-128"/>
              </a:rPr>
              <a:t>論文：</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zh-CN" altLang="en-US" sz="1600" dirty="0">
                <a:latin typeface="Meiryo UI" pitchFamily="50" charset="-128"/>
                <a:ea typeface="Meiryo UI" pitchFamily="50" charset="-128"/>
                <a:cs typeface="Meiryo UI" pitchFamily="50" charset="-128"/>
              </a:rPr>
              <a:t>情報処理学会収録 </a:t>
            </a:r>
            <a:r>
              <a:rPr lang="en-US" altLang="zh-CN" sz="1600" dirty="0">
                <a:latin typeface="Meiryo UI" pitchFamily="50" charset="-128"/>
                <a:ea typeface="Meiryo UI" pitchFamily="50" charset="-128"/>
                <a:cs typeface="Meiryo UI" pitchFamily="50" charset="-128"/>
                <a:hlinkClick r:id="rId9"/>
              </a:rPr>
              <a:t>http://id.nii.ac.jp/1001/00147552/</a:t>
            </a:r>
            <a:endParaRPr lang="en-US" altLang="zh-CN"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en-US" altLang="ja-JP" sz="1600" dirty="0" err="1">
                <a:latin typeface="Meiryo UI" pitchFamily="50" charset="-128"/>
                <a:ea typeface="Meiryo UI" pitchFamily="50" charset="-128"/>
                <a:cs typeface="Meiryo UI" pitchFamily="50" charset="-128"/>
              </a:rPr>
              <a:t>Qiita</a:t>
            </a:r>
            <a:r>
              <a:rPr lang="ja-JP" altLang="en-US" sz="1600" dirty="0">
                <a:latin typeface="Meiryo UI" pitchFamily="50" charset="-128"/>
                <a:ea typeface="Meiryo UI" pitchFamily="50" charset="-128"/>
                <a:cs typeface="Meiryo UI" pitchFamily="50" charset="-128"/>
              </a:rPr>
              <a:t>文書：</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en-US" altLang="ja-JP" sz="1600" dirty="0">
                <a:latin typeface="Meiryo UI" pitchFamily="50" charset="-128"/>
                <a:ea typeface="Meiryo UI" pitchFamily="50" charset="-128"/>
                <a:cs typeface="Meiryo UI" pitchFamily="50" charset="-128"/>
                <a:hlinkClick r:id="rId10"/>
              </a:rPr>
              <a:t>https://qiita.com/changkejun/items/2c7071c1468b24e7683e</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endParaRPr lang="en-US" altLang="zh-CN"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endParaRPr lang="en-US" altLang="ja-JP" sz="1600" dirty="0">
              <a:latin typeface="Meiryo UI" pitchFamily="50" charset="-128"/>
              <a:ea typeface="Meiryo UI" pitchFamily="50" charset="-128"/>
              <a:cs typeface="Meiryo UI" pitchFamily="50" charset="-128"/>
            </a:endParaRPr>
          </a:p>
        </p:txBody>
      </p:sp>
      <p:sp>
        <p:nvSpPr>
          <p:cNvPr id="4099" name="スライド番号プレースホルダー 3"/>
          <p:cNvSpPr txBox="1">
            <a:spLocks/>
          </p:cNvSpPr>
          <p:nvPr/>
        </p:nvSpPr>
        <p:spPr bwMode="auto">
          <a:xfrm>
            <a:off x="6948488" y="6494463"/>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9</a:t>
            </a:fld>
            <a:endParaRPr lang="en-US" altLang="ja-JP" sz="1200" dirty="0">
              <a:solidFill>
                <a:srgbClr val="898989"/>
              </a:solidFill>
              <a:latin typeface="Meiryo UI" pitchFamily="50" charset="-128"/>
              <a:ea typeface="Meiryo UI" pitchFamily="50" charset="-128"/>
              <a:cs typeface="Meiryo UI" pitchFamily="50" charset="-128"/>
            </a:endParaRPr>
          </a:p>
        </p:txBody>
      </p:sp>
      <p:sp>
        <p:nvSpPr>
          <p:cNvPr id="8"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６．</a:t>
            </a:r>
            <a:r>
              <a:rPr lang="en-US" altLang="ja-JP" sz="2800" dirty="0">
                <a:solidFill>
                  <a:schemeClr val="tx2"/>
                </a:solidFill>
                <a:latin typeface="Meiryo UI" pitchFamily="50" charset="-128"/>
                <a:ea typeface="Meiryo UI" pitchFamily="50" charset="-128"/>
                <a:cs typeface="Meiryo UI" pitchFamily="50" charset="-128"/>
              </a:rPr>
              <a:t>EFW</a:t>
            </a:r>
            <a:r>
              <a:rPr lang="ja-JP" altLang="en-US" sz="2800" dirty="0">
                <a:solidFill>
                  <a:schemeClr val="tx2"/>
                </a:solidFill>
                <a:latin typeface="Meiryo UI" pitchFamily="50" charset="-128"/>
                <a:ea typeface="Meiryo UI" pitchFamily="50" charset="-128"/>
                <a:cs typeface="Meiryo UI" pitchFamily="50" charset="-128"/>
              </a:rPr>
              <a:t>の資材</a:t>
            </a:r>
          </a:p>
        </p:txBody>
      </p:sp>
    </p:spTree>
    <p:custDataLst>
      <p:tags r:id="rId1"/>
    </p:custDataLst>
    <p:extLst>
      <p:ext uri="{BB962C8B-B14F-4D97-AF65-F5344CB8AC3E}">
        <p14:creationId xmlns:p14="http://schemas.microsoft.com/office/powerpoint/2010/main" val="2453305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７．実績一覧</a:t>
            </a:r>
          </a:p>
        </p:txBody>
      </p:sp>
      <p:graphicFrame>
        <p:nvGraphicFramePr>
          <p:cNvPr id="4" name="表 3">
            <a:extLst>
              <a:ext uri="{FF2B5EF4-FFF2-40B4-BE49-F238E27FC236}">
                <a16:creationId xmlns:a16="http://schemas.microsoft.com/office/drawing/2014/main" id="{BB8E9DEE-C34A-49AD-9639-F1972C50E7FE}"/>
              </a:ext>
            </a:extLst>
          </p:cNvPr>
          <p:cNvGraphicFramePr>
            <a:graphicFrameLocks noGrp="1"/>
          </p:cNvGraphicFramePr>
          <p:nvPr>
            <p:extLst>
              <p:ext uri="{D42A27DB-BD31-4B8C-83A1-F6EECF244321}">
                <p14:modId xmlns:p14="http://schemas.microsoft.com/office/powerpoint/2010/main" val="584823195"/>
              </p:ext>
            </p:extLst>
          </p:nvPr>
        </p:nvGraphicFramePr>
        <p:xfrm>
          <a:off x="323850" y="1076866"/>
          <a:ext cx="8583387" cy="5079363"/>
        </p:xfrm>
        <a:graphic>
          <a:graphicData uri="http://schemas.openxmlformats.org/drawingml/2006/table">
            <a:tbl>
              <a:tblPr firstRow="1" bandRow="1">
                <a:tableStyleId>{5C22544A-7EE6-4342-B048-85BDC9FD1C3A}</a:tableStyleId>
              </a:tblPr>
              <a:tblGrid>
                <a:gridCol w="711736">
                  <a:extLst>
                    <a:ext uri="{9D8B030D-6E8A-4147-A177-3AD203B41FA5}">
                      <a16:colId xmlns:a16="http://schemas.microsoft.com/office/drawing/2014/main" val="20000"/>
                    </a:ext>
                  </a:extLst>
                </a:gridCol>
                <a:gridCol w="3814710">
                  <a:extLst>
                    <a:ext uri="{9D8B030D-6E8A-4147-A177-3AD203B41FA5}">
                      <a16:colId xmlns:a16="http://schemas.microsoft.com/office/drawing/2014/main" val="20001"/>
                    </a:ext>
                  </a:extLst>
                </a:gridCol>
                <a:gridCol w="1786988">
                  <a:extLst>
                    <a:ext uri="{9D8B030D-6E8A-4147-A177-3AD203B41FA5}">
                      <a16:colId xmlns:a16="http://schemas.microsoft.com/office/drawing/2014/main" val="3088858689"/>
                    </a:ext>
                  </a:extLst>
                </a:gridCol>
                <a:gridCol w="2269953">
                  <a:extLst>
                    <a:ext uri="{9D8B030D-6E8A-4147-A177-3AD203B41FA5}">
                      <a16:colId xmlns:a16="http://schemas.microsoft.com/office/drawing/2014/main" val="20002"/>
                    </a:ext>
                  </a:extLst>
                </a:gridCol>
              </a:tblGrid>
              <a:tr h="312377">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番号</a:t>
                      </a:r>
                    </a:p>
                  </a:txBody>
                  <a:tcPr marL="91452" marR="91452" marT="45663" marB="45663"/>
                </a:tc>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実績案件</a:t>
                      </a:r>
                    </a:p>
                  </a:txBody>
                  <a:tcPr marL="91452" marR="91452" marT="45663" marB="45663"/>
                </a:tc>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期間</a:t>
                      </a:r>
                    </a:p>
                  </a:txBody>
                  <a:tcPr marL="91452" marR="91452" marT="45663" marB="45663"/>
                </a:tc>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規模</a:t>
                      </a:r>
                    </a:p>
                  </a:txBody>
                  <a:tcPr marL="91452" marR="91452" marT="45663" marB="45663"/>
                </a:tc>
                <a:extLst>
                  <a:ext uri="{0D108BD9-81ED-4DB2-BD59-A6C34878D82A}">
                    <a16:rowId xmlns:a16="http://schemas.microsoft.com/office/drawing/2014/main" val="10000"/>
                  </a:ext>
                </a:extLst>
              </a:tr>
              <a:tr h="546732">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大手製造メーカ、社内稟議ワークフロー、</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Intra-mart</a:t>
                      </a:r>
                      <a:r>
                        <a:rPr kumimoji="1" lang="ja-JP" altLang="en-US" sz="1400" baseline="0" dirty="0">
                          <a:latin typeface="Meiryo UI" panose="020B0604030504040204" pitchFamily="50" charset="-128"/>
                          <a:ea typeface="Meiryo UI" panose="020B0604030504040204" pitchFamily="50" charset="-128"/>
                          <a:cs typeface="Meiryo UI" panose="020B0604030504040204" pitchFamily="50" charset="-128"/>
                        </a:rPr>
                        <a:t>連携、</a:t>
                      </a:r>
                      <a:r>
                        <a:rPr kumimoji="1" lang="en-US" altLang="ja-JP" sz="1400" baseline="0" dirty="0">
                          <a:latin typeface="Meiryo UI" panose="020B0604030504040204" pitchFamily="50" charset="-128"/>
                          <a:ea typeface="Meiryo UI" panose="020B0604030504040204" pitchFamily="50" charset="-128"/>
                          <a:cs typeface="Meiryo UI" panose="020B0604030504040204" pitchFamily="50" charset="-128"/>
                        </a:rPr>
                        <a:t>SQLServer</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2015</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2018</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p>
                  </a:txBody>
                  <a:tcPr marL="91452" marR="91452" marT="45663" marB="45663"/>
                </a:tc>
                <a:tc>
                  <a:txBody>
                    <a:bodyPr/>
                    <a:lstStyle/>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5</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7</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年間</a:t>
                      </a:r>
                    </a:p>
                  </a:txBody>
                  <a:tcPr marL="91452" marR="91452" marT="45663" marB="45663"/>
                </a:tc>
                <a:extLst>
                  <a:ext uri="{0D108BD9-81ED-4DB2-BD59-A6C34878D82A}">
                    <a16:rowId xmlns:a16="http://schemas.microsoft.com/office/drawing/2014/main" val="10001"/>
                  </a:ext>
                </a:extLst>
              </a:tr>
              <a:tr h="546732">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a:t>
                      </a: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中国地方生命保険会社、営業マン教育システム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Websphere</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Oracle</a:t>
                      </a: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2016</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40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p>
                  </a:txBody>
                  <a:tcPr marL="91452" marR="91452" marT="45663" marB="45663"/>
                </a:tc>
                <a:extLst>
                  <a:ext uri="{0D108BD9-81ED-4DB2-BD59-A6C34878D82A}">
                    <a16:rowId xmlns:a16="http://schemas.microsoft.com/office/drawing/2014/main" val="10002"/>
                  </a:ext>
                </a:extLst>
              </a:tr>
              <a:tr h="574617">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3</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　要件定義システム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Postgresql</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POI</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帳票</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2011</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2014</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2015</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年～現在</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初期開発：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40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保守＆開発：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12</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年間</a:t>
                      </a:r>
                    </a:p>
                  </a:txBody>
                  <a:tcPr marL="91452" marR="91452" marT="45663" marB="45663"/>
                </a:tc>
                <a:extLst>
                  <a:ext uri="{0D108BD9-81ED-4DB2-BD59-A6C34878D82A}">
                    <a16:rowId xmlns:a16="http://schemas.microsoft.com/office/drawing/2014/main" val="10003"/>
                  </a:ext>
                </a:extLst>
              </a:tr>
              <a:tr h="546732">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4</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大手損害保険会社、代理店診断システム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Postgresql</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POI</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帳票</a:t>
                      </a: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2017</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2018</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2019</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年～現在</a:t>
                      </a:r>
                    </a:p>
                  </a:txBody>
                  <a:tcPr marL="91452" marR="91452" marT="45663" marB="45663"/>
                </a:tc>
                <a:tc>
                  <a:txBody>
                    <a:bodyPr/>
                    <a:lstStyle/>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初期開発：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40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保守：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年間</a:t>
                      </a:r>
                    </a:p>
                  </a:txBody>
                  <a:tcPr marL="91452" marR="91452" marT="45663" marB="45663"/>
                </a:tc>
                <a:extLst>
                  <a:ext uri="{0D108BD9-81ED-4DB2-BD59-A6C34878D82A}">
                    <a16:rowId xmlns:a16="http://schemas.microsoft.com/office/drawing/2014/main" val="10004"/>
                  </a:ext>
                </a:extLst>
              </a:tr>
              <a:tr h="593114">
                <a:tc>
                  <a:txBody>
                    <a:bodyPr/>
                    <a:lstStyle/>
                    <a:p>
                      <a:pPr algn="ct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5</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大手損害保険会社、代理店支援ボットシステム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Postgresql</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音声エンジン、</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JQuery</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アニメ、月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100G</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のテキストデータを取込</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2017</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2019</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年～現在</a:t>
                      </a:r>
                    </a:p>
                  </a:txBody>
                  <a:tcPr marL="91452" marR="91452" marT="45663" marB="45663"/>
                </a:tc>
                <a:tc>
                  <a:txBody>
                    <a:bodyPr/>
                    <a:lstStyle/>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初期開発：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50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保守：６人月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年間</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30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年間</a:t>
                      </a:r>
                    </a:p>
                  </a:txBody>
                  <a:tcPr marL="91452" marR="91452" marT="45663" marB="45663"/>
                </a:tc>
                <a:extLst>
                  <a:ext uri="{0D108BD9-81ED-4DB2-BD59-A6C34878D82A}">
                    <a16:rowId xmlns:a16="http://schemas.microsoft.com/office/drawing/2014/main" val="10005"/>
                  </a:ext>
                </a:extLst>
              </a:tr>
              <a:tr h="273366">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6</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SI</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会社、小短保険パッケージ</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Postgresql</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PF/BRMS</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2021</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p>
                  </a:txBody>
                  <a:tcPr marL="91452" marR="91452" marT="45663" marB="45663"/>
                </a:tc>
                <a:tc>
                  <a:txBody>
                    <a:bodyPr/>
                    <a:lstStyle/>
                    <a:p>
                      <a:pPr algn="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POC</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p>
                  </a:txBody>
                  <a:tcPr marL="91452" marR="91452" marT="45663" marB="45663"/>
                </a:tc>
                <a:extLst>
                  <a:ext uri="{0D108BD9-81ED-4DB2-BD59-A6C34878D82A}">
                    <a16:rowId xmlns:a16="http://schemas.microsoft.com/office/drawing/2014/main" val="565572597"/>
                  </a:ext>
                </a:extLst>
              </a:tr>
              <a:tr h="259023">
                <a:tc>
                  <a:txBody>
                    <a:bodyPr/>
                    <a:lstStyle/>
                    <a:p>
                      <a:pPr algn="ctr"/>
                      <a:r>
                        <a:rPr lang="en-US" altLang="ja-JP" sz="1400" dirty="0">
                          <a:latin typeface="Meiryo UI" panose="020B0604030504040204" pitchFamily="50" charset="-128"/>
                          <a:ea typeface="Meiryo UI" panose="020B0604030504040204" pitchFamily="50" charset="-128"/>
                        </a:rPr>
                        <a:t>7</a:t>
                      </a:r>
                      <a:endParaRPr lang="ja-JP" altLang="en-US" sz="1400" dirty="0">
                        <a:latin typeface="Meiryo UI" panose="020B0604030504040204" pitchFamily="50" charset="-128"/>
                        <a:ea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大手製造メーカ、工場営業管理システム、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SQLserver</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2022</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年～現在</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開発：</a:t>
                      </a:r>
                      <a:r>
                        <a:rPr lang="en-US" altLang="ja-JP" sz="1400" dirty="0">
                          <a:latin typeface="Meiryo UI" panose="020B0604030504040204" pitchFamily="50" charset="-128"/>
                          <a:ea typeface="Meiryo UI" panose="020B0604030504040204" pitchFamily="50" charset="-128"/>
                        </a:rPr>
                        <a:t>3</a:t>
                      </a:r>
                      <a:r>
                        <a:rPr lang="ja-JP" altLang="en-US" sz="1400" dirty="0">
                          <a:latin typeface="Meiryo UI" panose="020B0604030504040204" pitchFamily="50" charset="-128"/>
                          <a:ea typeface="Meiryo UI" panose="020B0604030504040204" pitchFamily="50" charset="-128"/>
                        </a:rPr>
                        <a:t>～</a:t>
                      </a:r>
                      <a:r>
                        <a:rPr lang="en-US" altLang="ja-JP" sz="1400" dirty="0">
                          <a:latin typeface="Meiryo UI" panose="020B0604030504040204" pitchFamily="50" charset="-128"/>
                          <a:ea typeface="Meiryo UI" panose="020B0604030504040204" pitchFamily="50" charset="-128"/>
                        </a:rPr>
                        <a:t>5</a:t>
                      </a:r>
                      <a:r>
                        <a:rPr lang="ja-JP" altLang="en-US" sz="1400" dirty="0">
                          <a:latin typeface="Meiryo UI" panose="020B0604030504040204" pitchFamily="50" charset="-128"/>
                          <a:ea typeface="Meiryo UI" panose="020B0604030504040204" pitchFamily="50" charset="-128"/>
                        </a:rPr>
                        <a:t>人月</a:t>
                      </a:r>
                      <a:r>
                        <a:rPr lang="en-US" altLang="ja-JP" sz="1400" dirty="0">
                          <a:latin typeface="Meiryo UI" panose="020B0604030504040204" pitchFamily="50" charset="-128"/>
                          <a:ea typeface="Meiryo UI" panose="020B0604030504040204" pitchFamily="50" charset="-128"/>
                        </a:rPr>
                        <a:t>/</a:t>
                      </a:r>
                      <a:r>
                        <a:rPr lang="ja-JP" altLang="en-US" sz="1400" dirty="0">
                          <a:latin typeface="Meiryo UI" panose="020B0604030504040204" pitchFamily="50" charset="-128"/>
                          <a:ea typeface="Meiryo UI" panose="020B0604030504040204" pitchFamily="50" charset="-128"/>
                        </a:rPr>
                        <a:t>年間</a:t>
                      </a:r>
                    </a:p>
                  </a:txBody>
                  <a:tcPr marL="91452" marR="91452" marT="45663" marB="45663"/>
                </a:tc>
                <a:extLst>
                  <a:ext uri="{0D108BD9-81ED-4DB2-BD59-A6C34878D82A}">
                    <a16:rowId xmlns:a16="http://schemas.microsoft.com/office/drawing/2014/main" val="2181788843"/>
                  </a:ext>
                </a:extLst>
              </a:tr>
              <a:tr h="259023">
                <a:tc>
                  <a:txBody>
                    <a:bodyPr/>
                    <a:lstStyle/>
                    <a:p>
                      <a:pPr algn="ctr"/>
                      <a:r>
                        <a:rPr lang="en-US" altLang="ja-JP" sz="1400" dirty="0">
                          <a:latin typeface="Meiryo UI" panose="020B0604030504040204" pitchFamily="50" charset="-128"/>
                          <a:ea typeface="Meiryo UI" panose="020B0604030504040204" pitchFamily="50" charset="-128"/>
                        </a:rPr>
                        <a:t>8</a:t>
                      </a:r>
                      <a:endParaRPr lang="ja-JP" altLang="en-US" sz="1400" dirty="0">
                        <a:latin typeface="Meiryo UI" panose="020B0604030504040204" pitchFamily="50" charset="-128"/>
                        <a:ea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公益社団法人、斡旋システム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Cdata</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Postgresql</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MySql</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Oracle</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BRMS</a:t>
                      </a: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2022</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2024</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2025</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開発：</a:t>
                      </a:r>
                      <a:r>
                        <a:rPr lang="en-US" altLang="ja-JP" sz="1400" dirty="0">
                          <a:latin typeface="Meiryo UI" panose="020B0604030504040204" pitchFamily="50" charset="-128"/>
                          <a:ea typeface="Meiryo UI" panose="020B0604030504040204" pitchFamily="50" charset="-128"/>
                        </a:rPr>
                        <a:t>70</a:t>
                      </a:r>
                      <a:r>
                        <a:rPr lang="ja-JP" altLang="en-US" sz="1400" dirty="0">
                          <a:latin typeface="Meiryo UI" panose="020B0604030504040204" pitchFamily="50" charset="-128"/>
                          <a:ea typeface="Meiryo UI" panose="020B0604030504040204" pitchFamily="50" charset="-128"/>
                        </a:rPr>
                        <a:t>人月</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保守＆開発：</a:t>
                      </a:r>
                      <a:r>
                        <a:rPr lang="en-US" altLang="ja-JP" sz="1400" dirty="0">
                          <a:latin typeface="Meiryo UI" panose="020B0604030504040204" pitchFamily="50" charset="-128"/>
                          <a:ea typeface="Meiryo UI" panose="020B0604030504040204" pitchFamily="50" charset="-128"/>
                        </a:rPr>
                        <a:t>20</a:t>
                      </a:r>
                      <a:r>
                        <a:rPr lang="ja-JP" altLang="en-US" sz="1400" dirty="0">
                          <a:latin typeface="Meiryo UI" panose="020B0604030504040204" pitchFamily="50" charset="-128"/>
                          <a:ea typeface="Meiryo UI" panose="020B0604030504040204" pitchFamily="50" charset="-128"/>
                        </a:rPr>
                        <a:t>人月</a:t>
                      </a:r>
                    </a:p>
                  </a:txBody>
                  <a:tcPr marL="91452" marR="91452" marT="45663" marB="45663"/>
                </a:tc>
                <a:extLst>
                  <a:ext uri="{0D108BD9-81ED-4DB2-BD59-A6C34878D82A}">
                    <a16:rowId xmlns:a16="http://schemas.microsoft.com/office/drawing/2014/main" val="3280310131"/>
                  </a:ext>
                </a:extLst>
              </a:tr>
            </a:tbl>
          </a:graphicData>
        </a:graphic>
      </p:graphicFrame>
    </p:spTree>
    <p:custDataLst>
      <p:tags r:id="rId1"/>
    </p:custDataLst>
    <p:extLst>
      <p:ext uri="{BB962C8B-B14F-4D97-AF65-F5344CB8AC3E}">
        <p14:creationId xmlns:p14="http://schemas.microsoft.com/office/powerpoint/2010/main" val="19274446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 1"/>
          <p:cNvGraphicFramePr>
            <a:graphicFrameLocks noGrp="1"/>
          </p:cNvGraphicFramePr>
          <p:nvPr>
            <p:extLst>
              <p:ext uri="{D42A27DB-BD31-4B8C-83A1-F6EECF244321}">
                <p14:modId xmlns:p14="http://schemas.microsoft.com/office/powerpoint/2010/main" val="3087914975"/>
              </p:ext>
            </p:extLst>
          </p:nvPr>
        </p:nvGraphicFramePr>
        <p:xfrm>
          <a:off x="323850" y="1076866"/>
          <a:ext cx="8583386" cy="5072448"/>
        </p:xfrm>
        <a:graphic>
          <a:graphicData uri="http://schemas.openxmlformats.org/drawingml/2006/table">
            <a:tbl>
              <a:tblPr firstRow="1" bandRow="1">
                <a:tableStyleId>{5C22544A-7EE6-4342-B048-85BDC9FD1C3A}</a:tableStyleId>
              </a:tblPr>
              <a:tblGrid>
                <a:gridCol w="711736">
                  <a:extLst>
                    <a:ext uri="{9D8B030D-6E8A-4147-A177-3AD203B41FA5}">
                      <a16:colId xmlns:a16="http://schemas.microsoft.com/office/drawing/2014/main" val="20000"/>
                    </a:ext>
                  </a:extLst>
                </a:gridCol>
                <a:gridCol w="5601697">
                  <a:extLst>
                    <a:ext uri="{9D8B030D-6E8A-4147-A177-3AD203B41FA5}">
                      <a16:colId xmlns:a16="http://schemas.microsoft.com/office/drawing/2014/main" val="20001"/>
                    </a:ext>
                  </a:extLst>
                </a:gridCol>
                <a:gridCol w="2269953">
                  <a:extLst>
                    <a:ext uri="{9D8B030D-6E8A-4147-A177-3AD203B41FA5}">
                      <a16:colId xmlns:a16="http://schemas.microsoft.com/office/drawing/2014/main" val="20002"/>
                    </a:ext>
                  </a:extLst>
                </a:gridCol>
              </a:tblGrid>
              <a:tr h="312377">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番号</a:t>
                      </a:r>
                    </a:p>
                  </a:txBody>
                  <a:tcPr marL="91452" marR="91452" marT="45663" marB="45663"/>
                </a:tc>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実績案件</a:t>
                      </a:r>
                    </a:p>
                  </a:txBody>
                  <a:tcPr marL="91452" marR="91452" marT="45663" marB="45663"/>
                </a:tc>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規模</a:t>
                      </a:r>
                    </a:p>
                  </a:txBody>
                  <a:tcPr marL="91452" marR="91452" marT="45663" marB="45663"/>
                </a:tc>
                <a:extLst>
                  <a:ext uri="{0D108BD9-81ED-4DB2-BD59-A6C34878D82A}">
                    <a16:rowId xmlns:a16="http://schemas.microsoft.com/office/drawing/2014/main" val="10000"/>
                  </a:ext>
                </a:extLst>
              </a:tr>
              <a:tr h="288317">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大手製造メーカ、社内稟議ワークフロー</a:t>
                      </a:r>
                    </a:p>
                  </a:txBody>
                  <a:tcPr marL="91452" marR="91452" marT="45663" marB="45663"/>
                </a:tc>
                <a:tc>
                  <a:txBody>
                    <a:bodyPr/>
                    <a:lstStyle/>
                    <a:p>
                      <a:pPr algn="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extLst>
                  <a:ext uri="{0D108BD9-81ED-4DB2-BD59-A6C34878D82A}">
                    <a16:rowId xmlns:a16="http://schemas.microsoft.com/office/drawing/2014/main" val="10001"/>
                  </a:ext>
                </a:extLst>
              </a:tr>
              <a:tr h="318366">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a:t>
                      </a: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中国地方生命保険会社、営業マン教育システム</a:t>
                      </a:r>
                    </a:p>
                  </a:txBody>
                  <a:tcPr marL="91452" marR="91452" marT="45663" marB="45663"/>
                </a:tc>
                <a:tc>
                  <a:txBody>
                    <a:bodyPr/>
                    <a:lstStyle/>
                    <a:p>
                      <a:pPr algn="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extLst>
                  <a:ext uri="{0D108BD9-81ED-4DB2-BD59-A6C34878D82A}">
                    <a16:rowId xmlns:a16="http://schemas.microsoft.com/office/drawing/2014/main" val="10002"/>
                  </a:ext>
                </a:extLst>
              </a:tr>
              <a:tr h="574617">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3</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　要件定義システム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メイン画面：</a:t>
                      </a:r>
                      <a:r>
                        <a:rPr lang="en-US" altLang="ja-JP" sz="1400" dirty="0">
                          <a:latin typeface="Meiryo UI" panose="020B0604030504040204" pitchFamily="50" charset="-128"/>
                          <a:ea typeface="Meiryo UI" panose="020B0604030504040204" pitchFamily="50" charset="-128"/>
                        </a:rPr>
                        <a:t>23</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ダイアログ画面：</a:t>
                      </a:r>
                      <a:r>
                        <a:rPr lang="en-US" altLang="ja-JP" sz="1400" dirty="0">
                          <a:latin typeface="Meiryo UI" panose="020B0604030504040204" pitchFamily="50" charset="-128"/>
                          <a:ea typeface="Meiryo UI" panose="020B0604030504040204" pitchFamily="50" charset="-128"/>
                        </a:rPr>
                        <a:t>31</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en-US" altLang="ja-JP" sz="1400" dirty="0">
                          <a:latin typeface="Meiryo UI" panose="020B0604030504040204" pitchFamily="50" charset="-128"/>
                          <a:ea typeface="Meiryo UI" panose="020B0604030504040204" pitchFamily="50" charset="-128"/>
                        </a:rPr>
                        <a:t>Excel</a:t>
                      </a:r>
                      <a:r>
                        <a:rPr lang="ja-JP" altLang="en-US" sz="1400" dirty="0">
                          <a:latin typeface="Meiryo UI" panose="020B0604030504040204" pitchFamily="50" charset="-128"/>
                          <a:ea typeface="Meiryo UI" panose="020B0604030504040204" pitchFamily="50" charset="-128"/>
                        </a:rPr>
                        <a:t>帳票：</a:t>
                      </a:r>
                      <a:r>
                        <a:rPr lang="en-US" altLang="ja-JP" sz="1400" dirty="0">
                          <a:latin typeface="Meiryo UI" panose="020B0604030504040204" pitchFamily="50" charset="-128"/>
                          <a:ea typeface="Meiryo UI" panose="020B0604030504040204" pitchFamily="50" charset="-128"/>
                        </a:rPr>
                        <a:t>8</a:t>
                      </a:r>
                      <a:r>
                        <a:rPr lang="ja-JP" altLang="en-US" sz="1400" dirty="0">
                          <a:latin typeface="Meiryo UI" panose="020B0604030504040204" pitchFamily="50" charset="-128"/>
                          <a:ea typeface="Meiryo UI" panose="020B0604030504040204" pitchFamily="50" charset="-128"/>
                        </a:rPr>
                        <a:t>枚</a:t>
                      </a:r>
                    </a:p>
                  </a:txBody>
                  <a:tcPr marL="91452" marR="91452" marT="45663" marB="45663"/>
                </a:tc>
                <a:extLst>
                  <a:ext uri="{0D108BD9-81ED-4DB2-BD59-A6C34878D82A}">
                    <a16:rowId xmlns:a16="http://schemas.microsoft.com/office/drawing/2014/main" val="10003"/>
                  </a:ext>
                </a:extLst>
              </a:tr>
              <a:tr h="546732">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4</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大手損害保険会社、代理店診断システム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メイン画面：</a:t>
                      </a:r>
                      <a:r>
                        <a:rPr lang="en-US" altLang="ja-JP" sz="1400" dirty="0">
                          <a:latin typeface="Meiryo UI" panose="020B0604030504040204" pitchFamily="50" charset="-128"/>
                          <a:ea typeface="Meiryo UI" panose="020B0604030504040204" pitchFamily="50" charset="-128"/>
                        </a:rPr>
                        <a:t>24</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ダイアログ画面：</a:t>
                      </a:r>
                      <a:r>
                        <a:rPr lang="en-US" altLang="ja-JP" sz="1400" dirty="0">
                          <a:latin typeface="Meiryo UI" panose="020B0604030504040204" pitchFamily="50" charset="-128"/>
                          <a:ea typeface="Meiryo UI" panose="020B0604030504040204" pitchFamily="50" charset="-128"/>
                        </a:rPr>
                        <a:t>10</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en-US" altLang="ja-JP" sz="1400" dirty="0">
                          <a:latin typeface="Meiryo UI" panose="020B0604030504040204" pitchFamily="50" charset="-128"/>
                          <a:ea typeface="Meiryo UI" panose="020B0604030504040204" pitchFamily="50" charset="-128"/>
                        </a:rPr>
                        <a:t>Excel</a:t>
                      </a:r>
                      <a:r>
                        <a:rPr lang="ja-JP" altLang="en-US" sz="1400" dirty="0">
                          <a:latin typeface="Meiryo UI" panose="020B0604030504040204" pitchFamily="50" charset="-128"/>
                          <a:ea typeface="Meiryo UI" panose="020B0604030504040204" pitchFamily="50" charset="-128"/>
                        </a:rPr>
                        <a:t>帳票：</a:t>
                      </a:r>
                      <a:r>
                        <a:rPr lang="en-US" altLang="ja-JP" sz="1400" dirty="0">
                          <a:latin typeface="Meiryo UI" panose="020B0604030504040204" pitchFamily="50" charset="-128"/>
                          <a:ea typeface="Meiryo UI" panose="020B0604030504040204" pitchFamily="50" charset="-128"/>
                        </a:rPr>
                        <a:t>7</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en-US" altLang="ja-JP" sz="1400" dirty="0">
                          <a:solidFill>
                            <a:srgbClr val="00B050"/>
                          </a:solidFill>
                          <a:latin typeface="Meiryo UI" panose="020B0604030504040204" pitchFamily="50" charset="-128"/>
                          <a:ea typeface="Meiryo UI" panose="020B0604030504040204" pitchFamily="50" charset="-128"/>
                        </a:rPr>
                        <a:t>※67</a:t>
                      </a:r>
                      <a:r>
                        <a:rPr lang="ja-JP" altLang="en-US" sz="1400" dirty="0">
                          <a:solidFill>
                            <a:srgbClr val="00B050"/>
                          </a:solidFill>
                          <a:latin typeface="Meiryo UI" panose="020B0604030504040204" pitchFamily="50" charset="-128"/>
                          <a:ea typeface="Meiryo UI" panose="020B0604030504040204" pitchFamily="50" charset="-128"/>
                        </a:rPr>
                        <a:t>シート１本</a:t>
                      </a:r>
                      <a:endParaRPr lang="en-US" altLang="ja-JP" sz="1400" dirty="0">
                        <a:solidFill>
                          <a:srgbClr val="00B050"/>
                        </a:solidFill>
                        <a:latin typeface="Meiryo UI" panose="020B0604030504040204" pitchFamily="50" charset="-128"/>
                        <a:ea typeface="Meiryo UI" panose="020B0604030504040204" pitchFamily="50" charset="-128"/>
                      </a:endParaRPr>
                    </a:p>
                    <a:p>
                      <a:pPr algn="r"/>
                      <a:r>
                        <a:rPr lang="ja-JP" altLang="en-US" sz="1400" dirty="0">
                          <a:solidFill>
                            <a:srgbClr val="00B050"/>
                          </a:solidFill>
                          <a:latin typeface="Meiryo UI" panose="020B0604030504040204" pitchFamily="50" charset="-128"/>
                          <a:ea typeface="Meiryo UI" panose="020B0604030504040204" pitchFamily="50" charset="-128"/>
                        </a:rPr>
                        <a:t>８シート１本</a:t>
                      </a:r>
                      <a:endParaRPr lang="en-US" altLang="ja-JP" sz="1400" dirty="0">
                        <a:solidFill>
                          <a:srgbClr val="00B050"/>
                        </a:solidFill>
                        <a:latin typeface="Meiryo UI" panose="020B0604030504040204" pitchFamily="50" charset="-128"/>
                        <a:ea typeface="Meiryo UI" panose="020B0604030504040204" pitchFamily="50" charset="-128"/>
                      </a:endParaRPr>
                    </a:p>
                    <a:p>
                      <a:pPr algn="r"/>
                      <a:r>
                        <a:rPr lang="ja-JP" altLang="en-US" sz="1400" dirty="0">
                          <a:solidFill>
                            <a:srgbClr val="00B050"/>
                          </a:solidFill>
                          <a:latin typeface="Meiryo UI" panose="020B0604030504040204" pitchFamily="50" charset="-128"/>
                          <a:ea typeface="Meiryo UI" panose="020B0604030504040204" pitchFamily="50" charset="-128"/>
                        </a:rPr>
                        <a:t>ほか１シートずつ</a:t>
                      </a:r>
                    </a:p>
                  </a:txBody>
                  <a:tcPr marL="91452" marR="91452" marT="45663" marB="45663"/>
                </a:tc>
                <a:extLst>
                  <a:ext uri="{0D108BD9-81ED-4DB2-BD59-A6C34878D82A}">
                    <a16:rowId xmlns:a16="http://schemas.microsoft.com/office/drawing/2014/main" val="10004"/>
                  </a:ext>
                </a:extLst>
              </a:tr>
              <a:tr h="593114">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5</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大手損害保険会社、代理店支援ボットシステム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メイン画面：</a:t>
                      </a:r>
                      <a:r>
                        <a:rPr lang="en-US" altLang="ja-JP" sz="1400" dirty="0">
                          <a:latin typeface="Meiryo UI" panose="020B0604030504040204" pitchFamily="50" charset="-128"/>
                          <a:ea typeface="Meiryo UI" panose="020B0604030504040204" pitchFamily="50" charset="-128"/>
                        </a:rPr>
                        <a:t>19</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ダイアログ画面：</a:t>
                      </a:r>
                      <a:r>
                        <a:rPr lang="en-US" altLang="ja-JP" sz="1400" dirty="0">
                          <a:latin typeface="Meiryo UI" panose="020B0604030504040204" pitchFamily="50" charset="-128"/>
                          <a:ea typeface="Meiryo UI" panose="020B0604030504040204" pitchFamily="50" charset="-128"/>
                        </a:rPr>
                        <a:t>10</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シナリオ画面：</a:t>
                      </a:r>
                      <a:r>
                        <a:rPr lang="en-US" altLang="ja-JP" sz="1400" dirty="0">
                          <a:latin typeface="Meiryo UI" panose="020B0604030504040204" pitchFamily="50" charset="-128"/>
                          <a:ea typeface="Meiryo UI" panose="020B0604030504040204" pitchFamily="50" charset="-128"/>
                        </a:rPr>
                        <a:t>106</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en-US" altLang="ja-JP" sz="1400" dirty="0">
                          <a:latin typeface="Meiryo UI" panose="020B0604030504040204" pitchFamily="50" charset="-128"/>
                          <a:ea typeface="Meiryo UI" panose="020B0604030504040204" pitchFamily="50" charset="-128"/>
                        </a:rPr>
                        <a:t>Excel</a:t>
                      </a:r>
                      <a:r>
                        <a:rPr lang="ja-JP" altLang="en-US" sz="1400" dirty="0">
                          <a:latin typeface="Meiryo UI" panose="020B0604030504040204" pitchFamily="50" charset="-128"/>
                          <a:ea typeface="Meiryo UI" panose="020B0604030504040204" pitchFamily="50" charset="-128"/>
                        </a:rPr>
                        <a:t>帳票：</a:t>
                      </a:r>
                      <a:r>
                        <a:rPr lang="en-US" altLang="ja-JP" sz="1400" dirty="0">
                          <a:latin typeface="Meiryo UI" panose="020B0604030504040204" pitchFamily="50" charset="-128"/>
                          <a:ea typeface="Meiryo UI" panose="020B0604030504040204" pitchFamily="50" charset="-128"/>
                        </a:rPr>
                        <a:t>17</a:t>
                      </a:r>
                      <a:r>
                        <a:rPr lang="ja-JP" altLang="en-US" sz="1400" dirty="0">
                          <a:latin typeface="Meiryo UI" panose="020B0604030504040204" pitchFamily="50" charset="-128"/>
                          <a:ea typeface="Meiryo UI" panose="020B0604030504040204" pitchFamily="50" charset="-128"/>
                        </a:rPr>
                        <a:t>枚</a:t>
                      </a:r>
                    </a:p>
                  </a:txBody>
                  <a:tcPr marL="91452" marR="91452" marT="45663" marB="45663"/>
                </a:tc>
                <a:extLst>
                  <a:ext uri="{0D108BD9-81ED-4DB2-BD59-A6C34878D82A}">
                    <a16:rowId xmlns:a16="http://schemas.microsoft.com/office/drawing/2014/main" val="10005"/>
                  </a:ext>
                </a:extLst>
              </a:tr>
              <a:tr h="273366">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6</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SI</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会社、保険パッケージ</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extLst>
                  <a:ext uri="{0D108BD9-81ED-4DB2-BD59-A6C34878D82A}">
                    <a16:rowId xmlns:a16="http://schemas.microsoft.com/office/drawing/2014/main" val="565572597"/>
                  </a:ext>
                </a:extLst>
              </a:tr>
              <a:tr h="273366">
                <a:tc>
                  <a:txBody>
                    <a:bodyPr/>
                    <a:lstStyle/>
                    <a:p>
                      <a:pPr algn="ctr"/>
                      <a:r>
                        <a:rPr lang="en-US" altLang="ja-JP" sz="1400" dirty="0">
                          <a:latin typeface="Meiryo UI" panose="020B0604030504040204" pitchFamily="50" charset="-128"/>
                          <a:ea typeface="Meiryo UI" panose="020B0604030504040204" pitchFamily="50" charset="-128"/>
                        </a:rPr>
                        <a:t>7</a:t>
                      </a:r>
                      <a:endParaRPr lang="ja-JP" altLang="en-US" sz="1400" dirty="0">
                        <a:latin typeface="Meiryo UI" panose="020B0604030504040204" pitchFamily="50" charset="-128"/>
                        <a:ea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大手製造メーカ、工場営業管理システム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メイン画面：</a:t>
                      </a:r>
                      <a:r>
                        <a:rPr lang="en-US" altLang="ja-JP" sz="1400" dirty="0">
                          <a:latin typeface="Meiryo UI" panose="020B0604030504040204" pitchFamily="50" charset="-128"/>
                          <a:ea typeface="Meiryo UI" panose="020B0604030504040204" pitchFamily="50" charset="-128"/>
                        </a:rPr>
                        <a:t>8</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ダイアログ画面：</a:t>
                      </a:r>
                      <a:r>
                        <a:rPr lang="en-US" altLang="ja-JP" sz="1400" dirty="0">
                          <a:latin typeface="Meiryo UI" panose="020B0604030504040204" pitchFamily="50" charset="-128"/>
                          <a:ea typeface="Meiryo UI" panose="020B0604030504040204" pitchFamily="50" charset="-128"/>
                        </a:rPr>
                        <a:t>5</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en-US" altLang="ja-JP" sz="1400" dirty="0">
                          <a:latin typeface="Meiryo UI" panose="020B0604030504040204" pitchFamily="50" charset="-128"/>
                          <a:ea typeface="Meiryo UI" panose="020B0604030504040204" pitchFamily="50" charset="-128"/>
                        </a:rPr>
                        <a:t>Excel</a:t>
                      </a:r>
                      <a:r>
                        <a:rPr lang="ja-JP" altLang="en-US" sz="1400" dirty="0">
                          <a:latin typeface="Meiryo UI" panose="020B0604030504040204" pitchFamily="50" charset="-128"/>
                          <a:ea typeface="Meiryo UI" panose="020B0604030504040204" pitchFamily="50" charset="-128"/>
                        </a:rPr>
                        <a:t>帳票：</a:t>
                      </a:r>
                      <a:r>
                        <a:rPr lang="en-US" altLang="ja-JP" sz="1400" dirty="0">
                          <a:latin typeface="Meiryo UI" panose="020B0604030504040204" pitchFamily="50" charset="-128"/>
                          <a:ea typeface="Meiryo UI" panose="020B0604030504040204" pitchFamily="50" charset="-128"/>
                        </a:rPr>
                        <a:t>48</a:t>
                      </a:r>
                      <a:r>
                        <a:rPr lang="ja-JP" altLang="en-US" sz="1400" dirty="0">
                          <a:latin typeface="Meiryo UI" panose="020B0604030504040204" pitchFamily="50" charset="-128"/>
                          <a:ea typeface="Meiryo UI" panose="020B0604030504040204" pitchFamily="50" charset="-128"/>
                        </a:rPr>
                        <a:t>枚</a:t>
                      </a:r>
                    </a:p>
                  </a:txBody>
                  <a:tcPr marL="91452" marR="91452" marT="45663" marB="45663"/>
                </a:tc>
                <a:extLst>
                  <a:ext uri="{0D108BD9-81ED-4DB2-BD59-A6C34878D82A}">
                    <a16:rowId xmlns:a16="http://schemas.microsoft.com/office/drawing/2014/main" val="2181788843"/>
                  </a:ext>
                </a:extLst>
              </a:tr>
            </a:tbl>
          </a:graphicData>
        </a:graphic>
      </p:graphicFrame>
      <p:sp>
        <p:nvSpPr>
          <p:cNvPr id="5"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７．実績一覧（ページ数情報）</a:t>
            </a:r>
          </a:p>
        </p:txBody>
      </p:sp>
    </p:spTree>
    <p:custDataLst>
      <p:tags r:id="rId1"/>
    </p:custDataLst>
    <p:extLst>
      <p:ext uri="{BB962C8B-B14F-4D97-AF65-F5344CB8AC3E}">
        <p14:creationId xmlns:p14="http://schemas.microsoft.com/office/powerpoint/2010/main" val="26681230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Group 654"/>
          <p:cNvGraphicFramePr>
            <a:graphicFrameLocks noGrp="1"/>
          </p:cNvGraphicFramePr>
          <p:nvPr>
            <p:extLst>
              <p:ext uri="{D42A27DB-BD31-4B8C-83A1-F6EECF244321}">
                <p14:modId xmlns:p14="http://schemas.microsoft.com/office/powerpoint/2010/main" val="328988717"/>
              </p:ext>
            </p:extLst>
          </p:nvPr>
        </p:nvGraphicFramePr>
        <p:xfrm>
          <a:off x="285476" y="1513233"/>
          <a:ext cx="8223524" cy="3733825"/>
        </p:xfrm>
        <a:graphic>
          <a:graphicData uri="http://schemas.openxmlformats.org/drawingml/2006/table">
            <a:tbl>
              <a:tblPr>
                <a:effectLst>
                  <a:outerShdw blurRad="50800" dist="38100" dir="13500000" algn="br" rotWithShape="0">
                    <a:prstClr val="black">
                      <a:alpha val="40000"/>
                    </a:prstClr>
                  </a:outerShdw>
                </a:effectLst>
              </a:tblPr>
              <a:tblGrid>
                <a:gridCol w="2592057">
                  <a:extLst>
                    <a:ext uri="{9D8B030D-6E8A-4147-A177-3AD203B41FA5}">
                      <a16:colId xmlns:a16="http://schemas.microsoft.com/office/drawing/2014/main" val="20000"/>
                    </a:ext>
                  </a:extLst>
                </a:gridCol>
                <a:gridCol w="2382173">
                  <a:extLst>
                    <a:ext uri="{9D8B030D-6E8A-4147-A177-3AD203B41FA5}">
                      <a16:colId xmlns:a16="http://schemas.microsoft.com/office/drawing/2014/main" val="20001"/>
                    </a:ext>
                  </a:extLst>
                </a:gridCol>
                <a:gridCol w="3249294">
                  <a:extLst>
                    <a:ext uri="{9D8B030D-6E8A-4147-A177-3AD203B41FA5}">
                      <a16:colId xmlns:a16="http://schemas.microsoft.com/office/drawing/2014/main" val="20002"/>
                    </a:ext>
                  </a:extLst>
                </a:gridCol>
              </a:tblGrid>
              <a:tr h="433255">
                <a:tc gridSpan="3">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比較案件の特徴</a:t>
                      </a:r>
                    </a:p>
                  </a:txBody>
                  <a:tcP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10000"/>
                  </a:ext>
                </a:extLst>
              </a:tr>
              <a:tr h="470629">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フレームワーク特徴　</a:t>
                      </a:r>
                    </a:p>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SQL</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使い方</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extLst>
                  <a:ext uri="{0D108BD9-81ED-4DB2-BD59-A6C34878D82A}">
                    <a16:rowId xmlns:a16="http://schemas.microsoft.com/office/drawing/2014/main" val="10001"/>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e</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プロセス</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err="1">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jsp</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Bean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インライン</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郵政</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err="1">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jsp</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Bean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インライン</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r>
                        <a:rPr kumimoji="1" lang="en-US" altLang="ja-JP" sz="2000" b="0" i="0" u="none" strike="noStrike" cap="none" normalizeH="0" baseline="0" dirty="0" err="1">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Hifw</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ﾄﾗｲｱﾙ</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Ajax Spring</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XML</a:t>
                      </a: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ファイルで外出し</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4"/>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4</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r>
                        <a:rPr kumimoji="1" lang="en-US" altLang="ja-JP" sz="2000" b="0" i="0" u="none" strike="noStrike" cap="none" normalizeH="0" baseline="0" dirty="0" err="1">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Hifw</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ﾄﾗｲｱﾙ２</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Ajax Spring</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XML</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ファイルで外出し</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5"/>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5</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物流ﾊﾟｯｹｰｼﾞ</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Spring</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プロシージャ</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6"/>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コマツﾜｰｸﾌﾛｰ</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err="1">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Efw</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XML</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ファイルで外出し</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7"/>
                  </a:ext>
                </a:extLst>
              </a:tr>
            </a:tbl>
          </a:graphicData>
        </a:graphic>
      </p:graphicFrame>
      <p:graphicFrame>
        <p:nvGraphicFramePr>
          <p:cNvPr id="11" name="Group 652"/>
          <p:cNvGraphicFramePr>
            <a:graphicFrameLocks noGrp="1"/>
          </p:cNvGraphicFramePr>
          <p:nvPr>
            <p:extLst>
              <p:ext uri="{D42A27DB-BD31-4B8C-83A1-F6EECF244321}">
                <p14:modId xmlns:p14="http://schemas.microsoft.com/office/powerpoint/2010/main" val="3639684057"/>
              </p:ext>
            </p:extLst>
          </p:nvPr>
        </p:nvGraphicFramePr>
        <p:xfrm>
          <a:off x="502169" y="1804707"/>
          <a:ext cx="8176943" cy="3983992"/>
        </p:xfrm>
        <a:graphic>
          <a:graphicData uri="http://schemas.openxmlformats.org/drawingml/2006/table">
            <a:tbl>
              <a:tblPr>
                <a:effectLst>
                  <a:outerShdw blurRad="50800" dist="38100" dir="13500000" algn="br" rotWithShape="0">
                    <a:prstClr val="black">
                      <a:alpha val="40000"/>
                    </a:prstClr>
                  </a:outerShdw>
                </a:effectLst>
              </a:tblPr>
              <a:tblGrid>
                <a:gridCol w="1966763">
                  <a:extLst>
                    <a:ext uri="{9D8B030D-6E8A-4147-A177-3AD203B41FA5}">
                      <a16:colId xmlns:a16="http://schemas.microsoft.com/office/drawing/2014/main" val="20000"/>
                    </a:ext>
                  </a:extLst>
                </a:gridCol>
                <a:gridCol w="1439018">
                  <a:extLst>
                    <a:ext uri="{9D8B030D-6E8A-4147-A177-3AD203B41FA5}">
                      <a16:colId xmlns:a16="http://schemas.microsoft.com/office/drawing/2014/main" val="20001"/>
                    </a:ext>
                  </a:extLst>
                </a:gridCol>
                <a:gridCol w="1435951">
                  <a:extLst>
                    <a:ext uri="{9D8B030D-6E8A-4147-A177-3AD203B41FA5}">
                      <a16:colId xmlns:a16="http://schemas.microsoft.com/office/drawing/2014/main" val="20002"/>
                    </a:ext>
                  </a:extLst>
                </a:gridCol>
                <a:gridCol w="1644593">
                  <a:extLst>
                    <a:ext uri="{9D8B030D-6E8A-4147-A177-3AD203B41FA5}">
                      <a16:colId xmlns:a16="http://schemas.microsoft.com/office/drawing/2014/main" val="20003"/>
                    </a:ext>
                  </a:extLst>
                </a:gridCol>
                <a:gridCol w="1690618">
                  <a:extLst>
                    <a:ext uri="{9D8B030D-6E8A-4147-A177-3AD203B41FA5}">
                      <a16:colId xmlns:a16="http://schemas.microsoft.com/office/drawing/2014/main" val="20004"/>
                    </a:ext>
                  </a:extLst>
                </a:gridCol>
              </a:tblGrid>
              <a:tr h="463350">
                <a:tc gridSpan="5">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比較案件のボリューム情報</a:t>
                      </a:r>
                    </a:p>
                  </a:txBody>
                  <a:tcP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hMerge="1">
                  <a:txBody>
                    <a:bodyPr/>
                    <a:lstStyle/>
                    <a:p>
                      <a:endParaRPr kumimoji="1" lang="ja-JP" altLang="en-US"/>
                    </a:p>
                  </a:txBody>
                  <a:tcPr/>
                </a:tc>
                <a:tc hMerge="1">
                  <a:txBody>
                    <a:bodyPr/>
                    <a:lstStyle/>
                    <a:p>
                      <a:endParaRPr kumimoji="1" lang="ja-JP" altLang="en-US"/>
                    </a:p>
                  </a:txBody>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10000"/>
                  </a:ext>
                </a:extLst>
              </a:tr>
              <a:tr h="72812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ﾌｧｲﾙ</a:t>
                      </a:r>
                      <a:r>
                        <a:rPr kumimoji="1" lang="zh-CN"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数</a:t>
                      </a: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p>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endParaRPr kumimoji="1" lang="zh-CN"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ﾌﾟﾛｸﾞﾗﾑ行数</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SQL</a:t>
                      </a: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数</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IF FOR</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数</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extLst>
                  <a:ext uri="{0D108BD9-81ED-4DB2-BD59-A6C34878D82A}">
                    <a16:rowId xmlns:a16="http://schemas.microsoft.com/office/drawing/2014/main" val="10001"/>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145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27012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234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2292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152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33615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114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2018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142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18952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130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1179</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4"/>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481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79038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314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5573</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5"/>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780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209680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1711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15188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6"/>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198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15020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240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671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7"/>
                  </a:ext>
                </a:extLst>
              </a:tr>
            </a:tbl>
          </a:graphicData>
        </a:graphic>
      </p:graphicFrame>
      <p:graphicFrame>
        <p:nvGraphicFramePr>
          <p:cNvPr id="15" name="Group 647"/>
          <p:cNvGraphicFramePr>
            <a:graphicFrameLocks noGrp="1"/>
          </p:cNvGraphicFramePr>
          <p:nvPr>
            <p:extLst>
              <p:ext uri="{D42A27DB-BD31-4B8C-83A1-F6EECF244321}">
                <p14:modId xmlns:p14="http://schemas.microsoft.com/office/powerpoint/2010/main" val="388206921"/>
              </p:ext>
            </p:extLst>
          </p:nvPr>
        </p:nvGraphicFramePr>
        <p:xfrm>
          <a:off x="755376" y="2141534"/>
          <a:ext cx="8089629" cy="3954469"/>
        </p:xfrm>
        <a:graphic>
          <a:graphicData uri="http://schemas.openxmlformats.org/drawingml/2006/table">
            <a:tbl>
              <a:tblPr>
                <a:effectLst>
                  <a:outerShdw blurRad="50800" dist="38100" dir="13500000" algn="br" rotWithShape="0">
                    <a:prstClr val="black">
                      <a:alpha val="40000"/>
                    </a:prstClr>
                  </a:outerShdw>
                </a:effectLst>
              </a:tblPr>
              <a:tblGrid>
                <a:gridCol w="1320445">
                  <a:extLst>
                    <a:ext uri="{9D8B030D-6E8A-4147-A177-3AD203B41FA5}">
                      <a16:colId xmlns:a16="http://schemas.microsoft.com/office/drawing/2014/main" val="20000"/>
                    </a:ext>
                  </a:extLst>
                </a:gridCol>
                <a:gridCol w="1162679">
                  <a:extLst>
                    <a:ext uri="{9D8B030D-6E8A-4147-A177-3AD203B41FA5}">
                      <a16:colId xmlns:a16="http://schemas.microsoft.com/office/drawing/2014/main" val="20001"/>
                    </a:ext>
                  </a:extLst>
                </a:gridCol>
                <a:gridCol w="17272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126705">
                  <a:extLst>
                    <a:ext uri="{9D8B030D-6E8A-4147-A177-3AD203B41FA5}">
                      <a16:colId xmlns:a16="http://schemas.microsoft.com/office/drawing/2014/main" val="20004"/>
                    </a:ext>
                  </a:extLst>
                </a:gridCol>
              </a:tblGrid>
              <a:tr h="461412">
                <a:tc gridSpan="5">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比較案件のプログラム複雑さ情報</a:t>
                      </a:r>
                    </a:p>
                  </a:txBody>
                  <a:tcP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hMerge="1">
                  <a:txBody>
                    <a:bodyPr/>
                    <a:lstStyle/>
                    <a:p>
                      <a:endParaRPr kumimoji="1" lang="ja-JP" altLang="en-US"/>
                    </a:p>
                  </a:txBody>
                  <a:tcPr/>
                </a:tc>
                <a:tc hMerge="1">
                  <a:txBody>
                    <a:bodyPr/>
                    <a:lstStyle/>
                    <a:p>
                      <a:endParaRPr kumimoji="1" lang="ja-JP" altLang="en-US"/>
                    </a:p>
                  </a:txBody>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10000"/>
                  </a:ext>
                </a:extLst>
              </a:tr>
              <a:tr h="72458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平均</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複雑度</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ﾌﾟﾛｸﾞﾗﾑ</a:t>
                      </a:r>
                      <a:r>
                        <a:rPr kumimoji="1" lang="zh-CN"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行数</a:t>
                      </a:r>
                      <a:r>
                        <a:rPr kumimoji="1" lang="en-US" altLang="zh-CN"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ﾌｧｲﾙ</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ﾌﾟﾛｸﾞﾗﾑ</a:t>
                      </a:r>
                      <a:r>
                        <a:rPr kumimoji="1" lang="zh-CN"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行数</a:t>
                      </a:r>
                      <a:r>
                        <a:rPr kumimoji="1" lang="en-US" altLang="zh-CN"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zh-CN"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SQL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ﾌﾟﾛｸﾞﾗﾑ</a:t>
                      </a:r>
                      <a:r>
                        <a:rPr kumimoji="1" lang="zh-CN"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行数</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a:t>
                      </a:r>
                    </a:p>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IF FOR</a:t>
                      </a: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のﾊﾟｰｾﾝﾄ</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extLst>
                  <a:ext uri="{0D108BD9-81ED-4DB2-BD59-A6C34878D82A}">
                    <a16:rowId xmlns:a16="http://schemas.microsoft.com/office/drawing/2014/main" val="10001"/>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3.20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186.29</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115.44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8.49%</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5.16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221.15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294.87</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6.00%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2.30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133.46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145.78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6.22%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4"/>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2.76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164.32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251.71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7.05%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5"/>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3.26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268.82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122.55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7.24%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6"/>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1.94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75.86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62.58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4.47%</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7"/>
                  </a:ext>
                </a:extLst>
              </a:tr>
            </a:tbl>
          </a:graphicData>
        </a:graphic>
      </p:graphicFrame>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12</a:t>
            </a:fld>
            <a:endParaRPr lang="en-US" altLang="ja-JP" sz="1200">
              <a:solidFill>
                <a:srgbClr val="898989"/>
              </a:solidFill>
              <a:latin typeface="Meiryo UI" pitchFamily="50" charset="-128"/>
              <a:ea typeface="Meiryo UI" pitchFamily="50" charset="-128"/>
              <a:cs typeface="Meiryo UI" pitchFamily="50" charset="-128"/>
            </a:endParaRPr>
          </a:p>
        </p:txBody>
      </p:sp>
      <p:pic>
        <p:nvPicPr>
          <p:cNvPr id="205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5781" y="2433637"/>
            <a:ext cx="7934325" cy="3962400"/>
          </a:xfrm>
          <a:prstGeom prst="rect">
            <a:avLst/>
          </a:prstGeom>
          <a:noFill/>
          <a:ln w="12700" cmpd="sng">
            <a:solidFill>
              <a:schemeClr val="tx1"/>
            </a:solidFill>
            <a:miter lim="800000"/>
            <a:headEnd/>
            <a:tailEnd/>
          </a:ln>
          <a:effectLst>
            <a:outerShdw blurRad="50800" dist="38100" dir="13500000" algn="br" rotWithShape="0">
              <a:prstClr val="black">
                <a:alpha val="40000"/>
              </a:prstClr>
            </a:outerShdw>
          </a:effectLst>
          <a:extLst>
            <a:ext uri="{909E8E84-426E-40DD-AFC4-6F175D3DCCD1}">
              <a14:hiddenFill xmlns:a14="http://schemas.microsoft.com/office/drawing/2010/main">
                <a:solidFill>
                  <a:schemeClr val="accent1"/>
                </a:solidFill>
              </a14:hiddenFill>
            </a:ext>
          </a:extLst>
        </p:spPr>
      </p:pic>
      <p:sp>
        <p:nvSpPr>
          <p:cNvPr id="9"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８．</a:t>
            </a:r>
            <a:r>
              <a:rPr lang="en-US" altLang="ja-JP" sz="2800" dirty="0">
                <a:solidFill>
                  <a:schemeClr val="tx2"/>
                </a:solidFill>
                <a:latin typeface="Meiryo UI" pitchFamily="50" charset="-128"/>
                <a:ea typeface="Meiryo UI" pitchFamily="50" charset="-128"/>
                <a:cs typeface="Meiryo UI" pitchFamily="50" charset="-128"/>
              </a:rPr>
              <a:t>E-FW</a:t>
            </a:r>
            <a:r>
              <a:rPr lang="ja-JP" altLang="en-US" sz="2800" dirty="0">
                <a:solidFill>
                  <a:schemeClr val="tx2"/>
                </a:solidFill>
                <a:latin typeface="Meiryo UI" pitchFamily="50" charset="-128"/>
                <a:ea typeface="Meiryo UI" pitchFamily="50" charset="-128"/>
                <a:cs typeface="Meiryo UI" pitchFamily="50" charset="-128"/>
              </a:rPr>
              <a:t>導入の効果</a:t>
            </a:r>
          </a:p>
        </p:txBody>
      </p:sp>
      <p:sp>
        <p:nvSpPr>
          <p:cNvPr id="8" name="テキスト ボックス 7"/>
          <p:cNvSpPr txBox="1"/>
          <p:nvPr/>
        </p:nvSpPr>
        <p:spPr>
          <a:xfrm>
            <a:off x="307973" y="1040827"/>
            <a:ext cx="4054707" cy="338554"/>
          </a:xfrm>
          <a:prstGeom prst="rect">
            <a:avLst/>
          </a:prstGeom>
          <a:noFill/>
        </p:spPr>
        <p:txBody>
          <a:bodyPr wrap="square" rtlCol="0">
            <a:spAutoFit/>
          </a:bodyPr>
          <a:lstStyle/>
          <a:p>
            <a:r>
              <a:rPr lang="en-US" altLang="ja-JP" sz="1600" dirty="0">
                <a:latin typeface="Meiryo UI" panose="020B0604030504040204" pitchFamily="50" charset="-128"/>
                <a:ea typeface="Meiryo UI" panose="020B0604030504040204" pitchFamily="50" charset="-128"/>
                <a:cs typeface="Meiryo UI" panose="020B0604030504040204" pitchFamily="50" charset="-128"/>
              </a:rPr>
              <a:t>※</a:t>
            </a:r>
            <a:r>
              <a:rPr lang="ja-JP" altLang="en-US" sz="1600" dirty="0">
                <a:latin typeface="Meiryo UI" panose="020B0604030504040204" pitchFamily="50" charset="-128"/>
                <a:ea typeface="Meiryo UI" panose="020B0604030504040204" pitchFamily="50" charset="-128"/>
                <a:cs typeface="Meiryo UI" panose="020B0604030504040204" pitchFamily="50" charset="-128"/>
              </a:rPr>
              <a:t>実績一覧の案件１の効果分析です。</a:t>
            </a:r>
            <a:endParaRPr kumimoji="1" lang="ja-JP" altLang="en-US" sz="1600" dirty="0">
              <a:latin typeface="Meiryo UI" panose="020B0604030504040204" pitchFamily="50" charset="-128"/>
              <a:ea typeface="Meiryo UI" panose="020B0604030504040204" pitchFamily="50" charset="-128"/>
              <a:cs typeface="Meiryo UI" panose="020B0604030504040204" pitchFamily="50" charset="-128"/>
            </a:endParaRPr>
          </a:p>
        </p:txBody>
      </p:sp>
    </p:spTree>
    <p:custDataLst>
      <p:tags r:id="rId1"/>
    </p:custDataLst>
    <p:extLst>
      <p:ext uri="{BB962C8B-B14F-4D97-AF65-F5344CB8AC3E}">
        <p14:creationId xmlns:p14="http://schemas.microsoft.com/office/powerpoint/2010/main" val="164745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3"/>
          <p:cNvSpPr>
            <a:spLocks noChangeArrowheads="1"/>
          </p:cNvSpPr>
          <p:nvPr/>
        </p:nvSpPr>
        <p:spPr bwMode="auto">
          <a:xfrm>
            <a:off x="212970" y="968148"/>
            <a:ext cx="8723313" cy="2631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ja-JP"/>
            </a:defPPr>
            <a:lvl1pPr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1pPr>
            <a:lvl2pPr marL="4572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2pPr>
            <a:lvl3pPr marL="9144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3pPr>
            <a:lvl4pPr marL="13716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4pPr>
            <a:lvl5pPr marL="18288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5pPr>
            <a:lvl6pPr marL="2286000" algn="l" defTabSz="914400" rtl="0" eaLnBrk="1" latinLnBrk="0" hangingPunct="1">
              <a:defRPr kumimoji="1" sz="1100" kern="1200">
                <a:solidFill>
                  <a:schemeClr val="tx1"/>
                </a:solidFill>
                <a:latin typeface="Arial" charset="0"/>
                <a:ea typeface="ＭＳ Ｐゴシック" pitchFamily="50" charset="-128"/>
                <a:cs typeface="+mn-cs"/>
              </a:defRPr>
            </a:lvl6pPr>
            <a:lvl7pPr marL="2743200" algn="l" defTabSz="914400" rtl="0" eaLnBrk="1" latinLnBrk="0" hangingPunct="1">
              <a:defRPr kumimoji="1" sz="1100" kern="1200">
                <a:solidFill>
                  <a:schemeClr val="tx1"/>
                </a:solidFill>
                <a:latin typeface="Arial" charset="0"/>
                <a:ea typeface="ＭＳ Ｐゴシック" pitchFamily="50" charset="-128"/>
                <a:cs typeface="+mn-cs"/>
              </a:defRPr>
            </a:lvl7pPr>
            <a:lvl8pPr marL="3200400" algn="l" defTabSz="914400" rtl="0" eaLnBrk="1" latinLnBrk="0" hangingPunct="1">
              <a:defRPr kumimoji="1" sz="1100" kern="1200">
                <a:solidFill>
                  <a:schemeClr val="tx1"/>
                </a:solidFill>
                <a:latin typeface="Arial" charset="0"/>
                <a:ea typeface="ＭＳ Ｐゴシック" pitchFamily="50" charset="-128"/>
                <a:cs typeface="+mn-cs"/>
              </a:defRPr>
            </a:lvl8pPr>
            <a:lvl9pPr marL="3657600" algn="l" defTabSz="914400" rtl="0" eaLnBrk="1" latinLnBrk="0" hangingPunct="1">
              <a:defRPr kumimoji="1" sz="1100" kern="1200">
                <a:solidFill>
                  <a:schemeClr val="tx1"/>
                </a:solidFill>
                <a:latin typeface="Arial" charset="0"/>
                <a:ea typeface="ＭＳ Ｐゴシック" pitchFamily="50" charset="-128"/>
                <a:cs typeface="+mn-cs"/>
              </a:defRPr>
            </a:lvl9pPr>
          </a:lstStyle>
          <a:p>
            <a:pPr marL="342900" indent="-342900" eaLnBrk="1" latinLnBrk="1" hangingPunct="1">
              <a:lnSpc>
                <a:spcPct val="150000"/>
              </a:lnSpc>
              <a:spcBef>
                <a:spcPct val="25000"/>
              </a:spcBef>
              <a:buFont typeface="Arial" panose="020B0604020202020204" pitchFamily="34" charset="0"/>
              <a:buChar char="•"/>
            </a:pPr>
            <a:r>
              <a:rPr lang="ja-JP" altLang="en-US" sz="2000" dirty="0">
                <a:latin typeface="Meiryo UI" pitchFamily="50" charset="-128"/>
                <a:ea typeface="Meiryo UI" pitchFamily="50" charset="-128"/>
                <a:cs typeface="Meiryo UI" pitchFamily="50" charset="-128"/>
              </a:rPr>
              <a:t>コンサル業務で要件確認するために</a:t>
            </a:r>
            <a:r>
              <a:rPr lang="en-US" altLang="ja-JP" sz="2000" dirty="0">
                <a:latin typeface="Meiryo UI" pitchFamily="50" charset="-128"/>
                <a:ea typeface="Meiryo UI" pitchFamily="50" charset="-128"/>
                <a:cs typeface="Meiryo UI" pitchFamily="50" charset="-128"/>
              </a:rPr>
              <a:t>EFW</a:t>
            </a:r>
            <a:r>
              <a:rPr lang="ja-JP" altLang="en-US" sz="2000" dirty="0">
                <a:latin typeface="Meiryo UI" pitchFamily="50" charset="-128"/>
                <a:ea typeface="Meiryo UI" pitchFamily="50" charset="-128"/>
                <a:cs typeface="Meiryo UI" pitchFamily="50" charset="-128"/>
              </a:rPr>
              <a:t>でプロトタイプを作っている。とても重宝。急に思いついた構想を具体化するのにも役立つね！</a:t>
            </a:r>
            <a:endParaRPr lang="en-US" altLang="ja-JP" sz="2000" dirty="0">
              <a:latin typeface="Meiryo UI" pitchFamily="50" charset="-128"/>
              <a:ea typeface="Meiryo UI" pitchFamily="50" charset="-128"/>
              <a:cs typeface="Meiryo UI" pitchFamily="50" charset="-128"/>
            </a:endParaRPr>
          </a:p>
          <a:p>
            <a:pPr marL="342900" indent="-342900" eaLnBrk="1" latinLnBrk="1" hangingPunct="1">
              <a:lnSpc>
                <a:spcPct val="150000"/>
              </a:lnSpc>
              <a:spcBef>
                <a:spcPct val="25000"/>
              </a:spcBef>
              <a:buFont typeface="Arial" panose="020B0604020202020204" pitchFamily="34" charset="0"/>
              <a:buChar char="•"/>
            </a:pPr>
            <a:r>
              <a:rPr lang="en-US" altLang="ja-JP" sz="2000" dirty="0">
                <a:latin typeface="Meiryo UI" pitchFamily="50" charset="-128"/>
                <a:ea typeface="Meiryo UI" pitchFamily="50" charset="-128"/>
                <a:cs typeface="Meiryo UI" pitchFamily="50" charset="-128"/>
              </a:rPr>
              <a:t>Skeleton</a:t>
            </a:r>
            <a:r>
              <a:rPr lang="ja-JP" altLang="en-US" sz="2000" dirty="0">
                <a:latin typeface="Meiryo UI" pitchFamily="50" charset="-128"/>
                <a:ea typeface="Meiryo UI" pitchFamily="50" charset="-128"/>
                <a:cs typeface="Meiryo UI" pitchFamily="50" charset="-128"/>
              </a:rPr>
              <a:t>サンプルのデザインはいいね！ぷりぷりの操作感はいいね！</a:t>
            </a:r>
            <a:endParaRPr lang="en-US" altLang="ja-JP" sz="2000" dirty="0">
              <a:latin typeface="Meiryo UI" pitchFamily="50" charset="-128"/>
              <a:ea typeface="Meiryo UI" pitchFamily="50" charset="-128"/>
              <a:cs typeface="Meiryo UI" pitchFamily="50" charset="-128"/>
            </a:endParaRPr>
          </a:p>
          <a:p>
            <a:pPr marL="342900" indent="-342900" eaLnBrk="1" latinLnBrk="1" hangingPunct="1">
              <a:lnSpc>
                <a:spcPct val="150000"/>
              </a:lnSpc>
              <a:spcBef>
                <a:spcPct val="25000"/>
              </a:spcBef>
              <a:buFont typeface="Arial" panose="020B0604020202020204" pitchFamily="34" charset="0"/>
              <a:buChar char="•"/>
            </a:pPr>
            <a:r>
              <a:rPr lang="ja-JP" altLang="en-US" sz="2000" dirty="0">
                <a:latin typeface="Meiryo UI" pitchFamily="50" charset="-128"/>
                <a:ea typeface="Meiryo UI" pitchFamily="50" charset="-128"/>
                <a:cs typeface="Meiryo UI" pitchFamily="50" charset="-128"/>
              </a:rPr>
              <a:t>ソース修正後、再起動ではなく、</a:t>
            </a:r>
            <a:r>
              <a:rPr lang="en-US" altLang="ja-JP" sz="2000" dirty="0">
                <a:latin typeface="Meiryo UI" pitchFamily="50" charset="-128"/>
                <a:ea typeface="Meiryo UI" pitchFamily="50" charset="-128"/>
                <a:cs typeface="Meiryo UI" pitchFamily="50" charset="-128"/>
              </a:rPr>
              <a:t>F5</a:t>
            </a:r>
            <a:r>
              <a:rPr lang="ja-JP" altLang="en-US" sz="2000" dirty="0">
                <a:latin typeface="Meiryo UI" pitchFamily="50" charset="-128"/>
                <a:ea typeface="Meiryo UI" pitchFamily="50" charset="-128"/>
                <a:cs typeface="Meiryo UI" pitchFamily="50" charset="-128"/>
              </a:rPr>
              <a:t>キーを押せば確認できる。とても便利！</a:t>
            </a:r>
            <a:endParaRPr lang="en-US" altLang="ja-JP" sz="2000" dirty="0">
              <a:latin typeface="Meiryo UI" pitchFamily="50" charset="-128"/>
              <a:ea typeface="Meiryo UI" pitchFamily="50" charset="-128"/>
              <a:cs typeface="Meiryo UI" pitchFamily="50" charset="-128"/>
            </a:endParaRPr>
          </a:p>
          <a:p>
            <a:pPr marL="342900" indent="-342900" eaLnBrk="1" latinLnBrk="1" hangingPunct="1">
              <a:lnSpc>
                <a:spcPct val="150000"/>
              </a:lnSpc>
              <a:spcBef>
                <a:spcPct val="25000"/>
              </a:spcBef>
              <a:buFont typeface="Arial" panose="020B0604020202020204" pitchFamily="34" charset="0"/>
              <a:buChar char="•"/>
            </a:pPr>
            <a:r>
              <a:rPr lang="ja-JP" altLang="en-US" sz="2000" dirty="0">
                <a:latin typeface="Meiryo UI" pitchFamily="50" charset="-128"/>
                <a:ea typeface="Meiryo UI" pitchFamily="50" charset="-128"/>
                <a:cs typeface="Meiryo UI" pitchFamily="50" charset="-128"/>
              </a:rPr>
              <a:t>数か月</a:t>
            </a:r>
            <a:r>
              <a:rPr lang="en-US" altLang="ja-JP" sz="2000" dirty="0">
                <a:latin typeface="Meiryo UI" pitchFamily="50" charset="-128"/>
                <a:ea typeface="Meiryo UI" pitchFamily="50" charset="-128"/>
                <a:cs typeface="Meiryo UI" pitchFamily="50" charset="-128"/>
              </a:rPr>
              <a:t>EFW</a:t>
            </a:r>
            <a:r>
              <a:rPr lang="ja-JP" altLang="en-US" sz="2000" dirty="0">
                <a:latin typeface="Meiryo UI" pitchFamily="50" charset="-128"/>
                <a:ea typeface="Meiryo UI" pitchFamily="50" charset="-128"/>
                <a:cs typeface="Meiryo UI" pitchFamily="50" charset="-128"/>
              </a:rPr>
              <a:t>プロジェクトをやって、もう</a:t>
            </a:r>
            <a:r>
              <a:rPr lang="en-US" altLang="ja-JP" sz="2000" dirty="0">
                <a:latin typeface="Meiryo UI" pitchFamily="50" charset="-128"/>
                <a:ea typeface="Meiryo UI" pitchFamily="50" charset="-128"/>
                <a:cs typeface="Meiryo UI" pitchFamily="50" charset="-128"/>
              </a:rPr>
              <a:t>Spring</a:t>
            </a:r>
            <a:r>
              <a:rPr lang="ja-JP" altLang="en-US" sz="2000" dirty="0">
                <a:latin typeface="Meiryo UI" pitchFamily="50" charset="-128"/>
                <a:ea typeface="Meiryo UI" pitchFamily="50" charset="-128"/>
                <a:cs typeface="Meiryo UI" pitchFamily="50" charset="-128"/>
              </a:rPr>
              <a:t>をやりたくない！</a:t>
            </a:r>
            <a:endParaRPr lang="en-US" altLang="ja-JP" sz="2000" dirty="0">
              <a:latin typeface="Meiryo UI" pitchFamily="50" charset="-128"/>
              <a:ea typeface="Meiryo UI" pitchFamily="50" charset="-128"/>
              <a:cs typeface="Meiryo UI" pitchFamily="50" charset="-128"/>
            </a:endParaRP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13</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5"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９．利用者からの褒め言葉</a:t>
            </a:r>
          </a:p>
        </p:txBody>
      </p:sp>
    </p:spTree>
    <p:custDataLst>
      <p:tags r:id="rId1"/>
    </p:custDataLst>
    <p:extLst>
      <p:ext uri="{BB962C8B-B14F-4D97-AF65-F5344CB8AC3E}">
        <p14:creationId xmlns:p14="http://schemas.microsoft.com/office/powerpoint/2010/main" val="921466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14</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5"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添付．要件定義システムの新旧比較</a:t>
            </a:r>
          </a:p>
        </p:txBody>
      </p:sp>
      <p:graphicFrame>
        <p:nvGraphicFramePr>
          <p:cNvPr id="3" name="表 2"/>
          <p:cNvGraphicFramePr>
            <a:graphicFrameLocks noGrp="1"/>
          </p:cNvGraphicFramePr>
          <p:nvPr>
            <p:extLst>
              <p:ext uri="{D42A27DB-BD31-4B8C-83A1-F6EECF244321}">
                <p14:modId xmlns:p14="http://schemas.microsoft.com/office/powerpoint/2010/main" val="3636693129"/>
              </p:ext>
            </p:extLst>
          </p:nvPr>
        </p:nvGraphicFramePr>
        <p:xfrm>
          <a:off x="264014" y="1121104"/>
          <a:ext cx="8690800" cy="4409440"/>
        </p:xfrm>
        <a:graphic>
          <a:graphicData uri="http://schemas.openxmlformats.org/drawingml/2006/table">
            <a:tbl>
              <a:tblPr firstRow="1" bandRow="1">
                <a:tableStyleId>{5C22544A-7EE6-4342-B048-85BDC9FD1C3A}</a:tableStyleId>
              </a:tblPr>
              <a:tblGrid>
                <a:gridCol w="3491557">
                  <a:extLst>
                    <a:ext uri="{9D8B030D-6E8A-4147-A177-3AD203B41FA5}">
                      <a16:colId xmlns:a16="http://schemas.microsoft.com/office/drawing/2014/main" val="20000"/>
                    </a:ext>
                  </a:extLst>
                </a:gridCol>
                <a:gridCol w="1396093">
                  <a:extLst>
                    <a:ext uri="{9D8B030D-6E8A-4147-A177-3AD203B41FA5}">
                      <a16:colId xmlns:a16="http://schemas.microsoft.com/office/drawing/2014/main" val="20001"/>
                    </a:ext>
                  </a:extLst>
                </a:gridCol>
                <a:gridCol w="1927053">
                  <a:extLst>
                    <a:ext uri="{9D8B030D-6E8A-4147-A177-3AD203B41FA5}">
                      <a16:colId xmlns:a16="http://schemas.microsoft.com/office/drawing/2014/main" val="20002"/>
                    </a:ext>
                  </a:extLst>
                </a:gridCol>
                <a:gridCol w="1876097">
                  <a:extLst>
                    <a:ext uri="{9D8B030D-6E8A-4147-A177-3AD203B41FA5}">
                      <a16:colId xmlns:a16="http://schemas.microsoft.com/office/drawing/2014/main" val="20003"/>
                    </a:ext>
                  </a:extLst>
                </a:gridCol>
              </a:tblGrid>
              <a:tr h="370840">
                <a:tc>
                  <a:txBody>
                    <a:bodyPr/>
                    <a:lstStyle/>
                    <a:p>
                      <a:r>
                        <a:rPr kumimoji="1" lang="ja-JP" altLang="en-US" dirty="0"/>
                        <a:t>項目</a:t>
                      </a:r>
                    </a:p>
                  </a:txBody>
                  <a:tcPr/>
                </a:tc>
                <a:tc>
                  <a:txBody>
                    <a:bodyPr/>
                    <a:lstStyle/>
                    <a:p>
                      <a:r>
                        <a:rPr kumimoji="1" lang="ja-JP" altLang="en-US" dirty="0"/>
                        <a:t>旧版</a:t>
                      </a:r>
                    </a:p>
                  </a:txBody>
                  <a:tcPr/>
                </a:tc>
                <a:tc>
                  <a:txBody>
                    <a:bodyPr/>
                    <a:lstStyle/>
                    <a:p>
                      <a:r>
                        <a:rPr kumimoji="1" lang="ja-JP" altLang="en-US" dirty="0"/>
                        <a:t>リニューアル版</a:t>
                      </a:r>
                    </a:p>
                  </a:txBody>
                  <a:tcPr/>
                </a:tc>
                <a:tc>
                  <a:txBody>
                    <a:bodyPr/>
                    <a:lstStyle/>
                    <a:p>
                      <a:r>
                        <a:rPr kumimoji="1" lang="ja-JP" altLang="en-US" dirty="0"/>
                        <a:t>パッケージ版</a:t>
                      </a:r>
                    </a:p>
                  </a:txBody>
                  <a:tcPr/>
                </a:tc>
                <a:extLst>
                  <a:ext uri="{0D108BD9-81ED-4DB2-BD59-A6C34878D82A}">
                    <a16:rowId xmlns:a16="http://schemas.microsoft.com/office/drawing/2014/main" val="10000"/>
                  </a:ext>
                </a:extLst>
              </a:tr>
              <a:tr h="370840">
                <a:tc>
                  <a:txBody>
                    <a:bodyPr/>
                    <a:lstStyle/>
                    <a:p>
                      <a:r>
                        <a:rPr kumimoji="1" lang="ja-JP" altLang="en-US" dirty="0"/>
                        <a:t>クライアント</a:t>
                      </a:r>
                      <a:r>
                        <a:rPr kumimoji="1" lang="en-US" altLang="ja-JP" dirty="0"/>
                        <a:t>JavaScript</a:t>
                      </a:r>
                      <a:endParaRPr kumimoji="1" lang="ja-JP" altLang="en-US" dirty="0"/>
                    </a:p>
                  </a:txBody>
                  <a:tcPr/>
                </a:tc>
                <a:tc>
                  <a:txBody>
                    <a:bodyPr/>
                    <a:lstStyle/>
                    <a:p>
                      <a:pPr algn="ctr"/>
                      <a:r>
                        <a:rPr kumimoji="1" lang="en-US" altLang="ja-JP" dirty="0"/>
                        <a:t>4339</a:t>
                      </a:r>
                      <a:endParaRPr kumimoji="1" lang="ja-JP" altLang="en-US" dirty="0"/>
                    </a:p>
                  </a:txBody>
                  <a:tcPr/>
                </a:tc>
                <a:tc>
                  <a:txBody>
                    <a:bodyPr/>
                    <a:lstStyle/>
                    <a:p>
                      <a:pPr algn="ctr"/>
                      <a:r>
                        <a:rPr kumimoji="1" lang="en-US" altLang="ja-JP" dirty="0"/>
                        <a:t>1775</a:t>
                      </a:r>
                      <a:endParaRPr kumimoji="1" lang="ja-JP" altLang="en-US" dirty="0"/>
                    </a:p>
                  </a:txBody>
                  <a:tcPr/>
                </a:tc>
                <a:tc>
                  <a:txBody>
                    <a:bodyPr/>
                    <a:lstStyle/>
                    <a:p>
                      <a:pPr algn="ctr"/>
                      <a:r>
                        <a:rPr kumimoji="1" lang="en-US" altLang="ja-JP" dirty="0"/>
                        <a:t>2970</a:t>
                      </a:r>
                      <a:endParaRPr kumimoji="1" lang="ja-JP" altLang="en-US" dirty="0"/>
                    </a:p>
                  </a:txBody>
                  <a:tcPr/>
                </a:tc>
                <a:extLst>
                  <a:ext uri="{0D108BD9-81ED-4DB2-BD59-A6C34878D82A}">
                    <a16:rowId xmlns:a16="http://schemas.microsoft.com/office/drawing/2014/main" val="10001"/>
                  </a:ext>
                </a:extLst>
              </a:tr>
              <a:tr h="370840">
                <a:tc>
                  <a:txBody>
                    <a:bodyPr/>
                    <a:lstStyle/>
                    <a:p>
                      <a:r>
                        <a:rPr kumimoji="1" lang="en-US" altLang="ja-JP" dirty="0"/>
                        <a:t>JSP</a:t>
                      </a:r>
                      <a:endParaRPr kumimoji="1" lang="ja-JP" altLang="en-US" dirty="0"/>
                    </a:p>
                  </a:txBody>
                  <a:tcPr/>
                </a:tc>
                <a:tc>
                  <a:txBody>
                    <a:bodyPr/>
                    <a:lstStyle/>
                    <a:p>
                      <a:pPr algn="ctr"/>
                      <a:r>
                        <a:rPr kumimoji="1" lang="en-US" altLang="ja-JP" dirty="0"/>
                        <a:t>15212</a:t>
                      </a:r>
                      <a:endParaRPr kumimoji="1" lang="ja-JP" altLang="en-US" dirty="0"/>
                    </a:p>
                  </a:txBody>
                  <a:tcPr/>
                </a:tc>
                <a:tc>
                  <a:txBody>
                    <a:bodyPr/>
                    <a:lstStyle/>
                    <a:p>
                      <a:pPr algn="ctr"/>
                      <a:r>
                        <a:rPr kumimoji="1" lang="en-US" altLang="ja-JP" dirty="0"/>
                        <a:t>7372</a:t>
                      </a:r>
                      <a:endParaRPr kumimoji="1" lang="ja-JP" altLang="en-US" dirty="0"/>
                    </a:p>
                  </a:txBody>
                  <a:tcPr/>
                </a:tc>
                <a:tc>
                  <a:txBody>
                    <a:bodyPr/>
                    <a:lstStyle/>
                    <a:p>
                      <a:pPr algn="ctr"/>
                      <a:r>
                        <a:rPr kumimoji="1" lang="en-US" altLang="ja-JP" dirty="0"/>
                        <a:t>5140</a:t>
                      </a:r>
                      <a:endParaRPr kumimoji="1" lang="ja-JP" altLang="en-US" dirty="0"/>
                    </a:p>
                  </a:txBody>
                  <a:tcPr/>
                </a:tc>
                <a:extLst>
                  <a:ext uri="{0D108BD9-81ED-4DB2-BD59-A6C34878D82A}">
                    <a16:rowId xmlns:a16="http://schemas.microsoft.com/office/drawing/2014/main" val="10002"/>
                  </a:ext>
                </a:extLst>
              </a:tr>
              <a:tr h="185420">
                <a:tc>
                  <a:txBody>
                    <a:bodyPr/>
                    <a:lstStyle/>
                    <a:p>
                      <a:r>
                        <a:rPr lang="ja-JP" altLang="en-US" dirty="0"/>
                        <a:t>コントローラ（相当）</a:t>
                      </a:r>
                    </a:p>
                  </a:txBody>
                  <a:tcPr/>
                </a:tc>
                <a:tc>
                  <a:txBody>
                    <a:bodyPr/>
                    <a:lstStyle/>
                    <a:p>
                      <a:pPr algn="ctr"/>
                      <a:r>
                        <a:rPr lang="en-US" altLang="ja-JP" dirty="0"/>
                        <a:t>5949</a:t>
                      </a:r>
                      <a:endParaRPr lang="ja-JP" altLang="en-US" dirty="0"/>
                    </a:p>
                  </a:txBody>
                  <a:tcPr/>
                </a:tc>
                <a:tc>
                  <a:txBody>
                    <a:bodyPr/>
                    <a:lstStyle/>
                    <a:p>
                      <a:pPr algn="ctr"/>
                      <a:r>
                        <a:rPr lang="en-US" altLang="ja-JP" dirty="0"/>
                        <a:t>-</a:t>
                      </a:r>
                      <a:endParaRPr lang="ja-JP" altLang="en-US" dirty="0"/>
                    </a:p>
                  </a:txBody>
                  <a:tcPr/>
                </a:tc>
                <a:tc>
                  <a:txBody>
                    <a:bodyPr/>
                    <a:lstStyle/>
                    <a:p>
                      <a:pPr algn="ctr"/>
                      <a:r>
                        <a:rPr lang="en-US" altLang="ja-JP" dirty="0"/>
                        <a:t>-</a:t>
                      </a:r>
                      <a:endParaRPr lang="ja-JP" altLang="en-US" dirty="0"/>
                    </a:p>
                  </a:txBody>
                  <a:tcPr/>
                </a:tc>
                <a:extLst>
                  <a:ext uri="{0D108BD9-81ED-4DB2-BD59-A6C34878D82A}">
                    <a16:rowId xmlns:a16="http://schemas.microsoft.com/office/drawing/2014/main" val="10003"/>
                  </a:ext>
                </a:extLst>
              </a:tr>
              <a:tr h="185420">
                <a:tc>
                  <a:txBody>
                    <a:bodyPr/>
                    <a:lstStyle/>
                    <a:p>
                      <a:r>
                        <a:rPr kumimoji="1" lang="ja-JP" altLang="en-US" dirty="0"/>
                        <a:t>外出し</a:t>
                      </a:r>
                      <a:r>
                        <a:rPr kumimoji="1" lang="en-US" altLang="ja-JP" dirty="0"/>
                        <a:t>SQL</a:t>
                      </a:r>
                      <a:r>
                        <a:rPr kumimoji="1" lang="en-US" altLang="ja-JP" sz="1000" dirty="0"/>
                        <a:t>(SLECT UPDATE DELETE</a:t>
                      </a:r>
                      <a:r>
                        <a:rPr kumimoji="1" lang="ja-JP" altLang="en-US" sz="1000"/>
                        <a:t>数</a:t>
                      </a:r>
                      <a:r>
                        <a:rPr kumimoji="1" lang="en-US" altLang="ja-JP" sz="1000"/>
                        <a:t>)</a:t>
                      </a:r>
                      <a:endParaRPr kumimoji="1" lang="ja-JP" altLang="en-US" sz="1000" dirty="0"/>
                    </a:p>
                  </a:txBody>
                  <a:tcPr/>
                </a:tc>
                <a:tc>
                  <a:txBody>
                    <a:bodyPr/>
                    <a:lstStyle/>
                    <a:p>
                      <a:pPr algn="ctr"/>
                      <a:r>
                        <a:rPr kumimoji="1" lang="en-US" altLang="ja-JP" dirty="0"/>
                        <a:t>-</a:t>
                      </a:r>
                      <a:endParaRPr kumimoji="1" lang="ja-JP" altLang="en-US" dirty="0"/>
                    </a:p>
                  </a:txBody>
                  <a:tcPr/>
                </a:tc>
                <a:tc>
                  <a:txBody>
                    <a:bodyPr/>
                    <a:lstStyle/>
                    <a:p>
                      <a:pPr algn="ctr"/>
                      <a:r>
                        <a:rPr kumimoji="1" lang="en-US" altLang="ja-JP" dirty="0"/>
                        <a:t>5535</a:t>
                      </a:r>
                      <a:r>
                        <a:rPr kumimoji="1" lang="ja-JP" altLang="en-US" dirty="0"/>
                        <a:t> </a:t>
                      </a:r>
                      <a:r>
                        <a:rPr kumimoji="1" lang="en-US" altLang="ja-JP" dirty="0"/>
                        <a:t>(99)</a:t>
                      </a:r>
                      <a:endParaRPr kumimoji="1" lang="ja-JP" altLang="en-US" dirty="0"/>
                    </a:p>
                  </a:txBody>
                  <a:tcPr/>
                </a:tc>
                <a:tc>
                  <a:txBody>
                    <a:bodyPr/>
                    <a:lstStyle/>
                    <a:p>
                      <a:pPr algn="ctr"/>
                      <a:r>
                        <a:rPr kumimoji="1" lang="en-US" altLang="ja-JP" dirty="0"/>
                        <a:t>3562</a:t>
                      </a:r>
                      <a:endParaRPr kumimoji="1" lang="ja-JP" altLang="en-US" dirty="0"/>
                    </a:p>
                  </a:txBody>
                  <a:tcPr/>
                </a:tc>
                <a:extLst>
                  <a:ext uri="{0D108BD9-81ED-4DB2-BD59-A6C34878D82A}">
                    <a16:rowId xmlns:a16="http://schemas.microsoft.com/office/drawing/2014/main" val="10004"/>
                  </a:ext>
                </a:extLst>
              </a:tr>
              <a:tr h="370840">
                <a:tc>
                  <a:txBody>
                    <a:bodyPr/>
                    <a:lstStyle/>
                    <a:p>
                      <a:r>
                        <a:rPr kumimoji="1" lang="ja-JP" altLang="en-US" dirty="0"/>
                        <a:t>サーバ</a:t>
                      </a:r>
                      <a:r>
                        <a:rPr kumimoji="1" lang="en-US" altLang="ja-JP" dirty="0"/>
                        <a:t>JavaScript</a:t>
                      </a:r>
                      <a:endParaRPr kumimoji="1" lang="ja-JP" altLang="en-US" dirty="0"/>
                    </a:p>
                  </a:txBody>
                  <a:tcPr/>
                </a:tc>
                <a:tc>
                  <a:txBody>
                    <a:bodyPr/>
                    <a:lstStyle/>
                    <a:p>
                      <a:pPr algn="ctr"/>
                      <a:r>
                        <a:rPr kumimoji="1" lang="en-US" altLang="ja-JP" dirty="0"/>
                        <a:t>-</a:t>
                      </a:r>
                      <a:endParaRPr kumimoji="1" lang="ja-JP" altLang="en-US" dirty="0"/>
                    </a:p>
                  </a:txBody>
                  <a:tcPr/>
                </a:tc>
                <a:tc>
                  <a:txBody>
                    <a:bodyPr/>
                    <a:lstStyle/>
                    <a:p>
                      <a:pPr algn="ctr"/>
                      <a:r>
                        <a:rPr kumimoji="1" lang="en-US" altLang="ja-JP" dirty="0"/>
                        <a:t>14126</a:t>
                      </a:r>
                      <a:endParaRPr kumimoji="1" lang="ja-JP" altLang="en-US" dirty="0"/>
                    </a:p>
                  </a:txBody>
                  <a:tcPr/>
                </a:tc>
                <a:tc>
                  <a:txBody>
                    <a:bodyPr/>
                    <a:lstStyle/>
                    <a:p>
                      <a:pPr algn="ctr"/>
                      <a:r>
                        <a:rPr kumimoji="1" lang="en-US" altLang="ja-JP" dirty="0"/>
                        <a:t>11264</a:t>
                      </a:r>
                      <a:endParaRPr kumimoji="1" lang="ja-JP" altLang="en-US" dirty="0"/>
                    </a:p>
                  </a:txBody>
                  <a:tcPr/>
                </a:tc>
                <a:extLst>
                  <a:ext uri="{0D108BD9-81ED-4DB2-BD59-A6C34878D82A}">
                    <a16:rowId xmlns:a16="http://schemas.microsoft.com/office/drawing/2014/main" val="10005"/>
                  </a:ext>
                </a:extLst>
              </a:tr>
              <a:tr h="182880">
                <a:tc>
                  <a:txBody>
                    <a:bodyPr/>
                    <a:lstStyle/>
                    <a:p>
                      <a:r>
                        <a:rPr kumimoji="1" lang="en-US" altLang="ja-JP" dirty="0"/>
                        <a:t>Java</a:t>
                      </a:r>
                      <a:endParaRPr kumimoji="1" lang="ja-JP" altLang="en-US" dirty="0"/>
                    </a:p>
                  </a:txBody>
                  <a:tcPr/>
                </a:tc>
                <a:tc>
                  <a:txBody>
                    <a:bodyPr/>
                    <a:lstStyle/>
                    <a:p>
                      <a:pPr algn="ctr"/>
                      <a:r>
                        <a:rPr kumimoji="1" lang="en-US" altLang="ja-JP" dirty="0"/>
                        <a:t>36779</a:t>
                      </a:r>
                      <a:endParaRPr kumimoji="1" lang="ja-JP" altLang="en-US" dirty="0"/>
                    </a:p>
                  </a:txBody>
                  <a:tcPr/>
                </a:tc>
                <a:tc>
                  <a:txBody>
                    <a:bodyPr/>
                    <a:lstStyle/>
                    <a:p>
                      <a:pPr algn="ctr"/>
                      <a:r>
                        <a:rPr kumimoji="1" lang="en-US" altLang="ja-JP" dirty="0"/>
                        <a:t>13073</a:t>
                      </a:r>
                      <a:endParaRPr kumimoji="1" lang="ja-JP" altLang="en-US" dirty="0"/>
                    </a:p>
                  </a:txBody>
                  <a:tcPr/>
                </a:tc>
                <a:tc>
                  <a:txBody>
                    <a:bodyPr/>
                    <a:lstStyle/>
                    <a:p>
                      <a:pPr algn="ctr"/>
                      <a:r>
                        <a:rPr kumimoji="1" lang="en-US" altLang="ja-JP" dirty="0"/>
                        <a:t>6220</a:t>
                      </a:r>
                      <a:endParaRPr kumimoji="1" lang="ja-JP" altLang="en-US" dirty="0"/>
                    </a:p>
                  </a:txBody>
                  <a:tcPr/>
                </a:tc>
                <a:extLst>
                  <a:ext uri="{0D108BD9-81ED-4DB2-BD59-A6C34878D82A}">
                    <a16:rowId xmlns:a16="http://schemas.microsoft.com/office/drawing/2014/main" val="10006"/>
                  </a:ext>
                </a:extLst>
              </a:tr>
              <a:tr h="185420">
                <a:tc>
                  <a:txBody>
                    <a:bodyPr/>
                    <a:lstStyle/>
                    <a:p>
                      <a:r>
                        <a:rPr kumimoji="1" lang="en-US" altLang="ja-JP" dirty="0"/>
                        <a:t>Excel</a:t>
                      </a:r>
                      <a:r>
                        <a:rPr kumimoji="1" lang="ja-JP" altLang="en-US" dirty="0"/>
                        <a:t>マクロ</a:t>
                      </a:r>
                    </a:p>
                  </a:txBody>
                  <a:tcPr/>
                </a:tc>
                <a:tc>
                  <a:txBody>
                    <a:bodyPr/>
                    <a:lstStyle/>
                    <a:p>
                      <a:pPr algn="ctr"/>
                      <a:r>
                        <a:rPr kumimoji="1" lang="en-US" altLang="ja-JP" dirty="0"/>
                        <a:t>3210</a:t>
                      </a:r>
                      <a:endParaRPr kumimoji="1" lang="ja-JP" altLang="en-US" dirty="0"/>
                    </a:p>
                  </a:txBody>
                  <a:tcPr/>
                </a:tc>
                <a:tc>
                  <a:txBody>
                    <a:bodyPr/>
                    <a:lstStyle/>
                    <a:p>
                      <a:pPr algn="ctr"/>
                      <a:r>
                        <a:rPr kumimoji="1" lang="en-US" altLang="ja-JP" dirty="0"/>
                        <a:t>2424</a:t>
                      </a:r>
                      <a:endParaRPr kumimoji="1" lang="ja-JP" altLang="en-US" dirty="0"/>
                    </a:p>
                  </a:txBody>
                  <a:tcPr/>
                </a:tc>
                <a:tc>
                  <a:txBody>
                    <a:bodyPr/>
                    <a:lstStyle/>
                    <a:p>
                      <a:pPr algn="ctr"/>
                      <a:r>
                        <a:rPr kumimoji="1" lang="en-US" altLang="ja-JP" dirty="0"/>
                        <a:t>-</a:t>
                      </a:r>
                      <a:endParaRPr kumimoji="1" lang="ja-JP" altLang="en-US" dirty="0"/>
                    </a:p>
                  </a:txBody>
                  <a:tcPr/>
                </a:tc>
                <a:extLst>
                  <a:ext uri="{0D108BD9-81ED-4DB2-BD59-A6C34878D82A}">
                    <a16:rowId xmlns:a16="http://schemas.microsoft.com/office/drawing/2014/main" val="10007"/>
                  </a:ext>
                </a:extLst>
              </a:tr>
              <a:tr h="182880">
                <a:tc>
                  <a:txBody>
                    <a:bodyPr/>
                    <a:lstStyle/>
                    <a:p>
                      <a:r>
                        <a:rPr lang="ja-JP" altLang="en-US" dirty="0"/>
                        <a:t>プロシージャ</a:t>
                      </a:r>
                    </a:p>
                  </a:txBody>
                  <a:tcPr/>
                </a:tc>
                <a:tc>
                  <a:txBody>
                    <a:bodyPr/>
                    <a:lstStyle/>
                    <a:p>
                      <a:pPr algn="ctr"/>
                      <a:r>
                        <a:rPr lang="en-US" altLang="ja-JP" dirty="0"/>
                        <a:t>896</a:t>
                      </a:r>
                      <a:endParaRPr lang="ja-JP" altLang="en-US" dirty="0"/>
                    </a:p>
                  </a:txBody>
                  <a:tcPr/>
                </a:tc>
                <a:tc>
                  <a:txBody>
                    <a:bodyPr/>
                    <a:lstStyle/>
                    <a:p>
                      <a:pPr algn="ctr"/>
                      <a:r>
                        <a:rPr lang="en-US" altLang="ja-JP" dirty="0"/>
                        <a:t>618</a:t>
                      </a:r>
                      <a:endParaRPr lang="ja-JP" altLang="en-US" dirty="0"/>
                    </a:p>
                  </a:txBody>
                  <a:tcPr/>
                </a:tc>
                <a:tc>
                  <a:txBody>
                    <a:bodyPr/>
                    <a:lstStyle/>
                    <a:p>
                      <a:pPr algn="ctr"/>
                      <a:r>
                        <a:rPr lang="en-US" altLang="ja-JP" dirty="0"/>
                        <a:t>352</a:t>
                      </a:r>
                      <a:endParaRPr lang="ja-JP" altLang="en-US" dirty="0"/>
                    </a:p>
                  </a:txBody>
                  <a:tcPr/>
                </a:tc>
                <a:extLst>
                  <a:ext uri="{0D108BD9-81ED-4DB2-BD59-A6C34878D82A}">
                    <a16:rowId xmlns:a16="http://schemas.microsoft.com/office/drawing/2014/main" val="10008"/>
                  </a:ext>
                </a:extLst>
              </a:tr>
              <a:tr h="182880">
                <a:tc>
                  <a:txBody>
                    <a:bodyPr/>
                    <a:lstStyle/>
                    <a:p>
                      <a:r>
                        <a:rPr kumimoji="1" lang="ja-JP" altLang="en-US" dirty="0"/>
                        <a:t>合計</a:t>
                      </a:r>
                    </a:p>
                  </a:txBody>
                  <a:tcPr/>
                </a:tc>
                <a:tc>
                  <a:txBody>
                    <a:bodyPr/>
                    <a:lstStyle/>
                    <a:p>
                      <a:pPr algn="ctr"/>
                      <a:r>
                        <a:rPr kumimoji="1" lang="en-US" altLang="ja-JP" dirty="0"/>
                        <a:t>66385</a:t>
                      </a:r>
                      <a:endParaRPr kumimoji="1" lang="ja-JP" altLang="en-US" dirty="0"/>
                    </a:p>
                  </a:txBody>
                  <a:tcPr/>
                </a:tc>
                <a:tc>
                  <a:txBody>
                    <a:bodyPr/>
                    <a:lstStyle/>
                    <a:p>
                      <a:pPr algn="ctr"/>
                      <a:r>
                        <a:rPr kumimoji="1" lang="en-US" altLang="ja-JP" dirty="0"/>
                        <a:t>44923</a:t>
                      </a:r>
                      <a:endParaRPr kumimoji="1" lang="ja-JP" altLang="en-US" dirty="0"/>
                    </a:p>
                  </a:txBody>
                  <a:tcPr/>
                </a:tc>
                <a:tc>
                  <a:txBody>
                    <a:bodyPr/>
                    <a:lstStyle/>
                    <a:p>
                      <a:pPr algn="ctr"/>
                      <a:r>
                        <a:rPr kumimoji="1" lang="en-US" altLang="ja-JP" dirty="0"/>
                        <a:t>29508</a:t>
                      </a:r>
                      <a:endParaRPr kumimoji="1" lang="ja-JP" altLang="en-US" dirty="0"/>
                    </a:p>
                  </a:txBody>
                  <a:tcPr/>
                </a:tc>
                <a:extLst>
                  <a:ext uri="{0D108BD9-81ED-4DB2-BD59-A6C34878D82A}">
                    <a16:rowId xmlns:a16="http://schemas.microsoft.com/office/drawing/2014/main" val="10009"/>
                  </a:ext>
                </a:extLst>
              </a:tr>
              <a:tr h="182880">
                <a:tc>
                  <a:txBody>
                    <a:bodyPr/>
                    <a:lstStyle/>
                    <a:p>
                      <a:r>
                        <a:rPr lang="ja-JP" altLang="en-US" dirty="0"/>
                        <a:t>製造＆単体人月数</a:t>
                      </a:r>
                    </a:p>
                  </a:txBody>
                  <a:tcPr/>
                </a:tc>
                <a:tc>
                  <a:txBody>
                    <a:bodyPr/>
                    <a:lstStyle/>
                    <a:p>
                      <a:endParaRPr lang="ja-JP" altLang="en-US"/>
                    </a:p>
                  </a:txBody>
                  <a:tcPr/>
                </a:tc>
                <a:tc>
                  <a:txBody>
                    <a:bodyPr/>
                    <a:lstStyle/>
                    <a:p>
                      <a:pPr algn="ctr"/>
                      <a:r>
                        <a:rPr lang="en-US" altLang="ja-JP" dirty="0"/>
                        <a:t>17</a:t>
                      </a:r>
                      <a:r>
                        <a:rPr lang="ja-JP" altLang="en-US" dirty="0"/>
                        <a:t>人月</a:t>
                      </a:r>
                    </a:p>
                  </a:txBody>
                  <a:tcPr/>
                </a:tc>
                <a:tc>
                  <a:txBody>
                    <a:bodyPr/>
                    <a:lstStyle/>
                    <a:p>
                      <a:endParaRPr lang="ja-JP" altLang="en-US" dirty="0"/>
                    </a:p>
                  </a:txBody>
                  <a:tcPr/>
                </a:tc>
                <a:extLst>
                  <a:ext uri="{0D108BD9-81ED-4DB2-BD59-A6C34878D82A}">
                    <a16:rowId xmlns:a16="http://schemas.microsoft.com/office/drawing/2014/main" val="10010"/>
                  </a:ext>
                </a:extLst>
              </a:tr>
              <a:tr h="182880">
                <a:tc>
                  <a:txBody>
                    <a:bodyPr/>
                    <a:lstStyle/>
                    <a:p>
                      <a:r>
                        <a:rPr kumimoji="1" lang="ja-JP" altLang="en-US" dirty="0"/>
                        <a:t>生産性（</a:t>
                      </a:r>
                      <a:r>
                        <a:rPr kumimoji="1" lang="en-US" altLang="ja-JP" dirty="0"/>
                        <a:t>L/</a:t>
                      </a:r>
                      <a:r>
                        <a:rPr kumimoji="1" lang="ja-JP" altLang="en-US" dirty="0"/>
                        <a:t>人日）</a:t>
                      </a:r>
                    </a:p>
                  </a:txBody>
                  <a:tcPr/>
                </a:tc>
                <a:tc>
                  <a:txBody>
                    <a:bodyPr/>
                    <a:lstStyle/>
                    <a:p>
                      <a:pPr algn="ctr"/>
                      <a:endParaRPr kumimoji="1" lang="ja-JP" altLang="en-US" dirty="0"/>
                    </a:p>
                  </a:txBody>
                  <a:tcPr/>
                </a:tc>
                <a:tc>
                  <a:txBody>
                    <a:bodyPr/>
                    <a:lstStyle/>
                    <a:p>
                      <a:pPr algn="ctr"/>
                      <a:r>
                        <a:rPr kumimoji="1" lang="en-US" altLang="ja-JP" dirty="0"/>
                        <a:t>132</a:t>
                      </a:r>
                      <a:endParaRPr kumimoji="1" lang="ja-JP" altLang="en-US" dirty="0"/>
                    </a:p>
                  </a:txBody>
                  <a:tcPr/>
                </a:tc>
                <a:tc>
                  <a:txBody>
                    <a:bodyPr/>
                    <a:lstStyle/>
                    <a:p>
                      <a:pPr algn="ctr"/>
                      <a:endParaRPr kumimoji="1" lang="ja-JP" altLang="en-US" dirty="0"/>
                    </a:p>
                  </a:txBody>
                  <a:tcPr/>
                </a:tc>
                <a:extLst>
                  <a:ext uri="{0D108BD9-81ED-4DB2-BD59-A6C34878D82A}">
                    <a16:rowId xmlns:a16="http://schemas.microsoft.com/office/drawing/2014/main" val="1131467116"/>
                  </a:ext>
                </a:extLst>
              </a:tr>
            </a:tbl>
          </a:graphicData>
        </a:graphic>
      </p:graphicFrame>
      <p:sp>
        <p:nvSpPr>
          <p:cNvPr id="6" name="Rectangle 3"/>
          <p:cNvSpPr>
            <a:spLocks noChangeArrowheads="1"/>
          </p:cNvSpPr>
          <p:nvPr/>
        </p:nvSpPr>
        <p:spPr bwMode="auto">
          <a:xfrm>
            <a:off x="231501" y="5505886"/>
            <a:ext cx="8723313" cy="1169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ja-JP"/>
            </a:defPPr>
            <a:lvl1pPr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1pPr>
            <a:lvl2pPr marL="4572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2pPr>
            <a:lvl3pPr marL="9144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3pPr>
            <a:lvl4pPr marL="13716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4pPr>
            <a:lvl5pPr marL="18288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5pPr>
            <a:lvl6pPr marL="2286000" algn="l" defTabSz="914400" rtl="0" eaLnBrk="1" latinLnBrk="0" hangingPunct="1">
              <a:defRPr kumimoji="1" sz="1100" kern="1200">
                <a:solidFill>
                  <a:schemeClr val="tx1"/>
                </a:solidFill>
                <a:latin typeface="Arial" charset="0"/>
                <a:ea typeface="ＭＳ Ｐゴシック" pitchFamily="50" charset="-128"/>
                <a:cs typeface="+mn-cs"/>
              </a:defRPr>
            </a:lvl6pPr>
            <a:lvl7pPr marL="2743200" algn="l" defTabSz="914400" rtl="0" eaLnBrk="1" latinLnBrk="0" hangingPunct="1">
              <a:defRPr kumimoji="1" sz="1100" kern="1200">
                <a:solidFill>
                  <a:schemeClr val="tx1"/>
                </a:solidFill>
                <a:latin typeface="Arial" charset="0"/>
                <a:ea typeface="ＭＳ Ｐゴシック" pitchFamily="50" charset="-128"/>
                <a:cs typeface="+mn-cs"/>
              </a:defRPr>
            </a:lvl7pPr>
            <a:lvl8pPr marL="3200400" algn="l" defTabSz="914400" rtl="0" eaLnBrk="1" latinLnBrk="0" hangingPunct="1">
              <a:defRPr kumimoji="1" sz="1100" kern="1200">
                <a:solidFill>
                  <a:schemeClr val="tx1"/>
                </a:solidFill>
                <a:latin typeface="Arial" charset="0"/>
                <a:ea typeface="ＭＳ Ｐゴシック" pitchFamily="50" charset="-128"/>
                <a:cs typeface="+mn-cs"/>
              </a:defRPr>
            </a:lvl8pPr>
            <a:lvl9pPr marL="3657600" algn="l" defTabSz="914400" rtl="0" eaLnBrk="1" latinLnBrk="0" hangingPunct="1">
              <a:defRPr kumimoji="1" sz="1100" kern="1200">
                <a:solidFill>
                  <a:schemeClr val="tx1"/>
                </a:solidFill>
                <a:latin typeface="Arial" charset="0"/>
                <a:ea typeface="ＭＳ Ｐゴシック" pitchFamily="50" charset="-128"/>
                <a:cs typeface="+mn-cs"/>
              </a:defRPr>
            </a:lvl9pPr>
          </a:lstStyle>
          <a:p>
            <a:pPr eaLnBrk="1" latinLnBrk="1" hangingPunct="1">
              <a:lnSpc>
                <a:spcPct val="150000"/>
              </a:lnSpc>
              <a:spcBef>
                <a:spcPct val="25000"/>
              </a:spcBef>
            </a:pPr>
            <a:r>
              <a:rPr lang="ja-JP" altLang="en-US" sz="1400" dirty="0">
                <a:latin typeface="Meiryo UI" pitchFamily="50" charset="-128"/>
                <a:ea typeface="Meiryo UI" pitchFamily="50" charset="-128"/>
                <a:cs typeface="Meiryo UI" pitchFamily="50" charset="-128"/>
              </a:rPr>
              <a:t>旧版：</a:t>
            </a:r>
            <a:r>
              <a:rPr lang="en-US" altLang="ja-JP" sz="1400" dirty="0" err="1">
                <a:latin typeface="Meiryo UI" pitchFamily="50" charset="-128"/>
                <a:ea typeface="Meiryo UI" pitchFamily="50" charset="-128"/>
                <a:cs typeface="Meiryo UI" pitchFamily="50" charset="-128"/>
              </a:rPr>
              <a:t>jsp</a:t>
            </a:r>
            <a:r>
              <a:rPr lang="en-US" altLang="ja-JP" sz="1400" dirty="0">
                <a:latin typeface="Meiryo UI" pitchFamily="50" charset="-128"/>
                <a:ea typeface="Meiryo UI" pitchFamily="50" charset="-128"/>
                <a:cs typeface="Meiryo UI" pitchFamily="50" charset="-128"/>
              </a:rPr>
              <a:t> Bean</a:t>
            </a:r>
            <a:r>
              <a:rPr lang="ja-JP" altLang="en-US" sz="1400" dirty="0">
                <a:latin typeface="Meiryo UI" pitchFamily="50" charset="-128"/>
                <a:ea typeface="Meiryo UI" pitchFamily="50" charset="-128"/>
                <a:cs typeface="Meiryo UI" pitchFamily="50" charset="-128"/>
              </a:rPr>
              <a:t>構成、インライン</a:t>
            </a:r>
            <a:r>
              <a:rPr lang="en-US" altLang="ja-JP" sz="1400" dirty="0">
                <a:latin typeface="Meiryo UI" pitchFamily="50" charset="-128"/>
                <a:ea typeface="Meiryo UI" pitchFamily="50" charset="-128"/>
                <a:cs typeface="Meiryo UI" pitchFamily="50" charset="-128"/>
              </a:rPr>
              <a:t>SQL</a:t>
            </a:r>
          </a:p>
          <a:p>
            <a:pPr eaLnBrk="1" latinLnBrk="1" hangingPunct="1">
              <a:lnSpc>
                <a:spcPct val="150000"/>
              </a:lnSpc>
              <a:spcBef>
                <a:spcPct val="25000"/>
              </a:spcBef>
            </a:pPr>
            <a:r>
              <a:rPr lang="ja-JP" altLang="en-US" sz="1400" dirty="0">
                <a:latin typeface="Meiryo UI" pitchFamily="50" charset="-128"/>
                <a:ea typeface="Meiryo UI" pitchFamily="50" charset="-128"/>
                <a:cs typeface="Meiryo UI" pitchFamily="50" charset="-128"/>
              </a:rPr>
              <a:t>リニューアル版：旧版と仕様同等。</a:t>
            </a:r>
            <a:r>
              <a:rPr lang="en-US" altLang="ja-JP" sz="1400" dirty="0">
                <a:latin typeface="Meiryo UI" pitchFamily="50" charset="-128"/>
                <a:ea typeface="Meiryo UI" pitchFamily="50" charset="-128"/>
                <a:cs typeface="Meiryo UI" pitchFamily="50" charset="-128"/>
              </a:rPr>
              <a:t>HTML5</a:t>
            </a:r>
            <a:r>
              <a:rPr lang="ja-JP" altLang="en-US" sz="1400" dirty="0">
                <a:latin typeface="Meiryo UI" pitchFamily="50" charset="-128"/>
                <a:ea typeface="Meiryo UI" pitchFamily="50" charset="-128"/>
                <a:cs typeface="Meiryo UI" pitchFamily="50" charset="-128"/>
              </a:rPr>
              <a:t>対応のため、画面を</a:t>
            </a:r>
            <a:r>
              <a:rPr lang="en-US" altLang="ja-JP" sz="1400" dirty="0">
                <a:latin typeface="Meiryo UI" pitchFamily="50" charset="-128"/>
                <a:ea typeface="Meiryo UI" pitchFamily="50" charset="-128"/>
                <a:cs typeface="Meiryo UI" pitchFamily="50" charset="-128"/>
              </a:rPr>
              <a:t>EFW</a:t>
            </a:r>
            <a:r>
              <a:rPr lang="ja-JP" altLang="en-US" sz="1400" dirty="0">
                <a:latin typeface="Meiryo UI" pitchFamily="50" charset="-128"/>
                <a:ea typeface="Meiryo UI" pitchFamily="50" charset="-128"/>
                <a:cs typeface="Meiryo UI" pitchFamily="50" charset="-128"/>
              </a:rPr>
              <a:t>でリニューアル、出力などのロジックを流用</a:t>
            </a:r>
            <a:endParaRPr lang="en-US" altLang="ja-JP" sz="1400" dirty="0">
              <a:latin typeface="Meiryo UI" pitchFamily="50" charset="-128"/>
              <a:ea typeface="Meiryo UI" pitchFamily="50" charset="-128"/>
              <a:cs typeface="Meiryo UI" pitchFamily="50" charset="-128"/>
            </a:endParaRPr>
          </a:p>
          <a:p>
            <a:pPr eaLnBrk="1" latinLnBrk="1" hangingPunct="1">
              <a:lnSpc>
                <a:spcPct val="150000"/>
              </a:lnSpc>
              <a:spcBef>
                <a:spcPct val="25000"/>
              </a:spcBef>
            </a:pPr>
            <a:r>
              <a:rPr lang="ja-JP" altLang="en-US" sz="1400" dirty="0">
                <a:latin typeface="Meiryo UI" pitchFamily="50" charset="-128"/>
                <a:ea typeface="Meiryo UI" pitchFamily="50" charset="-128"/>
                <a:cs typeface="Meiryo UI" pitchFamily="50" charset="-128"/>
              </a:rPr>
              <a:t>パッケージ版：不要機能を削除、実現方法を調整。</a:t>
            </a:r>
            <a:r>
              <a:rPr lang="en-US" altLang="ja-JP" sz="1400" dirty="0" err="1">
                <a:latin typeface="Meiryo UI" pitchFamily="50" charset="-128"/>
                <a:ea typeface="Meiryo UI" pitchFamily="50" charset="-128"/>
                <a:cs typeface="Meiryo UI" pitchFamily="50" charset="-128"/>
              </a:rPr>
              <a:t>Efw</a:t>
            </a:r>
            <a:r>
              <a:rPr lang="ja-JP" altLang="en-US" sz="1400" dirty="0">
                <a:latin typeface="Meiryo UI" pitchFamily="50" charset="-128"/>
                <a:ea typeface="Meiryo UI" pitchFamily="50" charset="-128"/>
                <a:cs typeface="Meiryo UI" pitchFamily="50" charset="-128"/>
              </a:rPr>
              <a:t>の割合がもっと高くなった</a:t>
            </a:r>
            <a:endParaRPr lang="en-US" altLang="ja-JP" sz="1400" dirty="0">
              <a:latin typeface="Meiryo UI" pitchFamily="50" charset="-128"/>
              <a:ea typeface="Meiryo UI" pitchFamily="50" charset="-128"/>
              <a:cs typeface="Meiryo UI" pitchFamily="50" charset="-128"/>
            </a:endParaRPr>
          </a:p>
        </p:txBody>
      </p:sp>
    </p:spTree>
    <p:custDataLst>
      <p:tags r:id="rId1"/>
    </p:custDataLst>
    <p:extLst>
      <p:ext uri="{BB962C8B-B14F-4D97-AF65-F5344CB8AC3E}">
        <p14:creationId xmlns:p14="http://schemas.microsoft.com/office/powerpoint/2010/main" val="14523815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a:extLst>
              <a:ext uri="{FF2B5EF4-FFF2-40B4-BE49-F238E27FC236}">
                <a16:creationId xmlns:a16="http://schemas.microsoft.com/office/drawing/2014/main" id="{08BD6F89-66FB-47AD-BFB8-B1F4EB82B56F}"/>
              </a:ext>
            </a:extLst>
          </p:cNvPr>
          <p:cNvPicPr>
            <a:picLocks noChangeAspect="1"/>
          </p:cNvPicPr>
          <p:nvPr/>
        </p:nvPicPr>
        <p:blipFill>
          <a:blip r:embed="rId4"/>
          <a:stretch>
            <a:fillRect/>
          </a:stretch>
        </p:blipFill>
        <p:spPr>
          <a:xfrm>
            <a:off x="5624136" y="1529145"/>
            <a:ext cx="3247280" cy="3047885"/>
          </a:xfrm>
          <a:prstGeom prst="rect">
            <a:avLst/>
          </a:prstGeom>
          <a:effectLst>
            <a:outerShdw blurRad="50800" dist="38100" dir="2700000" algn="tl" rotWithShape="0">
              <a:prstClr val="black">
                <a:alpha val="40000"/>
              </a:prstClr>
            </a:outerShdw>
          </a:effectLst>
        </p:spPr>
      </p:pic>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15</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5"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添付．営業システム（</a:t>
            </a:r>
            <a:r>
              <a:rPr lang="en-US" altLang="ja-JP" sz="2800" dirty="0">
                <a:solidFill>
                  <a:schemeClr val="tx2"/>
                </a:solidFill>
                <a:latin typeface="Meiryo UI" pitchFamily="50" charset="-128"/>
                <a:ea typeface="Meiryo UI" pitchFamily="50" charset="-128"/>
                <a:cs typeface="Meiryo UI" pitchFamily="50" charset="-128"/>
              </a:rPr>
              <a:t>EFW</a:t>
            </a:r>
            <a:r>
              <a:rPr lang="ja-JP" altLang="en-US" sz="2800" dirty="0">
                <a:solidFill>
                  <a:schemeClr val="tx2"/>
                </a:solidFill>
                <a:latin typeface="Meiryo UI" pitchFamily="50" charset="-128"/>
                <a:ea typeface="Meiryo UI" pitchFamily="50" charset="-128"/>
                <a:cs typeface="Meiryo UI" pitchFamily="50" charset="-128"/>
              </a:rPr>
              <a:t>開発）の分析</a:t>
            </a:r>
          </a:p>
        </p:txBody>
      </p:sp>
      <p:graphicFrame>
        <p:nvGraphicFramePr>
          <p:cNvPr id="3" name="表 2"/>
          <p:cNvGraphicFramePr>
            <a:graphicFrameLocks noGrp="1"/>
          </p:cNvGraphicFramePr>
          <p:nvPr>
            <p:extLst>
              <p:ext uri="{D42A27DB-BD31-4B8C-83A1-F6EECF244321}">
                <p14:modId xmlns:p14="http://schemas.microsoft.com/office/powerpoint/2010/main" val="3151468806"/>
              </p:ext>
            </p:extLst>
          </p:nvPr>
        </p:nvGraphicFramePr>
        <p:xfrm>
          <a:off x="264014" y="1121104"/>
          <a:ext cx="5214222" cy="4409440"/>
        </p:xfrm>
        <a:graphic>
          <a:graphicData uri="http://schemas.openxmlformats.org/drawingml/2006/table">
            <a:tbl>
              <a:tblPr firstRow="1" bandRow="1">
                <a:tableStyleId>{5C22544A-7EE6-4342-B048-85BDC9FD1C3A}</a:tableStyleId>
              </a:tblPr>
              <a:tblGrid>
                <a:gridCol w="3360929">
                  <a:extLst>
                    <a:ext uri="{9D8B030D-6E8A-4147-A177-3AD203B41FA5}">
                      <a16:colId xmlns:a16="http://schemas.microsoft.com/office/drawing/2014/main" val="20000"/>
                    </a:ext>
                  </a:extLst>
                </a:gridCol>
                <a:gridCol w="1853293">
                  <a:extLst>
                    <a:ext uri="{9D8B030D-6E8A-4147-A177-3AD203B41FA5}">
                      <a16:colId xmlns:a16="http://schemas.microsoft.com/office/drawing/2014/main" val="20001"/>
                    </a:ext>
                  </a:extLst>
                </a:gridCol>
              </a:tblGrid>
              <a:tr h="370840">
                <a:tc>
                  <a:txBody>
                    <a:bodyPr/>
                    <a:lstStyle/>
                    <a:p>
                      <a:r>
                        <a:rPr kumimoji="1" lang="ja-JP" altLang="en-US" dirty="0"/>
                        <a:t>項目</a:t>
                      </a:r>
                    </a:p>
                  </a:txBody>
                  <a:tcPr/>
                </a:tc>
                <a:tc>
                  <a:txBody>
                    <a:bodyPr/>
                    <a:lstStyle/>
                    <a:p>
                      <a:r>
                        <a:rPr kumimoji="1" lang="ja-JP" altLang="en-US" dirty="0"/>
                        <a:t>行数</a:t>
                      </a:r>
                    </a:p>
                  </a:txBody>
                  <a:tcPr/>
                </a:tc>
                <a:extLst>
                  <a:ext uri="{0D108BD9-81ED-4DB2-BD59-A6C34878D82A}">
                    <a16:rowId xmlns:a16="http://schemas.microsoft.com/office/drawing/2014/main" val="10000"/>
                  </a:ext>
                </a:extLst>
              </a:tr>
              <a:tr h="370840">
                <a:tc>
                  <a:txBody>
                    <a:bodyPr/>
                    <a:lstStyle/>
                    <a:p>
                      <a:r>
                        <a:rPr kumimoji="1" lang="ja-JP" altLang="en-US" dirty="0"/>
                        <a:t>クライアント</a:t>
                      </a:r>
                      <a:r>
                        <a:rPr kumimoji="1" lang="en-US" altLang="ja-JP" dirty="0"/>
                        <a:t>JavaScript</a:t>
                      </a:r>
                      <a:endParaRPr kumimoji="1" lang="ja-JP" altLang="en-US" dirty="0"/>
                    </a:p>
                  </a:txBody>
                  <a:tcPr/>
                </a:tc>
                <a:tc>
                  <a:txBody>
                    <a:bodyPr/>
                    <a:lstStyle/>
                    <a:p>
                      <a:pPr algn="ctr"/>
                      <a:r>
                        <a:rPr kumimoji="1" lang="en-US" altLang="ja-JP" dirty="0"/>
                        <a:t>2148</a:t>
                      </a:r>
                      <a:endParaRPr kumimoji="1" lang="ja-JP" altLang="en-US" dirty="0"/>
                    </a:p>
                  </a:txBody>
                  <a:tcPr/>
                </a:tc>
                <a:extLst>
                  <a:ext uri="{0D108BD9-81ED-4DB2-BD59-A6C34878D82A}">
                    <a16:rowId xmlns:a16="http://schemas.microsoft.com/office/drawing/2014/main" val="10001"/>
                  </a:ext>
                </a:extLst>
              </a:tr>
              <a:tr h="370840">
                <a:tc>
                  <a:txBody>
                    <a:bodyPr/>
                    <a:lstStyle/>
                    <a:p>
                      <a:r>
                        <a:rPr kumimoji="1" lang="en-US" altLang="ja-JP" dirty="0"/>
                        <a:t>JSP</a:t>
                      </a:r>
                      <a:endParaRPr kumimoji="1" lang="ja-JP" altLang="en-US" dirty="0"/>
                    </a:p>
                  </a:txBody>
                  <a:tcPr/>
                </a:tc>
                <a:tc>
                  <a:txBody>
                    <a:bodyPr/>
                    <a:lstStyle/>
                    <a:p>
                      <a:pPr algn="ctr"/>
                      <a:r>
                        <a:rPr kumimoji="1" lang="en-US" altLang="ja-JP" dirty="0"/>
                        <a:t>2870</a:t>
                      </a:r>
                      <a:endParaRPr kumimoji="1" lang="ja-JP" altLang="en-US" dirty="0"/>
                    </a:p>
                  </a:txBody>
                  <a:tcPr/>
                </a:tc>
                <a:extLst>
                  <a:ext uri="{0D108BD9-81ED-4DB2-BD59-A6C34878D82A}">
                    <a16:rowId xmlns:a16="http://schemas.microsoft.com/office/drawing/2014/main" val="10002"/>
                  </a:ext>
                </a:extLst>
              </a:tr>
              <a:tr h="185420">
                <a:tc>
                  <a:txBody>
                    <a:bodyPr/>
                    <a:lstStyle/>
                    <a:p>
                      <a:r>
                        <a:rPr lang="en-US" altLang="ja-JP" dirty="0"/>
                        <a:t>HTML</a:t>
                      </a:r>
                      <a:endParaRPr lang="ja-JP" altLang="en-US" dirty="0"/>
                    </a:p>
                  </a:txBody>
                  <a:tcPr/>
                </a:tc>
                <a:tc>
                  <a:txBody>
                    <a:bodyPr/>
                    <a:lstStyle/>
                    <a:p>
                      <a:pPr algn="ctr"/>
                      <a:r>
                        <a:rPr lang="en-US" altLang="ja-JP" dirty="0"/>
                        <a:t>157</a:t>
                      </a:r>
                      <a:endParaRPr lang="ja-JP" altLang="en-US" dirty="0"/>
                    </a:p>
                  </a:txBody>
                  <a:tcPr/>
                </a:tc>
                <a:extLst>
                  <a:ext uri="{0D108BD9-81ED-4DB2-BD59-A6C34878D82A}">
                    <a16:rowId xmlns:a16="http://schemas.microsoft.com/office/drawing/2014/main" val="10003"/>
                  </a:ext>
                </a:extLst>
              </a:tr>
              <a:tr h="185420">
                <a:tc>
                  <a:txBody>
                    <a:bodyPr/>
                    <a:lstStyle/>
                    <a:p>
                      <a:r>
                        <a:rPr kumimoji="1" lang="ja-JP" altLang="en-US" dirty="0"/>
                        <a:t>外出し</a:t>
                      </a:r>
                      <a:r>
                        <a:rPr kumimoji="1" lang="en-US" altLang="ja-JP"/>
                        <a:t>SQL</a:t>
                      </a:r>
                      <a:r>
                        <a:rPr kumimoji="1" lang="en-US" altLang="ja-JP" sz="1000"/>
                        <a:t>(SLECT UPDATE DELETE</a:t>
                      </a:r>
                      <a:r>
                        <a:rPr kumimoji="1" lang="ja-JP" altLang="en-US" sz="1000"/>
                        <a:t>数</a:t>
                      </a:r>
                      <a:r>
                        <a:rPr kumimoji="1" lang="en-US" altLang="ja-JP" sz="1000"/>
                        <a:t>)</a:t>
                      </a:r>
                      <a:endParaRPr kumimoji="1" lang="ja-JP" altLang="en-US" sz="1000" dirty="0"/>
                    </a:p>
                  </a:txBody>
                  <a:tcPr/>
                </a:tc>
                <a:tc>
                  <a:txBody>
                    <a:bodyPr/>
                    <a:lstStyle/>
                    <a:p>
                      <a:pPr algn="ctr"/>
                      <a:r>
                        <a:rPr kumimoji="1" lang="en-US" altLang="ja-JP" dirty="0"/>
                        <a:t>2089 (97)</a:t>
                      </a:r>
                      <a:endParaRPr kumimoji="1" lang="ja-JP" altLang="en-US" dirty="0"/>
                    </a:p>
                  </a:txBody>
                  <a:tcPr/>
                </a:tc>
                <a:extLst>
                  <a:ext uri="{0D108BD9-81ED-4DB2-BD59-A6C34878D82A}">
                    <a16:rowId xmlns:a16="http://schemas.microsoft.com/office/drawing/2014/main" val="10004"/>
                  </a:ext>
                </a:extLst>
              </a:tr>
              <a:tr h="370840">
                <a:tc>
                  <a:txBody>
                    <a:bodyPr/>
                    <a:lstStyle/>
                    <a:p>
                      <a:r>
                        <a:rPr kumimoji="1" lang="ja-JP" altLang="en-US" dirty="0"/>
                        <a:t>サーバ</a:t>
                      </a:r>
                      <a:r>
                        <a:rPr kumimoji="1" lang="en-US" altLang="ja-JP" dirty="0"/>
                        <a:t>JavaScript</a:t>
                      </a:r>
                      <a:endParaRPr kumimoji="1" lang="ja-JP" altLang="en-US" dirty="0"/>
                    </a:p>
                  </a:txBody>
                  <a:tcPr/>
                </a:tc>
                <a:tc>
                  <a:txBody>
                    <a:bodyPr/>
                    <a:lstStyle/>
                    <a:p>
                      <a:pPr algn="ctr"/>
                      <a:r>
                        <a:rPr kumimoji="1" lang="en-US" altLang="ja-JP" dirty="0"/>
                        <a:t>9979</a:t>
                      </a:r>
                      <a:endParaRPr kumimoji="1" lang="ja-JP" altLang="en-US" dirty="0"/>
                    </a:p>
                  </a:txBody>
                  <a:tcPr/>
                </a:tc>
                <a:extLst>
                  <a:ext uri="{0D108BD9-81ED-4DB2-BD59-A6C34878D82A}">
                    <a16:rowId xmlns:a16="http://schemas.microsoft.com/office/drawing/2014/main" val="10005"/>
                  </a:ext>
                </a:extLst>
              </a:tr>
              <a:tr h="182880">
                <a:tc>
                  <a:txBody>
                    <a:bodyPr/>
                    <a:lstStyle/>
                    <a:p>
                      <a:r>
                        <a:rPr kumimoji="1" lang="en-US" altLang="ja-JP" dirty="0"/>
                        <a:t>Excel</a:t>
                      </a:r>
                      <a:r>
                        <a:rPr kumimoji="1" lang="ja-JP" altLang="en-US" dirty="0"/>
                        <a:t>マクロ</a:t>
                      </a:r>
                    </a:p>
                  </a:txBody>
                  <a:tcPr/>
                </a:tc>
                <a:tc>
                  <a:txBody>
                    <a:bodyPr/>
                    <a:lstStyle/>
                    <a:p>
                      <a:pPr algn="ctr"/>
                      <a:r>
                        <a:rPr kumimoji="1" lang="en-US" altLang="ja-JP" dirty="0"/>
                        <a:t>254</a:t>
                      </a:r>
                      <a:endParaRPr kumimoji="1" lang="ja-JP" altLang="en-US" dirty="0"/>
                    </a:p>
                  </a:txBody>
                  <a:tcPr/>
                </a:tc>
                <a:extLst>
                  <a:ext uri="{0D108BD9-81ED-4DB2-BD59-A6C34878D82A}">
                    <a16:rowId xmlns:a16="http://schemas.microsoft.com/office/drawing/2014/main" val="10006"/>
                  </a:ext>
                </a:extLst>
              </a:tr>
              <a:tr h="185420">
                <a:tc>
                  <a:txBody>
                    <a:bodyPr/>
                    <a:lstStyle/>
                    <a:p>
                      <a:endParaRPr lang="ja-JP" altLang="en-US"/>
                    </a:p>
                  </a:txBody>
                  <a:tcPr/>
                </a:tc>
                <a:tc>
                  <a:txBody>
                    <a:bodyPr/>
                    <a:lstStyle/>
                    <a:p>
                      <a:endParaRPr lang="ja-JP" altLang="en-US" dirty="0"/>
                    </a:p>
                  </a:txBody>
                  <a:tcPr/>
                </a:tc>
                <a:extLst>
                  <a:ext uri="{0D108BD9-81ED-4DB2-BD59-A6C34878D82A}">
                    <a16:rowId xmlns:a16="http://schemas.microsoft.com/office/drawing/2014/main" val="10007"/>
                  </a:ext>
                </a:extLst>
              </a:tr>
              <a:tr h="182880">
                <a:tc>
                  <a:txBody>
                    <a:bodyPr/>
                    <a:lstStyle/>
                    <a:p>
                      <a:endParaRPr lang="ja-JP" altLang="en-US" dirty="0"/>
                    </a:p>
                  </a:txBody>
                  <a:tcPr/>
                </a:tc>
                <a:tc>
                  <a:txBody>
                    <a:bodyPr/>
                    <a:lstStyle/>
                    <a:p>
                      <a:pPr algn="ctr"/>
                      <a:endParaRPr lang="ja-JP" altLang="en-US" dirty="0"/>
                    </a:p>
                  </a:txBody>
                  <a:tcPr/>
                </a:tc>
                <a:extLst>
                  <a:ext uri="{0D108BD9-81ED-4DB2-BD59-A6C34878D82A}">
                    <a16:rowId xmlns:a16="http://schemas.microsoft.com/office/drawing/2014/main" val="10008"/>
                  </a:ext>
                </a:extLst>
              </a:tr>
              <a:tr h="182880">
                <a:tc>
                  <a:txBody>
                    <a:bodyPr/>
                    <a:lstStyle/>
                    <a:p>
                      <a:r>
                        <a:rPr kumimoji="1" lang="ja-JP" altLang="en-US" dirty="0"/>
                        <a:t>合計</a:t>
                      </a:r>
                    </a:p>
                  </a:txBody>
                  <a:tcPr/>
                </a:tc>
                <a:tc>
                  <a:txBody>
                    <a:bodyPr/>
                    <a:lstStyle/>
                    <a:p>
                      <a:pPr algn="ctr"/>
                      <a:r>
                        <a:rPr kumimoji="1" lang="en-US" altLang="ja-JP" dirty="0"/>
                        <a:t>17497</a:t>
                      </a:r>
                      <a:endParaRPr kumimoji="1" lang="ja-JP" altLang="en-US" dirty="0"/>
                    </a:p>
                  </a:txBody>
                  <a:tcPr/>
                </a:tc>
                <a:extLst>
                  <a:ext uri="{0D108BD9-81ED-4DB2-BD59-A6C34878D82A}">
                    <a16:rowId xmlns:a16="http://schemas.microsoft.com/office/drawing/2014/main" val="10009"/>
                  </a:ext>
                </a:extLst>
              </a:tr>
              <a:tr h="182880">
                <a:tc>
                  <a:txBody>
                    <a:bodyPr/>
                    <a:lstStyle/>
                    <a:p>
                      <a:r>
                        <a:rPr lang="ja-JP" altLang="en-US" dirty="0"/>
                        <a:t>製造＆単体人月数</a:t>
                      </a:r>
                    </a:p>
                  </a:txBody>
                  <a:tcPr/>
                </a:tc>
                <a:tc>
                  <a:txBody>
                    <a:bodyPr/>
                    <a:lstStyle/>
                    <a:p>
                      <a:pPr algn="ctr"/>
                      <a:r>
                        <a:rPr lang="en-US" altLang="ja-JP" dirty="0"/>
                        <a:t>6.18</a:t>
                      </a:r>
                      <a:r>
                        <a:rPr lang="ja-JP" altLang="en-US" dirty="0"/>
                        <a:t>人月</a:t>
                      </a:r>
                    </a:p>
                  </a:txBody>
                  <a:tcPr/>
                </a:tc>
                <a:extLst>
                  <a:ext uri="{0D108BD9-81ED-4DB2-BD59-A6C34878D82A}">
                    <a16:rowId xmlns:a16="http://schemas.microsoft.com/office/drawing/2014/main" val="10010"/>
                  </a:ext>
                </a:extLst>
              </a:tr>
              <a:tr h="182880">
                <a:tc>
                  <a:txBody>
                    <a:bodyPr/>
                    <a:lstStyle/>
                    <a:p>
                      <a:r>
                        <a:rPr kumimoji="1" lang="ja-JP" altLang="en-US" dirty="0"/>
                        <a:t>生産性（</a:t>
                      </a:r>
                      <a:r>
                        <a:rPr kumimoji="1" lang="en-US" altLang="ja-JP" dirty="0"/>
                        <a:t>L/</a:t>
                      </a:r>
                      <a:r>
                        <a:rPr kumimoji="1" lang="ja-JP" altLang="en-US" dirty="0"/>
                        <a:t>人日）</a:t>
                      </a:r>
                    </a:p>
                  </a:txBody>
                  <a:tcPr/>
                </a:tc>
                <a:tc>
                  <a:txBody>
                    <a:bodyPr/>
                    <a:lstStyle/>
                    <a:p>
                      <a:pPr algn="ctr"/>
                      <a:r>
                        <a:rPr kumimoji="1" lang="en-US" altLang="ja-JP" dirty="0"/>
                        <a:t>142</a:t>
                      </a:r>
                      <a:endParaRPr kumimoji="1" lang="ja-JP" altLang="en-US" dirty="0"/>
                    </a:p>
                  </a:txBody>
                  <a:tcPr/>
                </a:tc>
                <a:extLst>
                  <a:ext uri="{0D108BD9-81ED-4DB2-BD59-A6C34878D82A}">
                    <a16:rowId xmlns:a16="http://schemas.microsoft.com/office/drawing/2014/main" val="1131467116"/>
                  </a:ext>
                </a:extLst>
              </a:tr>
            </a:tbl>
          </a:graphicData>
        </a:graphic>
      </p:graphicFrame>
      <p:sp>
        <p:nvSpPr>
          <p:cNvPr id="2" name="テキスト ボックス 1">
            <a:extLst>
              <a:ext uri="{FF2B5EF4-FFF2-40B4-BE49-F238E27FC236}">
                <a16:creationId xmlns:a16="http://schemas.microsoft.com/office/drawing/2014/main" id="{059C52F4-A8AF-4770-B5C5-04BAC39D44D0}"/>
              </a:ext>
            </a:extLst>
          </p:cNvPr>
          <p:cNvSpPr txBox="1"/>
          <p:nvPr/>
        </p:nvSpPr>
        <p:spPr>
          <a:xfrm>
            <a:off x="5698671" y="4698564"/>
            <a:ext cx="2656151" cy="369332"/>
          </a:xfrm>
          <a:prstGeom prst="rect">
            <a:avLst/>
          </a:prstGeom>
          <a:noFill/>
        </p:spPr>
        <p:txBody>
          <a:bodyPr wrap="square" rtlCol="0">
            <a:spAutoFit/>
          </a:bodyPr>
          <a:lstStyle/>
          <a:p>
            <a:r>
              <a:rPr lang="en-US" altLang="ja-JP" dirty="0"/>
              <a:t>※</a:t>
            </a:r>
            <a:r>
              <a:rPr lang="ja-JP" altLang="en-US" dirty="0"/>
              <a:t>代表画面イメージ</a:t>
            </a:r>
            <a:endParaRPr kumimoji="1" lang="ja-JP" altLang="en-US" dirty="0"/>
          </a:p>
        </p:txBody>
      </p:sp>
    </p:spTree>
    <p:custDataLst>
      <p:tags r:id="rId1"/>
    </p:custDataLst>
    <p:extLst>
      <p:ext uri="{BB962C8B-B14F-4D97-AF65-F5344CB8AC3E}">
        <p14:creationId xmlns:p14="http://schemas.microsoft.com/office/powerpoint/2010/main" val="210847938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FIRST_PUBLISH" val="1"/>
  <p:tag name="ISPRING_LMS_API_VERSION" val="SCORM 1.2"/>
  <p:tag name="ISPRING_ULTRA_SCORM_COURSE_ID" val="2FB98E69-29C4-4A6B-85DC-5AA21706F4F0"/>
  <p:tag name="ISPRING_CMI5_LAUNCH_METHOD" val="any window"/>
  <p:tag name="ISPRING_SCORM_RATE_SLIDES" val="1"/>
  <p:tag name="ISPRINGCLOUDFOLDERID" val="1"/>
  <p:tag name="ISPRINGONLINEFOLDERID" val="1"/>
  <p:tag name="ISPRING_SCORM_PASSING_SCORE" val="100.000000"/>
  <p:tag name="ISPRING_ULTRA_SCORM_COURCE_TITLE" val="EFW紹介v2.0"/>
  <p:tag name="ISPRING_SCORM_ENDPOINT" val="&lt;endpoint&gt;&lt;enable&gt;0&lt;/enable&gt;&lt;lrs&gt;http://&lt;/lrs&gt;&lt;auth&gt;0&lt;/auth&gt;&lt;login&gt;&lt;/login&gt;&lt;password&gt;&lt;/password&gt;&lt;key&gt;&lt;/key&gt;&lt;name&gt;&lt;/name&gt;&lt;email&gt;&lt;/email&gt;&lt;/endpoint&gt;&#10;"/>
  <p:tag name="ISPRING_OUTPUT_FOLDER" val="[[&quot;f\uFFFD_\u0000{F3869DA2-F2D5-46CF-899A-5B1CA6DA96AF}&quot;,&quot;C:\\Users\\kejun.chang\\Documents\\GitHub\\efw4_online_ppt&quot;],[&quot;x6\&quot;T{0A1F2BAE-1CEA-4DCF-97F0-F7F7D714EBC9}&quot;,&quot;C:\\Users\\kejun.chang\\Documents\\GitHub\\efw4_online_ppt&quot;]]"/>
  <p:tag name="ISPRING_PUBLISH_SETTINGS" val="{&quot;commonSettings&quot;:{&quot;webSettings&quot;:{&quot;useMobileViewer&quot;:&quot;T_FALSE&quot;},&quot;lmsSettings&quot;:{&quot;useMobileViewer&quot;:&quot;T_FALSE&quot;},&quot;cloudSettings&quot;:{&quot;useMobileViewer&quot;:&quot;T_FALSE&quot;},&quot;ispringLmsSettings&quot;:{&quot;useMobileViewer&quot;:&quot;T_FALSE&quot;},&quot;playerId&quot;:&quot;universal&quot;,&quot;studioSettings&quot;:{&quot;useMobileViewer&quot;:&quot;T_FALSE&quot;}},&quot;advancedSettings&quot;:{&quot;enableTextAllocation&quot;:&quot;T_TRUE&quot;,&quot;viewingFromLocalDrive&quot;:&quot;T_TRUE&quot;,&quot;contentScale&quot;:75,&quot;contentScaleMode&quot;:&quot;SCALE&quot;},&quot;accessibilitySettings&quot;:{&quot;enabled&quot;:&quot;T_FALSE&quot;},&quot;compressionSettings&quot;:{&quot;imageSettings&quot;:{&quot;jpegQuality&quot;:70,&quot;optimizeImageForResolution&quot;:&quot;T_FALSE&quot;},&quot;audioQuality&quot;:70,&quot;videoQuality&quot;:65},&quot;protectionSettings&quot;:{&quot;watermarkEnabled&quot;:&quot;T_FALSE&quot;,&quot;watermarkPosition&quot;:&quot;MIDDLE_CENTER&quot;,&quot;openWatermarkUrl&quot;:&quot;T_FALSE&quot;,&quot;openWatermarkWebPageInNewWindow&quot;:&quot;T_FALSE&quot;,&quot;displayAfterEnabled&quot;:&quot;T_FALSE&quot;,&quot;displayUntilEnabled&quot;:&quot;T_FALSE&quot;,&quot;domainRestrictionEnabled&quot;:&quot;T_FALSE&quot;,&quot;enablePassword&quot;:&quot;T_FALSE&quot;},&quot;videoSettings&quot;:{&quot;videoCompressionSettings&quot;:{&quot;audioQuality&quot;:70,&quot;videoQuality&quot;:75},&quot;secondsOnEachSlide&quot;:5,&quot;hostingSettings&quot;:{}},&quot;ispringOnlineSettings&quot;:{&quot;onlineDestinationFolderId&quot;:&quot;1&quot;},&quot;cloudSettings&quot;:{&quot;onlineDestinationFolderId&quot;:&quot;1&quot;},&quot;wordSettings&quot;:{&quot;printCopies&quot;:1},&quot;studioSettings&quot;:{}}"/>
  <p:tag name="ISPRING_SCORM_RATE_QUIZZES" val="0"/>
  <p:tag name="ISPRING_PRESENTATION_TITLE" val="EFW紹介v2.0"/>
</p:tagLst>
</file>

<file path=ppt/tags/tag2.xml><?xml version="1.0" encoding="utf-8"?>
<p:tagLst xmlns:a="http://schemas.openxmlformats.org/drawingml/2006/main" xmlns:r="http://schemas.openxmlformats.org/officeDocument/2006/relationships" xmlns:p="http://schemas.openxmlformats.org/presentationml/2006/main">
  <p:tag name="GENSWF_SLIDE_UID" val="{EC7C33A8-C2B1-4682-89A6-1A361AE1F6B3}:392"/>
</p:tagLst>
</file>

<file path=ppt/tags/tag3.xml><?xml version="1.0" encoding="utf-8"?>
<p:tagLst xmlns:a="http://schemas.openxmlformats.org/drawingml/2006/main" xmlns:r="http://schemas.openxmlformats.org/officeDocument/2006/relationships" xmlns:p="http://schemas.openxmlformats.org/presentationml/2006/main">
  <p:tag name="GENSWF_SLIDE_UID" val="{00B6E1A9-799C-460A-9A45-18F5DC7CF044}:417"/>
</p:tagLst>
</file>

<file path=ppt/tags/tag4.xml><?xml version="1.0" encoding="utf-8"?>
<p:tagLst xmlns:a="http://schemas.openxmlformats.org/drawingml/2006/main" xmlns:r="http://schemas.openxmlformats.org/officeDocument/2006/relationships" xmlns:p="http://schemas.openxmlformats.org/presentationml/2006/main">
  <p:tag name="GENSWF_SLIDE_UID" val="{19EC2CAA-27FA-4803-8294-09CA3B62CEEE}:410"/>
</p:tagLst>
</file>

<file path=ppt/tags/tag5.xml><?xml version="1.0" encoding="utf-8"?>
<p:tagLst xmlns:a="http://schemas.openxmlformats.org/drawingml/2006/main" xmlns:r="http://schemas.openxmlformats.org/officeDocument/2006/relationships" xmlns:p="http://schemas.openxmlformats.org/presentationml/2006/main">
  <p:tag name="GENSWF_SLIDE_UID" val="{C1FF5DDD-56CF-4800-A719-9A613A1D7B02}:431"/>
</p:tagLst>
</file>

<file path=ppt/tags/tag6.xml><?xml version="1.0" encoding="utf-8"?>
<p:tagLst xmlns:a="http://schemas.openxmlformats.org/drawingml/2006/main" xmlns:r="http://schemas.openxmlformats.org/officeDocument/2006/relationships" xmlns:p="http://schemas.openxmlformats.org/presentationml/2006/main">
  <p:tag name="GENSWF_SLIDE_UID" val="{8A75CF2B-B70A-4D06-B37C-99B8EF9C48ED}:406"/>
</p:tagLst>
</file>

<file path=ppt/tags/tag7.xml><?xml version="1.0" encoding="utf-8"?>
<p:tagLst xmlns:a="http://schemas.openxmlformats.org/drawingml/2006/main" xmlns:r="http://schemas.openxmlformats.org/officeDocument/2006/relationships" xmlns:p="http://schemas.openxmlformats.org/presentationml/2006/main">
  <p:tag name="GENSWF_SLIDE_UID" val="{557556E6-AF0F-4732-9EA1-A80B93FF9617}:422"/>
</p:tagLst>
</file>

<file path=ppt/tags/tag8.xml><?xml version="1.0" encoding="utf-8"?>
<p:tagLst xmlns:a="http://schemas.openxmlformats.org/drawingml/2006/main" xmlns:r="http://schemas.openxmlformats.org/officeDocument/2006/relationships" xmlns:p="http://schemas.openxmlformats.org/presentationml/2006/main">
  <p:tag name="GENSWF_SLIDE_UID" val="{CE0768C8-6551-410F-A40A-358A63710479}:425"/>
</p:tagLst>
</file>

<file path=ppt/tags/tag9.xml><?xml version="1.0" encoding="utf-8"?>
<p:tagLst xmlns:a="http://schemas.openxmlformats.org/drawingml/2006/main" xmlns:r="http://schemas.openxmlformats.org/officeDocument/2006/relationships" xmlns:p="http://schemas.openxmlformats.org/presentationml/2006/main">
  <p:tag name="GENSWF_SLIDE_UID" val="{4F7106E5-B841-48E4-B9E0-E34E18492151}:415"/>
</p:tagLst>
</file>

<file path=ppt/tags/tag10.xml><?xml version="1.0" encoding="utf-8"?>
<p:tagLst xmlns:a="http://schemas.openxmlformats.org/drawingml/2006/main" xmlns:r="http://schemas.openxmlformats.org/officeDocument/2006/relationships" xmlns:p="http://schemas.openxmlformats.org/presentationml/2006/main">
  <p:tag name="GENSWF_SLIDE_UID" val="{67DC0CAD-A455-4B70-85A7-D82CA6B7593A}:426"/>
</p:tagLst>
</file>

<file path=ppt/tags/tag11.xml><?xml version="1.0" encoding="utf-8"?>
<p:tagLst xmlns:a="http://schemas.openxmlformats.org/drawingml/2006/main" xmlns:r="http://schemas.openxmlformats.org/officeDocument/2006/relationships" xmlns:p="http://schemas.openxmlformats.org/presentationml/2006/main">
  <p:tag name="GENSWF_SLIDE_UID" val="{C3FAC2B9-75B1-48A1-AE25-7FB343AA9C3D}:428"/>
</p:tagLst>
</file>

<file path=ppt/tags/tag12.xml><?xml version="1.0" encoding="utf-8"?>
<p:tagLst xmlns:a="http://schemas.openxmlformats.org/drawingml/2006/main" xmlns:r="http://schemas.openxmlformats.org/officeDocument/2006/relationships" xmlns:p="http://schemas.openxmlformats.org/presentationml/2006/main">
  <p:tag name="GENSWF_SLIDE_UID" val="{37D5BAAD-4CF5-4F5E-8C0C-E837EDA2B3A0}:427"/>
</p:tagLst>
</file>

<file path=ppt/tags/tag13.xml><?xml version="1.0" encoding="utf-8"?>
<p:tagLst xmlns:a="http://schemas.openxmlformats.org/drawingml/2006/main" xmlns:r="http://schemas.openxmlformats.org/officeDocument/2006/relationships" xmlns:p="http://schemas.openxmlformats.org/presentationml/2006/main">
  <p:tag name="GENSWF_SLIDE_UID" val="{CAFD183A-4EDB-426F-9A89-E5CC2061713D}:433"/>
</p:tagLst>
</file>

<file path=ppt/tags/tag14.xml><?xml version="1.0" encoding="utf-8"?>
<p:tagLst xmlns:a="http://schemas.openxmlformats.org/drawingml/2006/main" xmlns:r="http://schemas.openxmlformats.org/officeDocument/2006/relationships" xmlns:p="http://schemas.openxmlformats.org/presentationml/2006/main">
  <p:tag name="GENSWF_SLIDE_UID" val="{2D78D125-9F24-4BAD-A56D-DAD2A792B701}:416"/>
</p:tagLst>
</file>

<file path=ppt/tags/tag15.xml><?xml version="1.0" encoding="utf-8"?>
<p:tagLst xmlns:a="http://schemas.openxmlformats.org/drawingml/2006/main" xmlns:r="http://schemas.openxmlformats.org/officeDocument/2006/relationships" xmlns:p="http://schemas.openxmlformats.org/presentationml/2006/main">
  <p:tag name="GENSWF_SLIDE_UID" val="{6D12EAC1-3493-425A-9FEC-59B2BFFB73AB}:430"/>
</p:tagLst>
</file>

<file path=ppt/tags/tag16.xml><?xml version="1.0" encoding="utf-8"?>
<p:tagLst xmlns:a="http://schemas.openxmlformats.org/drawingml/2006/main" xmlns:r="http://schemas.openxmlformats.org/officeDocument/2006/relationships" xmlns:p="http://schemas.openxmlformats.org/presentationml/2006/main">
  <p:tag name="GENSWF_SLIDE_UID" val="{C2477989-1F2B-4794-99DD-E24E3AEF2227}:431"/>
</p:tagLst>
</file>

<file path=ppt/tags/tag17.xml><?xml version="1.0" encoding="utf-8"?>
<p:tagLst xmlns:a="http://schemas.openxmlformats.org/drawingml/2006/main" xmlns:r="http://schemas.openxmlformats.org/officeDocument/2006/relationships" xmlns:p="http://schemas.openxmlformats.org/presentationml/2006/main">
  <p:tag name="GENSWF_SLIDE_UID" val="{05CF7497-A58C-4057-A1F7-1724DB42F005}:432"/>
</p:tagLst>
</file>

<file path=ppt/theme/theme1.xml><?xml version="1.0" encoding="utf-8"?>
<a:theme xmlns:a="http://schemas.openxmlformats.org/drawingml/2006/main" name="1_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1_Office ​​テーマ">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rtlCol="0" anchor="ctr"/>
      <a:lstStyle>
        <a:defPPr algn="ctr">
          <a:defRPr kumimoji="1" sz="1400" dirty="0" smtClean="0">
            <a:solidFill>
              <a:schemeClr val="tx1"/>
            </a:solidFill>
            <a:latin typeface="Meiryo UI" panose="020B0604030504040204" pitchFamily="50" charset="-128"/>
            <a:ea typeface="Meiryo UI" panose="020B0604030504040204" pitchFamily="50" charset="-128"/>
            <a:cs typeface="Meiryo UI" panose="020B0604030504040204" pitchFamily="50" charset="-128"/>
          </a:defRPr>
        </a:defPPr>
      </a:lstStyle>
      <a:style>
        <a:lnRef idx="3">
          <a:schemeClr val="lt1"/>
        </a:lnRef>
        <a:fillRef idx="1">
          <a:schemeClr val="accent5"/>
        </a:fillRef>
        <a:effectRef idx="1">
          <a:schemeClr val="accent5"/>
        </a:effectRef>
        <a:fontRef idx="minor">
          <a:schemeClr val="lt1"/>
        </a:fontRef>
      </a:style>
    </a:sp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37225</TotalTime>
  <Words>2438</Words>
  <Application>Microsoft Office PowerPoint</Application>
  <PresentationFormat>画面に合わせる (4:3)</PresentationFormat>
  <Paragraphs>561</Paragraphs>
  <Slides>16</Slides>
  <Notes>16</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16</vt:i4>
      </vt:variant>
    </vt:vector>
  </HeadingPairs>
  <TitlesOfParts>
    <vt:vector size="23" baseType="lpstr">
      <vt:lpstr>Meiryo UI</vt:lpstr>
      <vt:lpstr>ＭＳ Ｐゴシック</vt:lpstr>
      <vt:lpstr>MS UI Gothic</vt:lpstr>
      <vt:lpstr>Arial</vt:lpstr>
      <vt:lpstr>Calibri</vt:lpstr>
      <vt:lpstr>Wingdings</vt:lpstr>
      <vt:lpstr>1_Office ​​テーマ</vt:lpstr>
      <vt:lpstr>PowerPoint プレゼンテーション</vt:lpstr>
      <vt:lpstr>目次</vt:lpstr>
      <vt:lpstr>１．EFWとは</vt:lpstr>
      <vt:lpstr>２．EFWの生産性とコスト削減効果</vt:lpstr>
      <vt:lpstr>３．プログラムの可読性</vt:lpstr>
      <vt:lpstr>４－１．従来のWEB開発における問題1</vt:lpstr>
      <vt:lpstr>４－２．従来のWEB開発における問題2</vt:lpstr>
      <vt:lpstr>５－１．従来問題１の解決</vt:lpstr>
      <vt:lpstr>５－２．従来問題２の解決</vt:lpstr>
      <vt:lpstr>６．EFWの資材</vt:lpstr>
      <vt:lpstr>７．実績一覧</vt:lpstr>
      <vt:lpstr>７．実績一覧（ページ数情報）</vt:lpstr>
      <vt:lpstr>８．E-FW導入の効果</vt:lpstr>
      <vt:lpstr>９．利用者からの褒め言葉</vt:lpstr>
      <vt:lpstr>添付．要件定義システムの新旧比較</vt:lpstr>
      <vt:lpstr>添付．営業システム（EFW開発）の分析</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EFW紹介v2.0</dc:title>
  <dc:creator>常 珂軍</dc:creator>
  <cp:lastModifiedBy>常 珂軍</cp:lastModifiedBy>
  <cp:revision>4453</cp:revision>
  <cp:lastPrinted>2012-10-25T09:56:50Z</cp:lastPrinted>
  <dcterms:modified xsi:type="dcterms:W3CDTF">2025-12-28T14:00:30Z</dcterms:modified>
</cp:coreProperties>
</file>