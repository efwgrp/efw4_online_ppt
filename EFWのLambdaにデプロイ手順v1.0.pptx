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1" r:id="rId1"/>
  </p:sldMasterIdLst>
  <p:notesMasterIdLst>
    <p:notesMasterId r:id="rId35"/>
  </p:notesMasterIdLst>
  <p:handoutMasterIdLst>
    <p:handoutMasterId r:id="rId36"/>
  </p:handoutMasterIdLst>
  <p:sldIdLst>
    <p:sldId id="392" r:id="rId2"/>
    <p:sldId id="406" r:id="rId3"/>
    <p:sldId id="579" r:id="rId4"/>
    <p:sldId id="555" r:id="rId5"/>
    <p:sldId id="556" r:id="rId6"/>
    <p:sldId id="577" r:id="rId7"/>
    <p:sldId id="568" r:id="rId8"/>
    <p:sldId id="569" r:id="rId9"/>
    <p:sldId id="578" r:id="rId10"/>
    <p:sldId id="576" r:id="rId11"/>
    <p:sldId id="557" r:id="rId12"/>
    <p:sldId id="558" r:id="rId13"/>
    <p:sldId id="559" r:id="rId14"/>
    <p:sldId id="567" r:id="rId15"/>
    <p:sldId id="572" r:id="rId16"/>
    <p:sldId id="560" r:id="rId17"/>
    <p:sldId id="561" r:id="rId18"/>
    <p:sldId id="536" r:id="rId19"/>
    <p:sldId id="563" r:id="rId20"/>
    <p:sldId id="532" r:id="rId21"/>
    <p:sldId id="533" r:id="rId22"/>
    <p:sldId id="527" r:id="rId23"/>
    <p:sldId id="564" r:id="rId24"/>
    <p:sldId id="518" r:id="rId25"/>
    <p:sldId id="537" r:id="rId26"/>
    <p:sldId id="538" r:id="rId27"/>
    <p:sldId id="566" r:id="rId28"/>
    <p:sldId id="570" r:id="rId29"/>
    <p:sldId id="571" r:id="rId30"/>
    <p:sldId id="573" r:id="rId31"/>
    <p:sldId id="574" r:id="rId32"/>
    <p:sldId id="575" r:id="rId33"/>
    <p:sldId id="541" r:id="rId34"/>
  </p:sldIdLst>
  <p:sldSz cx="9144000" cy="6858000" type="screen4x3"/>
  <p:notesSz cx="7099300" cy="10234613"/>
  <p:custDataLst>
    <p:tags r:id="rId37"/>
  </p:custDataLst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9900"/>
    <a:srgbClr val="0000FF"/>
    <a:srgbClr val="007033"/>
    <a:srgbClr val="008A3E"/>
    <a:srgbClr val="609ED6"/>
    <a:srgbClr val="99CCFF"/>
    <a:srgbClr val="66CCFF"/>
    <a:srgbClr val="0033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9643" autoAdjust="0"/>
  </p:normalViewPr>
  <p:slideViewPr>
    <p:cSldViewPr snapToGrid="0">
      <p:cViewPr varScale="1">
        <p:scale>
          <a:sx n="76" d="100"/>
          <a:sy n="76" d="100"/>
        </p:scale>
        <p:origin x="2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56" y="-78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1EEA4EC-110F-4EBE-8324-45D9533D5526}" type="datetimeFigureOut">
              <a:rPr lang="ja-JP" altLang="en-US"/>
              <a:pPr>
                <a:defRPr/>
              </a:pPr>
              <a:t>2026/5/8</a:t>
            </a:fld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C68A9FDE-10FD-45DA-A1F0-F8F5C3264679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56126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05D0ECA-68A4-4E95-906C-2D1519606506}" type="datetimeFigureOut">
              <a:rPr lang="ja-JP" altLang="en-US"/>
              <a:pPr>
                <a:defRPr/>
              </a:pPr>
              <a:t>2026/5/8</a:t>
            </a:fld>
            <a:endParaRPr lang="en-US" alt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411F456-129C-4679-AE79-8CAE1F5EB502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775072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ja-JP" altLang="en-US" sz="1800"/>
          </a:p>
        </p:txBody>
      </p:sp>
      <p:sp>
        <p:nvSpPr>
          <p:cNvPr id="13316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1354DFD-A574-4020-9875-E8EE80E50137}" type="slidenum">
              <a:rPr lang="ja-JP" altLang="en-US"/>
              <a:pPr algn="r" eaLnBrk="1" hangingPunct="1">
                <a:spcBef>
                  <a:spcPct val="0"/>
                </a:spcBef>
              </a:pPr>
              <a:t>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79519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8496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76379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41806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15142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48572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3616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28493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42227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66430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09095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5986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55751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13644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09487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0804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76840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46060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369306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11050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45176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087574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06300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364280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19228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16185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196674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879611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489131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95620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30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553357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31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14847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32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15857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251520" y="863001"/>
            <a:ext cx="8712968" cy="45719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dirty="0"/>
          </a:p>
        </p:txBody>
      </p:sp>
      <p:sp>
        <p:nvSpPr>
          <p:cNvPr id="6" name="テキスト ボックス 9"/>
          <p:cNvSpPr txBox="1">
            <a:spLocks noChangeArrowheads="1"/>
          </p:cNvSpPr>
          <p:nvPr/>
        </p:nvSpPr>
        <p:spPr bwMode="auto">
          <a:xfrm>
            <a:off x="-36000" y="-46800"/>
            <a:ext cx="3240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1400" b="1" dirty="0">
                <a:solidFill>
                  <a:srgbClr val="C00000"/>
                </a:solidFill>
              </a:rPr>
              <a:t>EFW MAKE IT EASY</a:t>
            </a:r>
            <a:endParaRPr lang="ja-JP" altLang="en-US" sz="1400" b="1" dirty="0">
              <a:solidFill>
                <a:srgbClr val="C0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288" y="6519863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991269"/>
            <a:ext cx="8229600" cy="5246043"/>
          </a:xfrm>
        </p:spPr>
        <p:txBody>
          <a:bodyPr>
            <a:normAutofit/>
          </a:bodyPr>
          <a:lstStyle>
            <a:lvl1pPr>
              <a:defRPr sz="1800">
                <a:latin typeface="MS UI Gothic" pitchFamily="50" charset="-128"/>
                <a:ea typeface="MS UI Gothic" pitchFamily="50" charset="-128"/>
              </a:defRPr>
            </a:lvl1pPr>
            <a:lvl2pPr>
              <a:defRPr sz="1800">
                <a:latin typeface="MS UI Gothic" pitchFamily="50" charset="-128"/>
                <a:ea typeface="MS UI Gothic" pitchFamily="50" charset="-128"/>
              </a:defRPr>
            </a:lvl2pPr>
            <a:lvl3pPr>
              <a:defRPr sz="1800">
                <a:latin typeface="MS UI Gothic" pitchFamily="50" charset="-128"/>
                <a:ea typeface="MS UI Gothic" pitchFamily="50" charset="-128"/>
              </a:defRPr>
            </a:lvl3pPr>
            <a:lvl4pPr>
              <a:defRPr sz="1800">
                <a:latin typeface="MS UI Gothic" pitchFamily="50" charset="-128"/>
                <a:ea typeface="MS UI Gothic" pitchFamily="50" charset="-128"/>
              </a:defRPr>
            </a:lvl4pPr>
            <a:lvl5pPr>
              <a:defRPr sz="1800">
                <a:latin typeface="MS UI Gothic" pitchFamily="50" charset="-128"/>
                <a:ea typeface="MS UI Gothic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8" name="スライド番号プレースホルダー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CBF0-9F56-4157-9FC0-529FA0A011B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837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" name="スライド番号プレースホルダー 1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E5AA8DC3-14C1-4C98-A520-5519C9F789F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 bwMode="auto">
          <a:xfrm>
            <a:off x="698500" y="2422525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Arial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altLang="ja-JP" sz="20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に向け</a:t>
            </a:r>
            <a:endParaRPr lang="en-US" altLang="ja-JP" sz="20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lang="en-US" altLang="ja-JP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EFW</a:t>
            </a:r>
            <a:r>
              <a:rPr lang="ja-JP" altLang="en-US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のデプロイ手順</a:t>
            </a:r>
            <a:endParaRPr lang="en-US" altLang="ja-JP" sz="3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V1.0</a:t>
            </a:r>
          </a:p>
        </p:txBody>
      </p:sp>
      <p:sp>
        <p:nvSpPr>
          <p:cNvPr id="8" name="タイトル 1"/>
          <p:cNvSpPr txBox="1">
            <a:spLocks/>
          </p:cNvSpPr>
          <p:nvPr/>
        </p:nvSpPr>
        <p:spPr bwMode="auto">
          <a:xfrm>
            <a:off x="0" y="4365625"/>
            <a:ext cx="91440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エスコ・ジャパン株式会社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2026.05.08</a:t>
            </a:r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D3A49843-66AD-4ED9-AA20-6AFE9FCFCBBE}"/>
              </a:ext>
            </a:extLst>
          </p:cNvPr>
          <p:cNvSpPr txBox="1">
            <a:spLocks/>
          </p:cNvSpPr>
          <p:nvPr/>
        </p:nvSpPr>
        <p:spPr bwMode="auto">
          <a:xfrm>
            <a:off x="259039" y="4498519"/>
            <a:ext cx="4312961" cy="210559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Arial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１、作業環境の準備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２、</a:t>
            </a:r>
            <a:r>
              <a:rPr lang="en-US" altLang="ja-JP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Docker</a:t>
            </a: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イメージの作成</a:t>
            </a:r>
            <a:endParaRPr lang="en-US" altLang="ja-JP" sz="15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３、</a:t>
            </a:r>
            <a:r>
              <a:rPr lang="en-US" altLang="ja-JP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の作成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４、</a:t>
            </a:r>
            <a:r>
              <a:rPr lang="ja-JP" altLang="en-US" sz="1500" dirty="0">
                <a:latin typeface="Meiryo UI" pitchFamily="50" charset="-128"/>
                <a:ea typeface="Meiryo UI" pitchFamily="50" charset="-128"/>
              </a:rPr>
              <a:t>動作確認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C1F2A7A-F8E8-40B0-B1B7-489889C33388}"/>
              </a:ext>
            </a:extLst>
          </p:cNvPr>
          <p:cNvSpPr/>
          <p:nvPr/>
        </p:nvSpPr>
        <p:spPr>
          <a:xfrm>
            <a:off x="1108170" y="1769295"/>
            <a:ext cx="945207" cy="4153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システム概念図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8B71F8-B879-40F9-B86E-7F3ABDE5D7D1}"/>
              </a:ext>
            </a:extLst>
          </p:cNvPr>
          <p:cNvSpPr/>
          <p:nvPr/>
        </p:nvSpPr>
        <p:spPr>
          <a:xfrm>
            <a:off x="2100106" y="1769296"/>
            <a:ext cx="2856241" cy="4153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BCEB2C-F3FD-4100-91B9-E731EA5F626D}"/>
              </a:ext>
            </a:extLst>
          </p:cNvPr>
          <p:cNvSpPr txBox="1"/>
          <p:nvPr/>
        </p:nvSpPr>
        <p:spPr>
          <a:xfrm>
            <a:off x="1203906" y="1367285"/>
            <a:ext cx="1546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WAF</a:t>
            </a:r>
            <a:endParaRPr lang="ja-JP" altLang="en-US" sz="16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4" name="図 13" descr="Tomcat Home">
            <a:extLst>
              <a:ext uri="{FF2B5EF4-FFF2-40B4-BE49-F238E27FC236}">
                <a16:creationId xmlns:a16="http://schemas.microsoft.com/office/drawing/2014/main" id="{75834AAB-C612-4852-A321-260F5A449EE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531" y="1932388"/>
            <a:ext cx="643436" cy="413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2" descr="é¢é£ç»å">
            <a:extLst>
              <a:ext uri="{FF2B5EF4-FFF2-40B4-BE49-F238E27FC236}">
                <a16:creationId xmlns:a16="http://schemas.microsoft.com/office/drawing/2014/main" id="{6ED1221D-15D2-4231-8E32-2C8BE7AD1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10" y="2579470"/>
            <a:ext cx="569232" cy="56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é¢é£ç»å">
            <a:extLst>
              <a:ext uri="{FF2B5EF4-FFF2-40B4-BE49-F238E27FC236}">
                <a16:creationId xmlns:a16="http://schemas.microsoft.com/office/drawing/2014/main" id="{776E8AA1-1692-47A4-B4C7-B02BF2A3C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3" y="3215592"/>
            <a:ext cx="569232" cy="56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é¢é£ç»å">
            <a:extLst>
              <a:ext uri="{FF2B5EF4-FFF2-40B4-BE49-F238E27FC236}">
                <a16:creationId xmlns:a16="http://schemas.microsoft.com/office/drawing/2014/main" id="{05061B8B-3400-4EBF-BDD0-16205F15C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3" y="3851714"/>
            <a:ext cx="569232" cy="56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ãpostgre logoãã®ç»åæ¤ç´¢çµæ">
            <a:extLst>
              <a:ext uri="{FF2B5EF4-FFF2-40B4-BE49-F238E27FC236}">
                <a16:creationId xmlns:a16="http://schemas.microsoft.com/office/drawing/2014/main" id="{C00AE703-CFCF-42DA-B5D9-62ADDDD59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696" y="3837723"/>
            <a:ext cx="1187114" cy="59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FA0A67F-DC6B-4C97-9873-25D1B93E7A8A}"/>
              </a:ext>
            </a:extLst>
          </p:cNvPr>
          <p:cNvSpPr txBox="1"/>
          <p:nvPr/>
        </p:nvSpPr>
        <p:spPr>
          <a:xfrm>
            <a:off x="6036903" y="2666120"/>
            <a:ext cx="688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Valkey</a:t>
            </a:r>
            <a:endParaRPr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33CEF29-C895-4957-9351-54F1016151CC}"/>
              </a:ext>
            </a:extLst>
          </p:cNvPr>
          <p:cNvSpPr txBox="1"/>
          <p:nvPr/>
        </p:nvSpPr>
        <p:spPr>
          <a:xfrm>
            <a:off x="2325698" y="1365727"/>
            <a:ext cx="2630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Rambda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Docker Tomcat</a:t>
            </a:r>
            <a:endParaRPr lang="ja-JP" altLang="en-US" sz="16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028" name="Picture 4" descr="WAF Web Application Firewall Vector Icons free download in SVG, PNG Format">
            <a:extLst>
              <a:ext uri="{FF2B5EF4-FFF2-40B4-BE49-F238E27FC236}">
                <a16:creationId xmlns:a16="http://schemas.microsoft.com/office/drawing/2014/main" id="{81B33E2C-CD3A-4B19-AD86-7C478D8ED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705" y="3020617"/>
            <a:ext cx="891486" cy="8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ckerでPHPの開発環境を作りました">
            <a:extLst>
              <a:ext uri="{FF2B5EF4-FFF2-40B4-BE49-F238E27FC236}">
                <a16:creationId xmlns:a16="http://schemas.microsoft.com/office/drawing/2014/main" id="{579A4DC4-9A3C-42E8-8204-4D6471CFC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554" y="1786636"/>
            <a:ext cx="1302307" cy="68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ws lambda logo アイコン、ロゴ、シンボル – 無料ダウンロード PNG、SVG">
            <a:extLst>
              <a:ext uri="{FF2B5EF4-FFF2-40B4-BE49-F238E27FC236}">
                <a16:creationId xmlns:a16="http://schemas.microsoft.com/office/drawing/2014/main" id="{7DEBDB25-B969-48D3-A104-01407FC76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377" y="1780004"/>
            <a:ext cx="696977" cy="69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00BED51-746E-45BA-B92E-B48CB2B55CF9}"/>
              </a:ext>
            </a:extLst>
          </p:cNvPr>
          <p:cNvSpPr/>
          <p:nvPr/>
        </p:nvSpPr>
        <p:spPr>
          <a:xfrm>
            <a:off x="2308669" y="2666120"/>
            <a:ext cx="2224553" cy="30803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EFW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Framework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44" name="カギ線コネクタ 53">
            <a:extLst>
              <a:ext uri="{FF2B5EF4-FFF2-40B4-BE49-F238E27FC236}">
                <a16:creationId xmlns:a16="http://schemas.microsoft.com/office/drawing/2014/main" id="{0CF511AE-81E0-45A3-8083-464E51595858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2654185" y="3451637"/>
            <a:ext cx="474503" cy="437364"/>
          </a:xfrm>
          <a:prstGeom prst="bentConnector3">
            <a:avLst>
              <a:gd name="adj1" fmla="val 50000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cxnSp>
      <p:sp>
        <p:nvSpPr>
          <p:cNvPr id="52" name="角丸四角形 37">
            <a:extLst>
              <a:ext uri="{FF2B5EF4-FFF2-40B4-BE49-F238E27FC236}">
                <a16:creationId xmlns:a16="http://schemas.microsoft.com/office/drawing/2014/main" id="{D699C353-6046-49A0-BE57-A10A80A3AED7}"/>
              </a:ext>
            </a:extLst>
          </p:cNvPr>
          <p:cNvSpPr/>
          <p:nvPr/>
        </p:nvSpPr>
        <p:spPr>
          <a:xfrm>
            <a:off x="3128688" y="2975593"/>
            <a:ext cx="1215063" cy="34621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 handler1</a:t>
            </a:r>
          </a:p>
        </p:txBody>
      </p:sp>
      <p:sp>
        <p:nvSpPr>
          <p:cNvPr id="53" name="角丸四角形 38">
            <a:extLst>
              <a:ext uri="{FF2B5EF4-FFF2-40B4-BE49-F238E27FC236}">
                <a16:creationId xmlns:a16="http://schemas.microsoft.com/office/drawing/2014/main" id="{EC0085BD-1796-4B9A-9875-06A7D98C8A16}"/>
              </a:ext>
            </a:extLst>
          </p:cNvPr>
          <p:cNvSpPr/>
          <p:nvPr/>
        </p:nvSpPr>
        <p:spPr>
          <a:xfrm>
            <a:off x="3128688" y="3351522"/>
            <a:ext cx="1215063" cy="34621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 handler2</a:t>
            </a:r>
          </a:p>
        </p:txBody>
      </p:sp>
      <p:sp>
        <p:nvSpPr>
          <p:cNvPr id="34" name="角丸四角形 37">
            <a:extLst>
              <a:ext uri="{FF2B5EF4-FFF2-40B4-BE49-F238E27FC236}">
                <a16:creationId xmlns:a16="http://schemas.microsoft.com/office/drawing/2014/main" id="{1D76E525-9A7C-4B5C-B2A9-08C038301A41}"/>
              </a:ext>
            </a:extLst>
          </p:cNvPr>
          <p:cNvSpPr/>
          <p:nvPr/>
        </p:nvSpPr>
        <p:spPr>
          <a:xfrm>
            <a:off x="3128688" y="3715892"/>
            <a:ext cx="1215063" cy="34621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 handler3</a:t>
            </a:r>
          </a:p>
        </p:txBody>
      </p:sp>
      <p:cxnSp>
        <p:nvCxnSpPr>
          <p:cNvPr id="54" name="カギ線コネクタ 53">
            <a:extLst>
              <a:ext uri="{FF2B5EF4-FFF2-40B4-BE49-F238E27FC236}">
                <a16:creationId xmlns:a16="http://schemas.microsoft.com/office/drawing/2014/main" id="{AB5C1818-F372-42B5-9304-FA9A200811F7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2654185" y="3148702"/>
            <a:ext cx="474503" cy="291457"/>
          </a:xfrm>
          <a:prstGeom prst="bentConnector3">
            <a:avLst>
              <a:gd name="adj1" fmla="val 50000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cxnSp>
      <p:sp>
        <p:nvSpPr>
          <p:cNvPr id="51" name="矢印: 左右 50">
            <a:extLst>
              <a:ext uri="{FF2B5EF4-FFF2-40B4-BE49-F238E27FC236}">
                <a16:creationId xmlns:a16="http://schemas.microsoft.com/office/drawing/2014/main" id="{201D768A-9CC1-49FF-8C51-01BB1CB20094}"/>
              </a:ext>
            </a:extLst>
          </p:cNvPr>
          <p:cNvSpPr/>
          <p:nvPr/>
        </p:nvSpPr>
        <p:spPr>
          <a:xfrm>
            <a:off x="4847956" y="3715892"/>
            <a:ext cx="901715" cy="428812"/>
          </a:xfrm>
          <a:prstGeom prst="leftRight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040" name="Picture 16" descr="Amazon EFS のレプリケーション機能を使ってみた | クラウド・AWSのIT技術者向けブログ SKYARCH BROADCASTING">
            <a:extLst>
              <a:ext uri="{FF2B5EF4-FFF2-40B4-BE49-F238E27FC236}">
                <a16:creationId xmlns:a16="http://schemas.microsoft.com/office/drawing/2014/main" id="{42C55D05-187F-4AFB-B178-AB90F49FE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860" y="3058001"/>
            <a:ext cx="1308616" cy="6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矢印: 左右 65">
            <a:extLst>
              <a:ext uri="{FF2B5EF4-FFF2-40B4-BE49-F238E27FC236}">
                <a16:creationId xmlns:a16="http://schemas.microsoft.com/office/drawing/2014/main" id="{3EACE97A-A2B3-40D4-A9DA-B03D4CF0E0C9}"/>
              </a:ext>
            </a:extLst>
          </p:cNvPr>
          <p:cNvSpPr/>
          <p:nvPr/>
        </p:nvSpPr>
        <p:spPr>
          <a:xfrm>
            <a:off x="4856118" y="3108816"/>
            <a:ext cx="901715" cy="428812"/>
          </a:xfrm>
          <a:prstGeom prst="leftRight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C3ECAEF2-0C6D-450B-93F6-1A61794753A4}"/>
              </a:ext>
            </a:extLst>
          </p:cNvPr>
          <p:cNvSpPr txBox="1"/>
          <p:nvPr/>
        </p:nvSpPr>
        <p:spPr>
          <a:xfrm>
            <a:off x="7013809" y="3102734"/>
            <a:ext cx="1657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Storage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フォルダを格納する</a:t>
            </a:r>
          </a:p>
        </p:txBody>
      </p:sp>
      <p:pic>
        <p:nvPicPr>
          <p:cNvPr id="1044" name="Picture 20" descr="Valkey">
            <a:extLst>
              <a:ext uri="{FF2B5EF4-FFF2-40B4-BE49-F238E27FC236}">
                <a16:creationId xmlns:a16="http://schemas.microsoft.com/office/drawing/2014/main" id="{47ABA0EB-8A72-4772-8AC0-E7184EF8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597" y="2150303"/>
            <a:ext cx="526735" cy="52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矢印: 左右 70">
            <a:extLst>
              <a:ext uri="{FF2B5EF4-FFF2-40B4-BE49-F238E27FC236}">
                <a16:creationId xmlns:a16="http://schemas.microsoft.com/office/drawing/2014/main" id="{374E6FEB-71DF-45B3-AD43-0F211FADE88D}"/>
              </a:ext>
            </a:extLst>
          </p:cNvPr>
          <p:cNvSpPr/>
          <p:nvPr/>
        </p:nvSpPr>
        <p:spPr>
          <a:xfrm>
            <a:off x="4828975" y="2501858"/>
            <a:ext cx="901715" cy="428812"/>
          </a:xfrm>
          <a:prstGeom prst="leftRight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168BE154-3EB9-4786-884F-B10950FDE66E}"/>
              </a:ext>
            </a:extLst>
          </p:cNvPr>
          <p:cNvSpPr txBox="1"/>
          <p:nvPr/>
        </p:nvSpPr>
        <p:spPr>
          <a:xfrm>
            <a:off x="7005810" y="2287082"/>
            <a:ext cx="1657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Valkey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でセッションを外だしする</a:t>
            </a:r>
          </a:p>
        </p:txBody>
      </p:sp>
      <p:sp>
        <p:nvSpPr>
          <p:cNvPr id="73" name="角丸四角形 37">
            <a:extLst>
              <a:ext uri="{FF2B5EF4-FFF2-40B4-BE49-F238E27FC236}">
                <a16:creationId xmlns:a16="http://schemas.microsoft.com/office/drawing/2014/main" id="{0E479B5A-473C-4B1B-A8CD-3A4A1721AE3D}"/>
              </a:ext>
            </a:extLst>
          </p:cNvPr>
          <p:cNvSpPr/>
          <p:nvPr/>
        </p:nvSpPr>
        <p:spPr>
          <a:xfrm>
            <a:off x="3107290" y="4421455"/>
            <a:ext cx="1215063" cy="34621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ja-JP" altLang="en-US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各種クライアントリソース</a:t>
            </a:r>
            <a:endParaRPr lang="en-US" altLang="ja-JP" sz="9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4" name="角丸四角形 37">
            <a:extLst>
              <a:ext uri="{FF2B5EF4-FFF2-40B4-BE49-F238E27FC236}">
                <a16:creationId xmlns:a16="http://schemas.microsoft.com/office/drawing/2014/main" id="{0845D88C-5CD3-4D50-9930-25321CC9583E}"/>
              </a:ext>
            </a:extLst>
          </p:cNvPr>
          <p:cNvSpPr/>
          <p:nvPr/>
        </p:nvSpPr>
        <p:spPr>
          <a:xfrm>
            <a:off x="3099780" y="4910848"/>
            <a:ext cx="1215063" cy="34621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ja-JP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JSP</a:t>
            </a:r>
            <a:r>
              <a:rPr lang="ja-JP" altLang="en-US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画面</a:t>
            </a:r>
            <a:endParaRPr lang="en-US" altLang="ja-JP" sz="9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75" name="カギ線コネクタ 53">
            <a:extLst>
              <a:ext uri="{FF2B5EF4-FFF2-40B4-BE49-F238E27FC236}">
                <a16:creationId xmlns:a16="http://schemas.microsoft.com/office/drawing/2014/main" id="{872C154B-D27E-4484-99E0-396FF2D052AD}"/>
              </a:ext>
            </a:extLst>
          </p:cNvPr>
          <p:cNvCxnSpPr>
            <a:cxnSpLocks/>
          </p:cNvCxnSpPr>
          <p:nvPr/>
        </p:nvCxnSpPr>
        <p:spPr>
          <a:xfrm>
            <a:off x="2684165" y="4336983"/>
            <a:ext cx="397942" cy="257582"/>
          </a:xfrm>
          <a:prstGeom prst="bentConnector3">
            <a:avLst>
              <a:gd name="adj1" fmla="val 50000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cxnSp>
      <p:cxnSp>
        <p:nvCxnSpPr>
          <p:cNvPr id="77" name="カギ線コネクタ 53">
            <a:extLst>
              <a:ext uri="{FF2B5EF4-FFF2-40B4-BE49-F238E27FC236}">
                <a16:creationId xmlns:a16="http://schemas.microsoft.com/office/drawing/2014/main" id="{93AE6C1C-16F3-4E2A-99AA-120A46B32AC8}"/>
              </a:ext>
            </a:extLst>
          </p:cNvPr>
          <p:cNvCxnSpPr>
            <a:cxnSpLocks/>
            <a:endCxn id="74" idx="1"/>
          </p:cNvCxnSpPr>
          <p:nvPr/>
        </p:nvCxnSpPr>
        <p:spPr>
          <a:xfrm rot="16200000" flipH="1">
            <a:off x="2740007" y="4724183"/>
            <a:ext cx="502903" cy="216644"/>
          </a:xfrm>
          <a:prstGeom prst="bentConnector2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cxnSp>
      <p:sp>
        <p:nvSpPr>
          <p:cNvPr id="19" name="右矢印 74">
            <a:extLst>
              <a:ext uri="{FF2B5EF4-FFF2-40B4-BE49-F238E27FC236}">
                <a16:creationId xmlns:a16="http://schemas.microsoft.com/office/drawing/2014/main" id="{7CF6B5F9-BB73-422C-AB99-C49FD5D12FA3}"/>
              </a:ext>
            </a:extLst>
          </p:cNvPr>
          <p:cNvSpPr/>
          <p:nvPr/>
        </p:nvSpPr>
        <p:spPr>
          <a:xfrm>
            <a:off x="1969698" y="3185048"/>
            <a:ext cx="522723" cy="533178"/>
          </a:xfrm>
          <a:prstGeom prst="rightArrow">
            <a:avLst>
              <a:gd name="adj1" fmla="val 50000"/>
              <a:gd name="adj2" fmla="val 37583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B62F9D60-F638-43A0-B0DE-F52C45D59F96}"/>
              </a:ext>
            </a:extLst>
          </p:cNvPr>
          <p:cNvSpPr/>
          <p:nvPr/>
        </p:nvSpPr>
        <p:spPr>
          <a:xfrm>
            <a:off x="6117597" y="4999839"/>
            <a:ext cx="2254616" cy="902218"/>
          </a:xfrm>
          <a:prstGeom prst="wedgeRoundRectCallout">
            <a:avLst>
              <a:gd name="adj1" fmla="val -42786"/>
              <a:gd name="adj2" fmla="val -78832"/>
              <a:gd name="adj3" fmla="val 16667"/>
            </a:avLst>
          </a:prstGeom>
          <a:solidFill>
            <a:srgbClr val="FFFF0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TODO</a:t>
            </a:r>
            <a:r>
              <a:rPr kumimoji="1" lang="ja-JP" altLang="en-US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r>
              <a:rPr kumimoji="1" lang="en-US" altLang="ja-JP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Aurora DSQL</a:t>
            </a:r>
            <a:r>
              <a:rPr kumimoji="1" lang="ja-JP" altLang="en-US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のほうがやすいみたいです。</a:t>
            </a:r>
          </a:p>
        </p:txBody>
      </p:sp>
    </p:spTree>
    <p:extLst>
      <p:ext uri="{BB962C8B-B14F-4D97-AF65-F5344CB8AC3E}">
        <p14:creationId xmlns:p14="http://schemas.microsoft.com/office/powerpoint/2010/main" val="201235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4137" name="テキスト ボックス 5"/>
          <p:cNvSpPr txBox="1">
            <a:spLocks noChangeArrowheads="1"/>
          </p:cNvSpPr>
          <p:nvPr/>
        </p:nvSpPr>
        <p:spPr bwMode="auto">
          <a:xfrm>
            <a:off x="251136" y="1094618"/>
            <a:ext cx="8579385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Docker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イメージの作成のため、</a:t>
            </a:r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EC2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を構築する。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 err="1">
                <a:latin typeface="Meiryo UI" pitchFamily="50" charset="-128"/>
                <a:ea typeface="Meiryo UI" pitchFamily="50" charset="-128"/>
              </a:rPr>
              <a:t>Efw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のストレージのため、</a:t>
            </a:r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EFS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を構築する。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アプリのセッション外だしのため、</a:t>
            </a:r>
            <a:r>
              <a:rPr lang="en-US" altLang="ja-JP" sz="2000" dirty="0" err="1">
                <a:latin typeface="Meiryo UI" pitchFamily="50" charset="-128"/>
                <a:ea typeface="Meiryo UI" pitchFamily="50" charset="-128"/>
              </a:rPr>
              <a:t>Valkey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を構築する。</a:t>
            </a: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EC2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環境に</a:t>
            </a:r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Docker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イメージ作成用の資材をアップロードする。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資材の重要ポイントを理解する。</a:t>
            </a: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１．作業環境準備の概要</a:t>
            </a:r>
          </a:p>
        </p:txBody>
      </p:sp>
    </p:spTree>
    <p:extLst>
      <p:ext uri="{BB962C8B-B14F-4D97-AF65-F5344CB8AC3E}">
        <p14:creationId xmlns:p14="http://schemas.microsoft.com/office/powerpoint/2010/main" val="315223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１ー１ー１．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EC2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環境の作成１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DC811B1-5696-46CF-A453-B3A9F2F05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4953"/>
            <a:ext cx="4572000" cy="268605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61E9A72-FD98-417B-87C9-7A41B30B4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44953"/>
            <a:ext cx="4572000" cy="268605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5396F07-6D9E-4AB0-BB0E-FD852CC95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31003"/>
            <a:ext cx="4572000" cy="268605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28CED2AA-A2EC-48D5-90EE-D00908521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31003"/>
            <a:ext cx="4572000" cy="26860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E48326-00D2-44B8-842D-C13CCD73D9D5}"/>
              </a:ext>
            </a:extLst>
          </p:cNvPr>
          <p:cNvSpPr/>
          <p:nvPr/>
        </p:nvSpPr>
        <p:spPr>
          <a:xfrm>
            <a:off x="3663950" y="1644650"/>
            <a:ext cx="819150" cy="260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306058A-95A2-4914-BFA5-332DD4D3F02B}"/>
              </a:ext>
            </a:extLst>
          </p:cNvPr>
          <p:cNvSpPr/>
          <p:nvPr/>
        </p:nvSpPr>
        <p:spPr>
          <a:xfrm>
            <a:off x="4629150" y="2266456"/>
            <a:ext cx="1987550" cy="260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82E700E-C959-4387-B8E3-527226994F32}"/>
              </a:ext>
            </a:extLst>
          </p:cNvPr>
          <p:cNvSpPr/>
          <p:nvPr/>
        </p:nvSpPr>
        <p:spPr>
          <a:xfrm>
            <a:off x="101600" y="4394200"/>
            <a:ext cx="469900" cy="565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1AE81E4-8D59-41E0-B7FC-8BC8018A0F8A}"/>
              </a:ext>
            </a:extLst>
          </p:cNvPr>
          <p:cNvSpPr/>
          <p:nvPr/>
        </p:nvSpPr>
        <p:spPr>
          <a:xfrm>
            <a:off x="95250" y="5813046"/>
            <a:ext cx="527050" cy="282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09542CB-77F2-4A09-A4B8-3D6A18ACB221}"/>
              </a:ext>
            </a:extLst>
          </p:cNvPr>
          <p:cNvSpPr/>
          <p:nvPr/>
        </p:nvSpPr>
        <p:spPr>
          <a:xfrm>
            <a:off x="5737225" y="4705350"/>
            <a:ext cx="1670050" cy="229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71CAA91-8B7F-43D4-B3E7-24F03F8802C3}"/>
              </a:ext>
            </a:extLst>
          </p:cNvPr>
          <p:cNvSpPr/>
          <p:nvPr/>
        </p:nvSpPr>
        <p:spPr>
          <a:xfrm>
            <a:off x="5781675" y="5097930"/>
            <a:ext cx="1089025" cy="648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143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0141C33-F380-4A0A-BA9E-A96E5A321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4953"/>
            <a:ext cx="4572000" cy="268605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D4BBC29-E0A3-4D5D-A864-48450E5B1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31003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１ー１ー２．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EC2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環境の作成２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F564B57-2E76-40AD-970C-EA283AD58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044953"/>
            <a:ext cx="4572000" cy="268605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AF36EEE-FF56-4BC5-B76A-B0404671F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31003"/>
            <a:ext cx="4572000" cy="26860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899F4C3-40E9-461B-ADCC-27D383B14E29}"/>
              </a:ext>
            </a:extLst>
          </p:cNvPr>
          <p:cNvSpPr/>
          <p:nvPr/>
        </p:nvSpPr>
        <p:spPr>
          <a:xfrm>
            <a:off x="118752" y="2688698"/>
            <a:ext cx="2022785" cy="8332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5E166E8-0582-467C-9978-B6DD91D705FC}"/>
              </a:ext>
            </a:extLst>
          </p:cNvPr>
          <p:cNvSpPr/>
          <p:nvPr/>
        </p:nvSpPr>
        <p:spPr>
          <a:xfrm>
            <a:off x="8248650" y="3035300"/>
            <a:ext cx="776598" cy="311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4EDA30-8A31-4AFC-9C19-83F621678EDB}"/>
              </a:ext>
            </a:extLst>
          </p:cNvPr>
          <p:cNvSpPr/>
          <p:nvPr/>
        </p:nvSpPr>
        <p:spPr>
          <a:xfrm>
            <a:off x="1181100" y="5657472"/>
            <a:ext cx="831850" cy="311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2789595-1598-4195-8799-21718A20E387}"/>
              </a:ext>
            </a:extLst>
          </p:cNvPr>
          <p:cNvSpPr/>
          <p:nvPr/>
        </p:nvSpPr>
        <p:spPr>
          <a:xfrm>
            <a:off x="4654550" y="5813047"/>
            <a:ext cx="831850" cy="311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6C8CC2AA-FFAC-4A26-8E55-84F23F98C608}"/>
              </a:ext>
            </a:extLst>
          </p:cNvPr>
          <p:cNvSpPr/>
          <p:nvPr/>
        </p:nvSpPr>
        <p:spPr>
          <a:xfrm>
            <a:off x="1824037" y="1940561"/>
            <a:ext cx="2216150" cy="506846"/>
          </a:xfrm>
          <a:prstGeom prst="wedgeRoundRectCallout">
            <a:avLst>
              <a:gd name="adj1" fmla="val -85704"/>
              <a:gd name="adj2" fmla="val -50440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これはデフォルト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VPC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です。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B4980A8C-183E-48BF-8582-71DDF231A695}"/>
              </a:ext>
            </a:extLst>
          </p:cNvPr>
          <p:cNvSpPr/>
          <p:nvPr/>
        </p:nvSpPr>
        <p:spPr>
          <a:xfrm>
            <a:off x="2211387" y="2528454"/>
            <a:ext cx="2216150" cy="506846"/>
          </a:xfrm>
          <a:prstGeom prst="wedgeRoundRectCallout">
            <a:avLst>
              <a:gd name="adj1" fmla="val -93727"/>
              <a:gd name="adj2" fmla="val 104913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これはデフォルトセキュリティグループです。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860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図 24">
            <a:extLst>
              <a:ext uri="{FF2B5EF4-FFF2-40B4-BE49-F238E27FC236}">
                <a16:creationId xmlns:a16="http://schemas.microsoft.com/office/drawing/2014/main" id="{D84F115C-6E2C-4D51-AD07-1036B96B4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44953"/>
            <a:ext cx="4572000" cy="268605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4EB7494-3392-4C5F-9E01-A1C8E8FD5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23" y="1044953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１ー２．セキュリティグループの設定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4EDA30-8A31-4AFC-9C19-83F621678EDB}"/>
              </a:ext>
            </a:extLst>
          </p:cNvPr>
          <p:cNvSpPr/>
          <p:nvPr/>
        </p:nvSpPr>
        <p:spPr>
          <a:xfrm>
            <a:off x="2724150" y="1720512"/>
            <a:ext cx="1047750" cy="311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3C53174-A2B8-4863-82DB-FB1AA32BA44D}"/>
              </a:ext>
            </a:extLst>
          </p:cNvPr>
          <p:cNvSpPr/>
          <p:nvPr/>
        </p:nvSpPr>
        <p:spPr>
          <a:xfrm>
            <a:off x="3422650" y="3025397"/>
            <a:ext cx="1047750" cy="311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899F4C3-40E9-461B-ADCC-27D383B14E29}"/>
              </a:ext>
            </a:extLst>
          </p:cNvPr>
          <p:cNvSpPr/>
          <p:nvPr/>
        </p:nvSpPr>
        <p:spPr>
          <a:xfrm>
            <a:off x="4652807" y="2546349"/>
            <a:ext cx="4351493" cy="3111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5E166E8-0582-467C-9978-B6DD91D705FC}"/>
              </a:ext>
            </a:extLst>
          </p:cNvPr>
          <p:cNvSpPr/>
          <p:nvPr/>
        </p:nvSpPr>
        <p:spPr>
          <a:xfrm>
            <a:off x="8553450" y="3196468"/>
            <a:ext cx="590550" cy="311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EBEFD809-7936-4122-A3F4-015DD7AF0918}"/>
              </a:ext>
            </a:extLst>
          </p:cNvPr>
          <p:cNvSpPr/>
          <p:nvPr/>
        </p:nvSpPr>
        <p:spPr>
          <a:xfrm>
            <a:off x="5600700" y="3035300"/>
            <a:ext cx="2406650" cy="787400"/>
          </a:xfrm>
          <a:prstGeom prst="wedgeRoundRectCallout">
            <a:avLst>
              <a:gd name="adj1" fmla="val -30859"/>
              <a:gd name="adj2" fmla="val -64919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本番の場合この条件をもっと厳しく考慮する必要です。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715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5" y="273922"/>
            <a:ext cx="8736747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１ー３ー１．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EFS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の作成１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C45DE9D-B418-4C22-800E-53FDE621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3002"/>
            <a:ext cx="4572000" cy="26860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E91A7CD-1801-4A54-B5A5-3546C3DF4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63002"/>
            <a:ext cx="4572000" cy="268605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C777B9B-E68A-40B4-B586-D9A63792E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77938"/>
            <a:ext cx="4572000" cy="268605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38C7441-BE25-4548-BDF8-C9C6E7182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49052"/>
            <a:ext cx="4572000" cy="2686050"/>
          </a:xfrm>
          <a:prstGeom prst="rect">
            <a:avLst/>
          </a:prstGeom>
        </p:spPr>
      </p:pic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C7666377-29D5-4ECF-9E4A-664F4C7B49CF}"/>
              </a:ext>
            </a:extLst>
          </p:cNvPr>
          <p:cNvSpPr/>
          <p:nvPr/>
        </p:nvSpPr>
        <p:spPr>
          <a:xfrm>
            <a:off x="2286000" y="2352041"/>
            <a:ext cx="2216150" cy="657424"/>
          </a:xfrm>
          <a:prstGeom prst="wedgeRoundRectCallout">
            <a:avLst>
              <a:gd name="adj1" fmla="val -70804"/>
              <a:gd name="adj2" fmla="val -25383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これはデフォルト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VPC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です。</a:t>
            </a:r>
            <a:endParaRPr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ec2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と同じ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vpc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が必要です。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AE9992C-6849-4B90-9315-7A5FE767665C}"/>
              </a:ext>
            </a:extLst>
          </p:cNvPr>
          <p:cNvSpPr/>
          <p:nvPr/>
        </p:nvSpPr>
        <p:spPr>
          <a:xfrm>
            <a:off x="838200" y="1845733"/>
            <a:ext cx="1447800" cy="3810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67F2FFB-8D57-4FE5-B387-9DD0A94D0DFB}"/>
              </a:ext>
            </a:extLst>
          </p:cNvPr>
          <p:cNvSpPr/>
          <p:nvPr/>
        </p:nvSpPr>
        <p:spPr>
          <a:xfrm>
            <a:off x="5672666" y="2355521"/>
            <a:ext cx="3401483" cy="488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2D324B1-7CE2-4203-9459-6032A5AC98F0}"/>
              </a:ext>
            </a:extLst>
          </p:cNvPr>
          <p:cNvSpPr/>
          <p:nvPr/>
        </p:nvSpPr>
        <p:spPr>
          <a:xfrm>
            <a:off x="7399866" y="1702184"/>
            <a:ext cx="615421" cy="3636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DD64052-8F7F-49D9-8A17-279CA8F0C02F}"/>
              </a:ext>
            </a:extLst>
          </p:cNvPr>
          <p:cNvSpPr/>
          <p:nvPr/>
        </p:nvSpPr>
        <p:spPr>
          <a:xfrm>
            <a:off x="1254389" y="4469874"/>
            <a:ext cx="615421" cy="3636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2" name="吹き出し: 角を丸めた四角形 21">
            <a:extLst>
              <a:ext uri="{FF2B5EF4-FFF2-40B4-BE49-F238E27FC236}">
                <a16:creationId xmlns:a16="http://schemas.microsoft.com/office/drawing/2014/main" id="{4FD00093-42F6-4451-944D-14806FAB1DEE}"/>
              </a:ext>
            </a:extLst>
          </p:cNvPr>
          <p:cNvSpPr/>
          <p:nvPr/>
        </p:nvSpPr>
        <p:spPr>
          <a:xfrm>
            <a:off x="6663266" y="4902393"/>
            <a:ext cx="2216150" cy="506846"/>
          </a:xfrm>
          <a:prstGeom prst="wedgeRoundRectCallout">
            <a:avLst>
              <a:gd name="adj1" fmla="val -58579"/>
              <a:gd name="adj2" fmla="val 1344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当資料には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mnt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に統一します。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001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AD4ACBB5-78B6-4658-B7F8-41BE7C7D2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89" y="3738562"/>
            <a:ext cx="4714875" cy="311943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002DF1B-AC52-4859-802D-F7F94C3F4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63002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5" y="273922"/>
            <a:ext cx="8736747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１ー３ー２．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EFS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の作成２</a:t>
            </a:r>
          </a:p>
        </p:txBody>
      </p: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379635CE-EACF-4F8F-90F1-1D7794625176}"/>
              </a:ext>
            </a:extLst>
          </p:cNvPr>
          <p:cNvSpPr/>
          <p:nvPr/>
        </p:nvSpPr>
        <p:spPr>
          <a:xfrm>
            <a:off x="4572000" y="1063001"/>
            <a:ext cx="4510088" cy="2693053"/>
          </a:xfrm>
          <a:prstGeom prst="flowChartProcess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#!/bin/bash</a:t>
            </a:r>
          </a:p>
          <a:p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yum install -y amazon-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-utils</a:t>
            </a:r>
          </a:p>
          <a:p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mkdir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-p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mnt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mount -t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-o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tls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fs-05f1da1b37c351da9:/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mnt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chmod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–R 777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mnt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9DE60F15-B56E-4080-8847-22BC168D8B1D}"/>
              </a:ext>
            </a:extLst>
          </p:cNvPr>
          <p:cNvSpPr/>
          <p:nvPr/>
        </p:nvSpPr>
        <p:spPr>
          <a:xfrm>
            <a:off x="3378200" y="5794998"/>
            <a:ext cx="2216150" cy="657424"/>
          </a:xfrm>
          <a:prstGeom prst="wedgeRoundRectCallout">
            <a:avLst>
              <a:gd name="adj1" fmla="val -70804"/>
              <a:gd name="adj2" fmla="val -25383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フォルダをアクセスできることを確認できます。</a:t>
            </a:r>
          </a:p>
        </p:txBody>
      </p: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98533B86-D586-4E74-86E8-517582A1C23E}"/>
              </a:ext>
            </a:extLst>
          </p:cNvPr>
          <p:cNvSpPr/>
          <p:nvPr/>
        </p:nvSpPr>
        <p:spPr>
          <a:xfrm>
            <a:off x="5994400" y="3920683"/>
            <a:ext cx="2216150" cy="657424"/>
          </a:xfrm>
          <a:prstGeom prst="wedgeRoundRectCallout">
            <a:avLst>
              <a:gd name="adj1" fmla="val -69276"/>
              <a:gd name="adj2" fmla="val -114245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Ec2-user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が操作できるため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full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権限を設定します。</a:t>
            </a:r>
          </a:p>
        </p:txBody>
      </p:sp>
      <p:sp>
        <p:nvSpPr>
          <p:cNvPr id="22" name="吹き出し: 角を丸めた四角形 21">
            <a:extLst>
              <a:ext uri="{FF2B5EF4-FFF2-40B4-BE49-F238E27FC236}">
                <a16:creationId xmlns:a16="http://schemas.microsoft.com/office/drawing/2014/main" id="{6E57AA12-C915-47C1-B17D-22290176E66B}"/>
              </a:ext>
            </a:extLst>
          </p:cNvPr>
          <p:cNvSpPr/>
          <p:nvPr/>
        </p:nvSpPr>
        <p:spPr>
          <a:xfrm>
            <a:off x="6392333" y="5418667"/>
            <a:ext cx="2506134" cy="1033755"/>
          </a:xfrm>
          <a:prstGeom prst="wedgeRoundRectCallout">
            <a:avLst>
              <a:gd name="adj1" fmla="val -64546"/>
              <a:gd name="adj2" fmla="val -72475"/>
              <a:gd name="adj3" fmla="val 16667"/>
            </a:avLst>
          </a:prstGeom>
          <a:solidFill>
            <a:srgbClr val="FFFF0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この部分は自動化すべきです。</a:t>
            </a:r>
            <a:endParaRPr kumimoji="1" lang="ja-JP" altLang="en-US" sz="1400" dirty="0">
              <a:solidFill>
                <a:srgbClr val="FF0000"/>
              </a:solidFill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180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DBC71416-8B4E-4E9E-BC64-8DF16BD4E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1B0735A-395A-4062-ABBF-FF1FD93B1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１ー４ー１．</a:t>
            </a:r>
            <a:r>
              <a:rPr lang="en-US" altLang="ja-JP" sz="2800" dirty="0" err="1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Valkey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の設定１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5530255-3896-4335-BCB6-976693AC0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06009"/>
            <a:ext cx="4572000" cy="26860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CF005B-9804-47B2-AA89-4B5CED8F74D7}"/>
              </a:ext>
            </a:extLst>
          </p:cNvPr>
          <p:cNvSpPr/>
          <p:nvPr/>
        </p:nvSpPr>
        <p:spPr>
          <a:xfrm>
            <a:off x="3716322" y="2432963"/>
            <a:ext cx="775981" cy="327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E7CA8ED-EC7B-49A1-A724-4A55A71996DA}"/>
              </a:ext>
            </a:extLst>
          </p:cNvPr>
          <p:cNvSpPr/>
          <p:nvPr/>
        </p:nvSpPr>
        <p:spPr>
          <a:xfrm>
            <a:off x="5714999" y="2432963"/>
            <a:ext cx="1625368" cy="117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C9AD6FD-6C36-40B2-8E2D-75ED8E79FBC3}"/>
              </a:ext>
            </a:extLst>
          </p:cNvPr>
          <p:cNvSpPr/>
          <p:nvPr/>
        </p:nvSpPr>
        <p:spPr>
          <a:xfrm>
            <a:off x="4063998" y="6112659"/>
            <a:ext cx="558802" cy="279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25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7AD0526-2127-4252-B1CD-983CDAD7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１ー４ー２．</a:t>
            </a:r>
            <a:r>
              <a:rPr lang="en-US" altLang="ja-JP" sz="2800" dirty="0" err="1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Valkey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の設定２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AF9CE91-4FA0-4BAF-AC43-BD3A633B1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8F46BDA-0018-4048-A3E0-9C5CD56F5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06009"/>
            <a:ext cx="4572000" cy="2686050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E292FB2-2E99-4351-B133-508E4EEC095C}"/>
              </a:ext>
            </a:extLst>
          </p:cNvPr>
          <p:cNvSpPr/>
          <p:nvPr/>
        </p:nvSpPr>
        <p:spPr>
          <a:xfrm>
            <a:off x="1528233" y="2749221"/>
            <a:ext cx="1515534" cy="349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334FD70-B84D-4A3F-9C3A-ABE1A8D322F8}"/>
              </a:ext>
            </a:extLst>
          </p:cNvPr>
          <p:cNvSpPr/>
          <p:nvPr/>
        </p:nvSpPr>
        <p:spPr>
          <a:xfrm>
            <a:off x="4692649" y="2625231"/>
            <a:ext cx="643467" cy="247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ED8CDFD-C682-4B51-B6E1-870C0A578A0A}"/>
              </a:ext>
            </a:extLst>
          </p:cNvPr>
          <p:cNvSpPr/>
          <p:nvPr/>
        </p:nvSpPr>
        <p:spPr>
          <a:xfrm>
            <a:off x="6711949" y="2405574"/>
            <a:ext cx="1219201" cy="247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4CE9B00-C3CA-4476-9A22-488C25AD69C6}"/>
              </a:ext>
            </a:extLst>
          </p:cNvPr>
          <p:cNvSpPr/>
          <p:nvPr/>
        </p:nvSpPr>
        <p:spPr>
          <a:xfrm>
            <a:off x="88899" y="5790124"/>
            <a:ext cx="1219201" cy="324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CC00F5A0-39DA-4ECB-A861-709057D14499}"/>
              </a:ext>
            </a:extLst>
          </p:cNvPr>
          <p:cNvSpPr/>
          <p:nvPr/>
        </p:nvSpPr>
        <p:spPr>
          <a:xfrm>
            <a:off x="4572000" y="3890070"/>
            <a:ext cx="2794000" cy="885217"/>
          </a:xfrm>
          <a:prstGeom prst="wedgeRoundRectCallout">
            <a:avLst>
              <a:gd name="adj1" fmla="val -90833"/>
              <a:gd name="adj2" fmla="val -103354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エンドポイントをコピーして、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yaml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ファイルに転記します。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712CB801-B883-46AF-B952-CE1BBA23C869}"/>
              </a:ext>
            </a:extLst>
          </p:cNvPr>
          <p:cNvSpPr/>
          <p:nvPr/>
        </p:nvSpPr>
        <p:spPr>
          <a:xfrm>
            <a:off x="6469451" y="757360"/>
            <a:ext cx="2587936" cy="657424"/>
          </a:xfrm>
          <a:prstGeom prst="wedgeRoundRectCallout">
            <a:avLst>
              <a:gd name="adj1" fmla="val -31181"/>
              <a:gd name="adj2" fmla="val 193502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これはデフォルト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VPC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です。</a:t>
            </a:r>
            <a:endParaRPr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lambda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と同じ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vpc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が必要です。</a:t>
            </a:r>
          </a:p>
        </p:txBody>
      </p: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B41EB056-0AB4-4EC3-ACDB-A372F363C43A}"/>
              </a:ext>
            </a:extLst>
          </p:cNvPr>
          <p:cNvSpPr/>
          <p:nvPr/>
        </p:nvSpPr>
        <p:spPr>
          <a:xfrm>
            <a:off x="2374084" y="5311281"/>
            <a:ext cx="4412610" cy="1357967"/>
          </a:xfrm>
          <a:prstGeom prst="wedgeRoundRectCallout">
            <a:avLst>
              <a:gd name="adj1" fmla="val -72233"/>
              <a:gd name="adj2" fmla="val 3114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これはデフォルトセキュリティグループです。</a:t>
            </a:r>
            <a:endParaRPr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lambda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と同じセキュリティグループが必要です。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テストのため、制限なしのセキュリティグループです。</a:t>
            </a:r>
            <a:endParaRPr lang="en-US" altLang="ja-JP" sz="1400" dirty="0">
              <a:solidFill>
                <a:srgbClr val="FFFF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本番時は</a:t>
            </a:r>
            <a:r>
              <a:rPr lang="ja-JP" altLang="en-US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en-US" altLang="ja-JP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lambda</a:t>
            </a:r>
            <a:r>
              <a:rPr lang="ja-JP" altLang="en-US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のセキュリティグループから</a:t>
            </a:r>
            <a:r>
              <a:rPr lang="en-US" altLang="ja-JP" sz="1400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Valkey</a:t>
            </a:r>
            <a:r>
              <a:rPr lang="ja-JP" altLang="en-US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kumimoji="1" lang="en-US" altLang="ja-JP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6379</a:t>
            </a:r>
            <a:r>
              <a:rPr kumimoji="1" lang="ja-JP" altLang="en-US" sz="1400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ポートへのアクセス許可が必要です。</a:t>
            </a:r>
            <a:endParaRPr kumimoji="1" lang="en-US" altLang="ja-JP" sz="1400" dirty="0">
              <a:solidFill>
                <a:srgbClr val="FFFF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2" name="吹き出し: 角を丸めた四角形 21">
            <a:extLst>
              <a:ext uri="{FF2B5EF4-FFF2-40B4-BE49-F238E27FC236}">
                <a16:creationId xmlns:a16="http://schemas.microsoft.com/office/drawing/2014/main" id="{7AE6E062-F084-4022-BBAC-3AEA84BF25FA}"/>
              </a:ext>
            </a:extLst>
          </p:cNvPr>
          <p:cNvSpPr/>
          <p:nvPr/>
        </p:nvSpPr>
        <p:spPr>
          <a:xfrm>
            <a:off x="6469451" y="449112"/>
            <a:ext cx="2587936" cy="1017504"/>
          </a:xfrm>
          <a:prstGeom prst="wedgeRoundRectCallout">
            <a:avLst>
              <a:gd name="adj1" fmla="val -88998"/>
              <a:gd name="adj2" fmla="val 150389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これはデフォルト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VPC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です。</a:t>
            </a:r>
            <a:endParaRPr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lambda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と同じ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vpc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が必要です。</a:t>
            </a:r>
          </a:p>
        </p:txBody>
      </p:sp>
    </p:spTree>
    <p:extLst>
      <p:ext uri="{BB962C8B-B14F-4D97-AF65-F5344CB8AC3E}">
        <p14:creationId xmlns:p14="http://schemas.microsoft.com/office/powerpoint/2010/main" val="1972650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１ー５．資材のアップロード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3BE4B80-2533-4FE7-A027-9CC9E984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44954"/>
            <a:ext cx="3999071" cy="296179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1A744F1-B964-4DA3-86FC-883812130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88221"/>
            <a:ext cx="4183380" cy="265176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9ADFAD7-96F9-4E8C-96FF-80A01EE7B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8575" y="1044953"/>
            <a:ext cx="4166235" cy="272605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C9EA07A-9612-408D-929D-5F7DA8BFA5C3}"/>
              </a:ext>
            </a:extLst>
          </p:cNvPr>
          <p:cNvSpPr/>
          <p:nvPr/>
        </p:nvSpPr>
        <p:spPr>
          <a:xfrm>
            <a:off x="1568450" y="1777622"/>
            <a:ext cx="831850" cy="559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EDFAD6C-9E57-4F38-B9D7-5DC4C11B3D8F}"/>
              </a:ext>
            </a:extLst>
          </p:cNvPr>
          <p:cNvSpPr/>
          <p:nvPr/>
        </p:nvSpPr>
        <p:spPr>
          <a:xfrm>
            <a:off x="5588000" y="2246264"/>
            <a:ext cx="3035300" cy="559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7D009F6-4EBE-4E71-8A81-5FE9F895A440}"/>
              </a:ext>
            </a:extLst>
          </p:cNvPr>
          <p:cNvSpPr/>
          <p:nvPr/>
        </p:nvSpPr>
        <p:spPr>
          <a:xfrm>
            <a:off x="1127436" y="4830337"/>
            <a:ext cx="1457014" cy="559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17D9BB0-DE58-41A2-A736-DAF444ADC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845" y="4083308"/>
            <a:ext cx="4183380" cy="2651760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E1FC59A-7C1A-441F-BF7E-0D488A1EE6FB}"/>
              </a:ext>
            </a:extLst>
          </p:cNvPr>
          <p:cNvSpPr/>
          <p:nvPr/>
        </p:nvSpPr>
        <p:spPr>
          <a:xfrm>
            <a:off x="5902636" y="5005030"/>
            <a:ext cx="1457014" cy="559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CE0669BB-8250-4516-BFE0-2BF3C4E6E999}"/>
              </a:ext>
            </a:extLst>
          </p:cNvPr>
          <p:cNvSpPr/>
          <p:nvPr/>
        </p:nvSpPr>
        <p:spPr>
          <a:xfrm>
            <a:off x="5902636" y="5813047"/>
            <a:ext cx="2912533" cy="922021"/>
          </a:xfrm>
          <a:prstGeom prst="wedgeRoundRectCallout">
            <a:avLst>
              <a:gd name="adj1" fmla="val -39728"/>
              <a:gd name="adj2" fmla="val -69731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storage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フォルダは、外部共有場所となる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に置きます。</a:t>
            </a:r>
          </a:p>
        </p:txBody>
      </p:sp>
    </p:spTree>
    <p:extLst>
      <p:ext uri="{BB962C8B-B14F-4D97-AF65-F5344CB8AC3E}">
        <p14:creationId xmlns:p14="http://schemas.microsoft.com/office/powerpoint/2010/main" val="4187192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8607A4-98F5-495A-A443-E10D6670BAFD}"/>
              </a:ext>
            </a:extLst>
          </p:cNvPr>
          <p:cNvSpPr/>
          <p:nvPr/>
        </p:nvSpPr>
        <p:spPr>
          <a:xfrm>
            <a:off x="155574" y="1044951"/>
            <a:ext cx="4416426" cy="5666241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making_efw_helloworld_docker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</a:t>
            </a:r>
            <a:r>
              <a:rPr kumimoji="1"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Dockerfile</a:t>
            </a:r>
            <a:endParaRPr kumimoji="1" lang="en-US" altLang="ja-JP" sz="1400" b="1" dirty="0">
              <a:solidFill>
                <a:srgbClr val="FFFF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</a:t>
            </a:r>
            <a:r>
              <a:rPr kumimoji="1"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entrypoint.sh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├─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copyto_tomcat_conf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</a:t>
            </a:r>
            <a:r>
              <a:rPr kumimoji="1"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catalina.properties</a:t>
            </a:r>
            <a:endParaRPr kumimoji="1" lang="en-US" altLang="ja-JP" sz="1400" b="1" dirty="0">
              <a:solidFill>
                <a:srgbClr val="FFFF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</a:t>
            </a:r>
            <a:r>
              <a:rPr kumimoji="1"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redisson.yaml</a:t>
            </a:r>
            <a:endParaRPr kumimoji="1" lang="en-US" altLang="ja-JP" sz="1400" b="1" dirty="0">
              <a:solidFill>
                <a:srgbClr val="FFFF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├─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copyto_tomcat_lib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angus-activation-2.0.2.jar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barcode4j_2.1.0_zxing_3.5.3-allinone.jar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jakarta.activation-api-2.1.3.jar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jakarta.mail-2.0.3.jar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nashorn-15.6_allinone.jar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openpdf-3.0.0_allinone.jar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poi-5.5.1_allinone.jar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postgresql-42.2.6.jar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zip4j-2.11.5.jar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</a:t>
            </a:r>
            <a:r>
              <a:rPr kumimoji="1"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redisson-all-3.50.0.jar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│      </a:t>
            </a:r>
            <a:r>
              <a:rPr kumimoji="1"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redisson-tomcat-11-3.50.0.jar</a:t>
            </a: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１ー６ー１．資材一覧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B84ADAE-76AF-44DA-A976-99D0C2FF31D2}"/>
              </a:ext>
            </a:extLst>
          </p:cNvPr>
          <p:cNvSpPr/>
          <p:nvPr/>
        </p:nvSpPr>
        <p:spPr>
          <a:xfrm>
            <a:off x="4572000" y="1044951"/>
            <a:ext cx="4416426" cy="5666241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└─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copyto_tomcat_webapps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└─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helloworld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│ 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index.jsp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│  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・・・</a:t>
            </a:r>
          </a:p>
          <a:p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├─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META-INF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│      </a:t>
            </a:r>
            <a:r>
              <a:rPr kumimoji="1"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context.xml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└─WEB-INF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├─classes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│      </a:t>
            </a:r>
            <a:r>
              <a:rPr kumimoji="1"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efw.properties</a:t>
            </a:r>
            <a:endParaRPr kumimoji="1" lang="en-US" altLang="ja-JP" sz="1400" b="1" dirty="0">
              <a:solidFill>
                <a:srgbClr val="FFFF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└─lib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efw-4.08.010jakarta.jar</a:t>
            </a:r>
          </a:p>
          <a:p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FB67D1CC-1E55-4FD1-8D96-50D504BD72B2}"/>
              </a:ext>
            </a:extLst>
          </p:cNvPr>
          <p:cNvSpPr/>
          <p:nvPr/>
        </p:nvSpPr>
        <p:spPr>
          <a:xfrm>
            <a:off x="3867680" y="5091594"/>
            <a:ext cx="2912533" cy="922021"/>
          </a:xfrm>
          <a:prstGeom prst="wedgeRoundRectCallout">
            <a:avLst>
              <a:gd name="adj1" fmla="val -39728"/>
              <a:gd name="adj2" fmla="val -69731"/>
              <a:gd name="adj3" fmla="val 16667"/>
            </a:avLst>
          </a:prstGeom>
          <a:solidFill>
            <a:srgbClr val="FFFF0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TODO</a:t>
            </a:r>
            <a:r>
              <a:rPr lang="ja-JP" altLang="en-US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4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</a:t>
            </a:r>
            <a:r>
              <a:rPr lang="ja-JP" altLang="en-US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のドライバーの高いバージョンがあります。高いバージョンは使えないみたいですが、その理由を究明する必要です。</a:t>
            </a:r>
            <a:endParaRPr kumimoji="1" lang="ja-JP" altLang="en-US" sz="14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0129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8607A4-98F5-495A-A443-E10D6670BAFD}"/>
              </a:ext>
            </a:extLst>
          </p:cNvPr>
          <p:cNvSpPr/>
          <p:nvPr/>
        </p:nvSpPr>
        <p:spPr>
          <a:xfrm>
            <a:off x="155573" y="1044951"/>
            <a:ext cx="8829036" cy="5666241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tomcat11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</a:t>
            </a:r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jdk25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からスタートする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FROM tomcat:11-jre25</a:t>
            </a: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</a:t>
            </a:r>
            <a:r>
              <a:rPr kumimoji="1" lang="en-US" altLang="ja-JP" sz="1400" dirty="0" err="1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aws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lambda web adapter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を利用する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 --from=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public.ecr.aws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awsguru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/aws-lambda-adapter:1.0.0-rc1 /lambda-adapter /opt/extensions/lambda-adapter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既存のアプリフォルダを全部削除する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RUN rm -rf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/local/tomcat/webapps/*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jar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スキャンの範囲を設定した</a:t>
            </a:r>
            <a:r>
              <a:rPr kumimoji="1" lang="en-US" altLang="ja-JP" sz="1400" dirty="0" err="1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catalina.properties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を利用する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copyto_tomcat_conf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/local/tomcat/conf/</a:t>
            </a: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アプリに利用される</a:t>
            </a:r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jar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</a:t>
            </a:r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tomcat lib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に移す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copyto_tomcat_lib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/local/tomcat/lib/</a:t>
            </a: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アプリフォルダをコピーする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copyto_tomcat_webapps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/local/tomcat/webapps/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</a:t>
            </a:r>
            <a:r>
              <a:rPr kumimoji="1" lang="en-US" altLang="ja-JP" sz="1400" dirty="0" err="1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aws</a:t>
            </a:r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-lambda-adapter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用の情報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ENV PORT=8080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起動する。起動時一時フォルダを作成する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COPY entrypoint.sh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/local/bin/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RUN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chmod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+x /usr/local/bin/entrypoint.sh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CMD ["entrypoint.sh"]</a:t>
            </a: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１ー６ー２．</a:t>
            </a:r>
            <a:r>
              <a:rPr lang="en-US" altLang="ja-JP" sz="2800" dirty="0" err="1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Dockfile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0289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8607A4-98F5-495A-A443-E10D6670BAFD}"/>
              </a:ext>
            </a:extLst>
          </p:cNvPr>
          <p:cNvSpPr/>
          <p:nvPr/>
        </p:nvSpPr>
        <p:spPr>
          <a:xfrm>
            <a:off x="155573" y="1044951"/>
            <a:ext cx="8829036" cy="5666241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#!/bin/bash</a:t>
            </a:r>
          </a:p>
          <a:p>
            <a:endParaRPr kumimoji="1" lang="en-US" altLang="ja-JP" sz="1400" dirty="0">
              <a:solidFill>
                <a:schemeClr val="accent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export CATALINA_HOME=/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/local/tomcat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export CATALINA_BASE=/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export CATALINA_TMPDIR=/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/tomcat/temp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export JAVA_OPTS="$JAVA_OPTS -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Djava.io.tmpdir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=/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/tomcat/temp"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起動時一時フォルダに</a:t>
            </a:r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tomcat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関連のフォルダを作る。</a:t>
            </a:r>
            <a:r>
              <a:rPr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このやり方で、設定が便利。</a:t>
            </a:r>
            <a:endParaRPr lang="en-US" altLang="ja-JP" sz="1400" dirty="0">
              <a:solidFill>
                <a:schemeClr val="accent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</a:t>
            </a:r>
            <a:r>
              <a:rPr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また、フォルダが存在だったらエラーしないように。</a:t>
            </a:r>
            <a:endParaRPr kumimoji="1" lang="en-US" altLang="ja-JP" sz="1400" dirty="0">
              <a:solidFill>
                <a:schemeClr val="accent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mkdir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-p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/tomcat/conf</a:t>
            </a:r>
          </a:p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mkdir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-p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/tomcat/logs</a:t>
            </a:r>
          </a:p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mkdir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-p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/tomcat/temp</a:t>
            </a:r>
          </a:p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mkdir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-p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/tomcat/work</a:t>
            </a:r>
          </a:p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mkdir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-p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/tomcat/webapps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conf</a:t>
            </a:r>
            <a:r>
              <a:rPr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</a:t>
            </a:r>
            <a:r>
              <a:rPr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</a:t>
            </a:r>
            <a:r>
              <a:rPr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をコピーするように。</a:t>
            </a:r>
            <a:endParaRPr kumimoji="1" lang="en-US" altLang="ja-JP" sz="1400" dirty="0">
              <a:solidFill>
                <a:schemeClr val="accent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cp -r $CATALINA_HOME/conf/.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/tomcat/conf/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cp -r $CATALINA_HOME/webapps/. 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tmp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/tomcat/webapps/</a:t>
            </a:r>
          </a:p>
          <a:p>
            <a:endParaRPr kumimoji="1" lang="en-US" altLang="ja-JP" sz="1400" dirty="0">
              <a:solidFill>
                <a:schemeClr val="accent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 Tomcat</a:t>
            </a:r>
            <a:r>
              <a:rPr kumimoji="1" lang="ja-JP" altLang="en-US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を起動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exec catalina.sh run</a:t>
            </a: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１ー６ー３．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entrypoint.sh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371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8607A4-98F5-495A-A443-E10D6670BAFD}"/>
              </a:ext>
            </a:extLst>
          </p:cNvPr>
          <p:cNvSpPr/>
          <p:nvPr/>
        </p:nvSpPr>
        <p:spPr>
          <a:xfrm>
            <a:off x="155573" y="1044951"/>
            <a:ext cx="8829036" cy="5666241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・・・</a:t>
            </a:r>
            <a:endParaRPr kumimoji="1" lang="en-US" altLang="ja-JP" sz="1400" dirty="0">
              <a:solidFill>
                <a:schemeClr val="accent3">
                  <a:lumMod val="40000"/>
                  <a:lumOff val="6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da-DK" altLang="ja-JP" sz="1400" dirty="0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#storage folder</a:t>
            </a:r>
          </a:p>
          <a:p>
            <a:r>
              <a:rPr kumimoji="1" lang="da-DK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efw.storage.folder = /mnt/efs/storage</a:t>
            </a:r>
          </a:p>
          <a:p>
            <a:r>
              <a:rPr kumimoji="1" lang="ja-JP" altLang="en-US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・・・</a:t>
            </a:r>
            <a:endParaRPr kumimoji="1" lang="en-US" altLang="ja-JP" sz="1400" dirty="0">
              <a:solidFill>
                <a:schemeClr val="accent3">
                  <a:lumMod val="40000"/>
                  <a:lumOff val="6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１ー６ー４．</a:t>
            </a:r>
            <a:r>
              <a:rPr lang="en-US" altLang="ja-JP" sz="2800" dirty="0" err="1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efw.properties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A569F496-83BC-49CD-A3ED-2EE29DDF78A9}"/>
              </a:ext>
            </a:extLst>
          </p:cNvPr>
          <p:cNvSpPr/>
          <p:nvPr/>
        </p:nvSpPr>
        <p:spPr>
          <a:xfrm>
            <a:off x="3334911" y="2231894"/>
            <a:ext cx="2912533" cy="922021"/>
          </a:xfrm>
          <a:prstGeom prst="wedgeRoundRectCallout">
            <a:avLst>
              <a:gd name="adj1" fmla="val -39728"/>
              <a:gd name="adj2" fmla="val -69731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storage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フォルダは、外部共有場所となる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efs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に置きます。</a:t>
            </a:r>
          </a:p>
        </p:txBody>
      </p:sp>
    </p:spTree>
    <p:extLst>
      <p:ext uri="{BB962C8B-B14F-4D97-AF65-F5344CB8AC3E}">
        <p14:creationId xmlns:p14="http://schemas.microsoft.com/office/powerpoint/2010/main" val="1373973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8607A4-98F5-495A-A443-E10D6670BAFD}"/>
              </a:ext>
            </a:extLst>
          </p:cNvPr>
          <p:cNvSpPr/>
          <p:nvPr/>
        </p:nvSpPr>
        <p:spPr>
          <a:xfrm>
            <a:off x="155573" y="1044951"/>
            <a:ext cx="8829036" cy="5666241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・・・</a:t>
            </a:r>
            <a:endParaRPr kumimoji="1" lang="en-US" altLang="ja-JP" sz="1400" dirty="0">
              <a:solidFill>
                <a:schemeClr val="accent3">
                  <a:lumMod val="40000"/>
                  <a:lumOff val="6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tomcat.util.scan.StandardJarScanFilter.jarsToSkip=*.jar</a:t>
            </a:r>
          </a:p>
          <a:p>
            <a:r>
              <a:rPr kumimoji="1" lang="ja-JP" altLang="en-US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・・・</a:t>
            </a:r>
            <a:endParaRPr kumimoji="1" lang="en-US" altLang="ja-JP" sz="1400" dirty="0">
              <a:solidFill>
                <a:schemeClr val="accent3">
                  <a:lumMod val="40000"/>
                  <a:lumOff val="6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tomcat.util.scan.StandardJarScanFilter.jarsToScan=efw*.jar</a:t>
            </a:r>
          </a:p>
          <a:p>
            <a:r>
              <a:rPr lang="ja-JP" altLang="en-US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・・・</a:t>
            </a:r>
            <a:endParaRPr kumimoji="1" lang="en-US" altLang="ja-JP" sz="1400" dirty="0">
              <a:solidFill>
                <a:schemeClr val="accent3">
                  <a:lumMod val="40000"/>
                  <a:lumOff val="6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１ー６ー５．</a:t>
            </a:r>
            <a:r>
              <a:rPr lang="en-US" altLang="ja-JP" sz="2800" dirty="0" err="1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catalina.properties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416D1610-B590-4531-A7E7-42BFA6D7FDDC}"/>
              </a:ext>
            </a:extLst>
          </p:cNvPr>
          <p:cNvSpPr/>
          <p:nvPr/>
        </p:nvSpPr>
        <p:spPr>
          <a:xfrm>
            <a:off x="5102755" y="2385882"/>
            <a:ext cx="2912533" cy="922021"/>
          </a:xfrm>
          <a:prstGeom prst="wedgeRoundRectCallout">
            <a:avLst>
              <a:gd name="adj1" fmla="val -39728"/>
              <a:gd name="adj2" fmla="val -69731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スキャンする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jar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ファイルを限定して起動時間を短縮します。</a:t>
            </a:r>
          </a:p>
        </p:txBody>
      </p:sp>
    </p:spTree>
    <p:extLst>
      <p:ext uri="{BB962C8B-B14F-4D97-AF65-F5344CB8AC3E}">
        <p14:creationId xmlns:p14="http://schemas.microsoft.com/office/powerpoint/2010/main" val="221805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8607A4-98F5-495A-A443-E10D6670BAFD}"/>
              </a:ext>
            </a:extLst>
          </p:cNvPr>
          <p:cNvSpPr/>
          <p:nvPr/>
        </p:nvSpPr>
        <p:spPr>
          <a:xfrm>
            <a:off x="155572" y="1044951"/>
            <a:ext cx="8820647" cy="1631137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&lt;Manager </a:t>
            </a:r>
          </a:p>
          <a:p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className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= "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org.redisson.tomcat.RedissonSessionManager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readMode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= "</a:t>
            </a:r>
            <a:r>
              <a:rPr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updateMode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= "</a:t>
            </a:r>
            <a:r>
              <a:rPr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AFTER_REQUEST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configPath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	= "</a:t>
            </a:r>
            <a:r>
              <a:rPr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usr</a:t>
            </a:r>
            <a:r>
              <a:rPr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/local/tomcat/conf/</a:t>
            </a:r>
            <a:r>
              <a:rPr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redisson.yaml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/&gt;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１ー６ー６．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context.xml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と</a:t>
            </a:r>
            <a:r>
              <a:rPr lang="en-US" altLang="ja-JP" sz="2800" dirty="0" err="1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redisson.yaml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EB4B9A2-C548-481E-B8D0-DFB6D9047762}"/>
              </a:ext>
            </a:extLst>
          </p:cNvPr>
          <p:cNvSpPr/>
          <p:nvPr/>
        </p:nvSpPr>
        <p:spPr>
          <a:xfrm>
            <a:off x="167781" y="2676089"/>
            <a:ext cx="8820647" cy="4035104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singleServerConfig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address: "</a:t>
            </a:r>
            <a:r>
              <a:rPr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rediss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://cache-for-helloword-txepep.serverless.usw1.cache.amazonaws.com:6379"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connectionMinimumIdleSize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 </a:t>
            </a:r>
            <a:r>
              <a:rPr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connectionPoolSize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 </a:t>
            </a:r>
            <a:r>
              <a:rPr lang="en-US" altLang="ja-JP" sz="1400" b="1" dirty="0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5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idleConnectionTimeout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 10000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connectTimeout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 10000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timeout: 3000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retryAttempts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 3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retryInterval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 1500</a:t>
            </a:r>
          </a:p>
          <a:p>
            <a:endParaRPr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threads: 4</a:t>
            </a:r>
          </a:p>
          <a:p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nettyThreads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 4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BA67E55B-0625-4760-B3D6-ADB6F7BDC91F}"/>
              </a:ext>
            </a:extLst>
          </p:cNvPr>
          <p:cNvSpPr/>
          <p:nvPr/>
        </p:nvSpPr>
        <p:spPr>
          <a:xfrm>
            <a:off x="3928297" y="3771620"/>
            <a:ext cx="3999299" cy="922021"/>
          </a:xfrm>
          <a:prstGeom prst="wedgeRoundRectCallout">
            <a:avLst>
              <a:gd name="adj1" fmla="val -39728"/>
              <a:gd name="adj2" fmla="val -69731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サーバレスのため、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TLS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が必要です。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ではなく、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rediss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で接続する必要です。</a:t>
            </a:r>
            <a:endParaRPr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Lambda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向け、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PoolSize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は小さめにします。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2679899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4137" name="テキスト ボックス 5"/>
          <p:cNvSpPr txBox="1">
            <a:spLocks noChangeArrowheads="1"/>
          </p:cNvSpPr>
          <p:nvPr/>
        </p:nvSpPr>
        <p:spPr bwMode="auto">
          <a:xfrm>
            <a:off x="251136" y="1094618"/>
            <a:ext cx="8579385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Docker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ツールをインストールする。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ECR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を作成する。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アクセスキーを作成する。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資材をビルドして、</a:t>
            </a:r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Docker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イメージを作成する。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Dock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イメージを</a:t>
            </a:r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ECR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にプッシュする。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Docker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イメージの作成</a:t>
            </a:r>
          </a:p>
        </p:txBody>
      </p:sp>
    </p:spTree>
    <p:extLst>
      <p:ext uri="{BB962C8B-B14F-4D97-AF65-F5344CB8AC3E}">
        <p14:creationId xmlns:p14="http://schemas.microsoft.com/office/powerpoint/2010/main" val="866693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999193A-DD5C-488A-881D-4F5A34219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3" y="1044952"/>
            <a:ext cx="4226832" cy="2807886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8607A4-98F5-495A-A443-E10D6670BAFD}"/>
              </a:ext>
            </a:extLst>
          </p:cNvPr>
          <p:cNvSpPr/>
          <p:nvPr/>
        </p:nvSpPr>
        <p:spPr>
          <a:xfrm>
            <a:off x="155573" y="3916740"/>
            <a:ext cx="4243389" cy="1740194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yum install -y docker</a:t>
            </a:r>
          </a:p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systemctl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start docker</a:t>
            </a:r>
          </a:p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docker version</a:t>
            </a:r>
          </a:p>
          <a:p>
            <a:endParaRPr kumimoji="1" lang="en-US" altLang="ja-JP" sz="1400" dirty="0">
              <a:solidFill>
                <a:schemeClr val="accent3">
                  <a:lumMod val="40000"/>
                  <a:lumOff val="6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２ー１．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Docker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ツールのインストール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11841F7-0975-4F0F-A8F9-034A40007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998" y="1044952"/>
            <a:ext cx="3676650" cy="287178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F70572D-C85D-4D58-9A06-3AEAC6E15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02" y="3974021"/>
            <a:ext cx="4243388" cy="280749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37CA288-8006-48B7-BFCD-A0E159E34930}"/>
              </a:ext>
            </a:extLst>
          </p:cNvPr>
          <p:cNvSpPr/>
          <p:nvPr/>
        </p:nvSpPr>
        <p:spPr>
          <a:xfrm>
            <a:off x="1701149" y="1937857"/>
            <a:ext cx="1847393" cy="629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BF8E28-3352-4695-BDC1-D3933F33072F}"/>
              </a:ext>
            </a:extLst>
          </p:cNvPr>
          <p:cNvSpPr/>
          <p:nvPr/>
        </p:nvSpPr>
        <p:spPr>
          <a:xfrm>
            <a:off x="5180895" y="1451295"/>
            <a:ext cx="2293696" cy="352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C01561F-2F04-4115-9060-D0B7DE03D8E4}"/>
              </a:ext>
            </a:extLst>
          </p:cNvPr>
          <p:cNvSpPr/>
          <p:nvPr/>
        </p:nvSpPr>
        <p:spPr>
          <a:xfrm>
            <a:off x="5927981" y="2473855"/>
            <a:ext cx="2293696" cy="352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8760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34AF2ECC-122C-41C7-AFD0-37DECE83B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75" y="3731003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２ー２．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</a:rPr>
              <a:t>ECR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</a:rPr>
              <a:t>リポジトリの作成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87E31CF-8D06-4477-81D9-12C8856EA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44953"/>
            <a:ext cx="4572000" cy="268605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4DA1F5E-10AF-438F-8160-33BC8EE99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225" y="1044953"/>
            <a:ext cx="4572000" cy="268605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92551455-C041-4957-89E5-0642326084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838" y="3731003"/>
            <a:ext cx="4572000" cy="26860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4E5997A-4D0F-406F-B3C3-F2EF41FAD427}"/>
              </a:ext>
            </a:extLst>
          </p:cNvPr>
          <p:cNvSpPr/>
          <p:nvPr/>
        </p:nvSpPr>
        <p:spPr>
          <a:xfrm>
            <a:off x="1204979" y="2104739"/>
            <a:ext cx="2293696" cy="352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9EA2B2F-8B56-4D1D-899A-7D6F366EA86C}"/>
              </a:ext>
            </a:extLst>
          </p:cNvPr>
          <p:cNvSpPr/>
          <p:nvPr/>
        </p:nvSpPr>
        <p:spPr>
          <a:xfrm>
            <a:off x="58131" y="2705873"/>
            <a:ext cx="1146848" cy="352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F20374B-203E-477A-9D20-E2B60E131BF8}"/>
              </a:ext>
            </a:extLst>
          </p:cNvPr>
          <p:cNvSpPr/>
          <p:nvPr/>
        </p:nvSpPr>
        <p:spPr>
          <a:xfrm>
            <a:off x="4630131" y="2752439"/>
            <a:ext cx="1347336" cy="185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F7AF642-643D-4104-B112-C08B6B0D520F}"/>
              </a:ext>
            </a:extLst>
          </p:cNvPr>
          <p:cNvSpPr/>
          <p:nvPr/>
        </p:nvSpPr>
        <p:spPr>
          <a:xfrm>
            <a:off x="8656319" y="3429199"/>
            <a:ext cx="389467" cy="2259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99ECD2C-DD69-4521-A842-1831784D36D8}"/>
              </a:ext>
            </a:extLst>
          </p:cNvPr>
          <p:cNvSpPr/>
          <p:nvPr/>
        </p:nvSpPr>
        <p:spPr>
          <a:xfrm>
            <a:off x="1061721" y="5143127"/>
            <a:ext cx="899160" cy="348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EEE159D-018E-4C1D-AB32-0ED623409448}"/>
              </a:ext>
            </a:extLst>
          </p:cNvPr>
          <p:cNvSpPr/>
          <p:nvPr/>
        </p:nvSpPr>
        <p:spPr>
          <a:xfrm>
            <a:off x="5302530" y="4794774"/>
            <a:ext cx="2939770" cy="1320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6E35A748-3EB1-4122-9C27-3048643F38F7}"/>
              </a:ext>
            </a:extLst>
          </p:cNvPr>
          <p:cNvSpPr/>
          <p:nvPr/>
        </p:nvSpPr>
        <p:spPr>
          <a:xfrm>
            <a:off x="2984500" y="5491481"/>
            <a:ext cx="2121211" cy="789048"/>
          </a:xfrm>
          <a:prstGeom prst="wedgeRoundRectCallout">
            <a:avLst>
              <a:gd name="adj1" fmla="val 60283"/>
              <a:gd name="adj2" fmla="val -22471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当資料には、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docker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コマンドを呼び出す際、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sudo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で行うように統一します。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8844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95C6E8E-E6AE-4A7D-B995-FBB30DD4D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88" y="1044953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２ー３．アクセスキーの作成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F553444-86D0-443C-9BF3-20695C2F9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44953"/>
            <a:ext cx="4572000" cy="268605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974E46A-EC45-4A3C-B3A0-80B041BDE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388" y="3731003"/>
            <a:ext cx="4572000" cy="268605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4E050B58-8DE6-46E4-B361-63B350A01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010" y="3731003"/>
            <a:ext cx="4243980" cy="280788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5DD4A42-F9A1-4377-B55B-9F2447C7D10A}"/>
              </a:ext>
            </a:extLst>
          </p:cNvPr>
          <p:cNvSpPr/>
          <p:nvPr/>
        </p:nvSpPr>
        <p:spPr>
          <a:xfrm>
            <a:off x="3347721" y="2533277"/>
            <a:ext cx="899160" cy="2670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6EB9C21-E973-48D4-A2E6-77A15DA4FF08}"/>
              </a:ext>
            </a:extLst>
          </p:cNvPr>
          <p:cNvSpPr/>
          <p:nvPr/>
        </p:nvSpPr>
        <p:spPr>
          <a:xfrm>
            <a:off x="5614670" y="2545977"/>
            <a:ext cx="1986319" cy="3940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6F57F1-A446-4FAA-A4C1-80AD19BB1BAB}"/>
              </a:ext>
            </a:extLst>
          </p:cNvPr>
          <p:cNvSpPr/>
          <p:nvPr/>
        </p:nvSpPr>
        <p:spPr>
          <a:xfrm>
            <a:off x="7600989" y="2975780"/>
            <a:ext cx="825461" cy="256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0B74847F-FBD0-4BBA-83B8-AFFEF3564CA4}"/>
              </a:ext>
            </a:extLst>
          </p:cNvPr>
          <p:cNvSpPr/>
          <p:nvPr/>
        </p:nvSpPr>
        <p:spPr>
          <a:xfrm>
            <a:off x="4769902" y="3119254"/>
            <a:ext cx="2008188" cy="723900"/>
          </a:xfrm>
          <a:prstGeom prst="wedgeRoundRectCallout">
            <a:avLst>
              <a:gd name="adj1" fmla="val -32216"/>
              <a:gd name="adj2" fmla="val -95395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root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ユーザでアクセスキーを作成することは推奨しないです。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13A2150-F480-4034-A422-DA25B2DF3575}"/>
              </a:ext>
            </a:extLst>
          </p:cNvPr>
          <p:cNvSpPr/>
          <p:nvPr/>
        </p:nvSpPr>
        <p:spPr>
          <a:xfrm>
            <a:off x="2374939" y="6099980"/>
            <a:ext cx="1117561" cy="256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880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259BAA7F-FE12-4E90-A93F-A4235E1A6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347" y="2886235"/>
            <a:ext cx="4243388" cy="280749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A49EDD9-FBA5-4532-A9AD-0117A0955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35" y="2886235"/>
            <a:ext cx="4243388" cy="2807494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72538E1-B4E8-4CDB-89C4-3BCF99F9BFFA}"/>
              </a:ext>
            </a:extLst>
          </p:cNvPr>
          <p:cNvSpPr/>
          <p:nvPr/>
        </p:nvSpPr>
        <p:spPr>
          <a:xfrm>
            <a:off x="155573" y="1053111"/>
            <a:ext cx="4384312" cy="1740194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docker build -t </a:t>
            </a:r>
            <a:r>
              <a:rPr kumimoji="1" lang="en-US" altLang="ja-JP" sz="1400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docker_efw_helloworld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kumimoji="1" lang="en-US" altLang="ja-JP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</a:t>
            </a:r>
          </a:p>
          <a:p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sudo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docker images </a:t>
            </a:r>
            <a:endParaRPr kumimoji="1" lang="en-US" altLang="ja-JP" sz="1400" dirty="0">
              <a:solidFill>
                <a:schemeClr val="accent3">
                  <a:lumMod val="40000"/>
                  <a:lumOff val="6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２ー４．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</a:rPr>
              <a:t>Docker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</a:rPr>
              <a:t>イメージの作成</a:t>
            </a: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4B712849-DD63-4134-B0EA-FE97BF59AC53}"/>
              </a:ext>
            </a:extLst>
          </p:cNvPr>
          <p:cNvSpPr/>
          <p:nvPr/>
        </p:nvSpPr>
        <p:spPr>
          <a:xfrm>
            <a:off x="985704" y="1847155"/>
            <a:ext cx="3067052" cy="946150"/>
          </a:xfrm>
          <a:prstGeom prst="wedgeRoundRectCallout">
            <a:avLst>
              <a:gd name="adj1" fmla="val 53517"/>
              <a:gd name="adj2" fmla="val -96259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現在フォルダをビルドして、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docker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イメージを作成する。</a:t>
            </a:r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docker_efw_helloworld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という名前をつける。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F66ACF4-5D7D-4143-9864-ACFD29443FDE}"/>
              </a:ext>
            </a:extLst>
          </p:cNvPr>
          <p:cNvSpPr/>
          <p:nvPr/>
        </p:nvSpPr>
        <p:spPr>
          <a:xfrm>
            <a:off x="4539885" y="1053111"/>
            <a:ext cx="4384312" cy="1740194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docker tag </a:t>
            </a:r>
            <a:r>
              <a:rPr kumimoji="1" lang="en-US" altLang="ja-JP" sz="1400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docker_efw_helloworld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:latest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kumimoji="1" lang="en-US" altLang="ja-JP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260337063361.dkr.ecr.us-west-1.amazonaws.com/ecr_for_storing_efw_helloworld_docker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:v1</a:t>
            </a:r>
            <a:endParaRPr kumimoji="1" lang="en-US" altLang="ja-JP" sz="1400" dirty="0">
              <a:solidFill>
                <a:schemeClr val="accent3">
                  <a:lumMod val="40000"/>
                  <a:lumOff val="6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2" name="吹き出し: 角を丸めた四角形 21">
            <a:extLst>
              <a:ext uri="{FF2B5EF4-FFF2-40B4-BE49-F238E27FC236}">
                <a16:creationId xmlns:a16="http://schemas.microsoft.com/office/drawing/2014/main" id="{EB2F9348-D0EA-483D-A662-799D8CAA8610}"/>
              </a:ext>
            </a:extLst>
          </p:cNvPr>
          <p:cNvSpPr/>
          <p:nvPr/>
        </p:nvSpPr>
        <p:spPr>
          <a:xfrm>
            <a:off x="5370016" y="2212607"/>
            <a:ext cx="3067052" cy="946150"/>
          </a:xfrm>
          <a:prstGeom prst="wedgeRoundRectCallout">
            <a:avLst>
              <a:gd name="adj1" fmla="val 10848"/>
              <a:gd name="adj2" fmla="val -82959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作成した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docker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イメージに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ECR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に決められる命名の</a:t>
            </a:r>
            <a:r>
              <a:rPr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tag</a:t>
            </a:r>
            <a:r>
              <a:rPr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名称を付ける。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0845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BA00A53-46C3-4713-93C7-9E76FA737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936" y="4171950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２ー５．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Docker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イメージの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Push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8104DFC-41CB-4CFF-9B7B-2008A9BCC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36" y="1967744"/>
            <a:ext cx="4243388" cy="2807494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56FC73F-CA24-4222-90E6-A78ACE9197E3}"/>
              </a:ext>
            </a:extLst>
          </p:cNvPr>
          <p:cNvSpPr/>
          <p:nvPr/>
        </p:nvSpPr>
        <p:spPr>
          <a:xfrm>
            <a:off x="155573" y="1065408"/>
            <a:ext cx="4384312" cy="1179173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aws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ecr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get-login-password --region us-west-1 | </a:t>
            </a:r>
            <a:r>
              <a:rPr kumimoji="1"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docker login --username AWS --password-stdin 260337063361.dkr.ecr.us-west-1.amazonaws.com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80FE740-9895-4757-9BBD-1BBC94F67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476" y="1983081"/>
            <a:ext cx="4243388" cy="2807494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5BF22A1-DBF5-4525-AA7D-D7E78B8C590E}"/>
              </a:ext>
            </a:extLst>
          </p:cNvPr>
          <p:cNvSpPr/>
          <p:nvPr/>
        </p:nvSpPr>
        <p:spPr>
          <a:xfrm>
            <a:off x="4539885" y="1065408"/>
            <a:ext cx="4384312" cy="1179174"/>
          </a:xfrm>
          <a:prstGeom prst="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</a:t>
            </a:r>
            <a:r>
              <a:rPr kumimoji="1" lang="en-US" altLang="ja-JP" sz="1400" b="1" dirty="0" err="1">
                <a:solidFill>
                  <a:srgbClr val="FFF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udo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docker push 260337063361.dkr.ecr.us-west-1.amazonaws.com/ecr_for_storing_efw_helloworld_docker:v1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C68A2DA-B63E-4BCD-80F5-3AB923280BD1}"/>
              </a:ext>
            </a:extLst>
          </p:cNvPr>
          <p:cNvSpPr/>
          <p:nvPr/>
        </p:nvSpPr>
        <p:spPr>
          <a:xfrm>
            <a:off x="3104782" y="5759035"/>
            <a:ext cx="3547154" cy="381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0184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4137" name="テキスト ボックス 5"/>
          <p:cNvSpPr txBox="1">
            <a:spLocks noChangeArrowheads="1"/>
          </p:cNvSpPr>
          <p:nvPr/>
        </p:nvSpPr>
        <p:spPr bwMode="auto">
          <a:xfrm>
            <a:off x="251136" y="1094618"/>
            <a:ext cx="8579385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Lambda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関数を作成する。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Lambda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関数の基本設定を行う。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Lambda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関数の</a:t>
            </a:r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URL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設定を行う。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Lambda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関数のロール設定を行う。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Lambda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関数の</a:t>
            </a:r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VPC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設定を行う。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Lambda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関数のアクセスポイント設定を行う。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2000" dirty="0">
                <a:latin typeface="Meiryo UI" pitchFamily="50" charset="-128"/>
                <a:ea typeface="Meiryo UI" pitchFamily="50" charset="-128"/>
              </a:rPr>
              <a:t>Lambda</a:t>
            </a:r>
            <a:r>
              <a:rPr lang="ja-JP" altLang="en-US" sz="2000" dirty="0">
                <a:latin typeface="Meiryo UI" pitchFamily="50" charset="-128"/>
                <a:ea typeface="Meiryo UI" pitchFamily="50" charset="-128"/>
              </a:rPr>
              <a:t>関数のイメージ更新。</a:t>
            </a: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  <a:p>
            <a:endParaRPr lang="ja-JP" altLang="en-US" sz="2000" dirty="0">
              <a:latin typeface="Meiryo UI" pitchFamily="50" charset="-128"/>
              <a:ea typeface="Meiryo UI" pitchFamily="50" charset="-128"/>
            </a:endParaRPr>
          </a:p>
          <a:p>
            <a:endParaRPr lang="ja-JP" altLang="en-US" sz="2000" dirty="0">
              <a:latin typeface="Meiryo UI" pitchFamily="50" charset="-128"/>
              <a:ea typeface="Meiryo UI" pitchFamily="50" charset="-128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altLang="ja-JP" sz="20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作成概要</a:t>
            </a:r>
          </a:p>
        </p:txBody>
      </p:sp>
    </p:spTree>
    <p:extLst>
      <p:ext uri="{BB962C8B-B14F-4D97-AF65-F5344CB8AC3E}">
        <p14:creationId xmlns:p14="http://schemas.microsoft.com/office/powerpoint/2010/main" val="139879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D57179B-5E00-49B0-9E2C-EC1C4857F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３－１．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関数作成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D42AB869-B771-427E-95A7-4C47F9100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822C65F-F7F1-4BCC-B69B-EFAAA1A30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06009"/>
            <a:ext cx="4572000" cy="268605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78B3F3AD-913F-481C-9F86-C68B157DE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06009"/>
            <a:ext cx="4572000" cy="26860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D7175DF-BEAD-41E4-8FF9-5058A50D0716}"/>
              </a:ext>
            </a:extLst>
          </p:cNvPr>
          <p:cNvSpPr/>
          <p:nvPr/>
        </p:nvSpPr>
        <p:spPr>
          <a:xfrm>
            <a:off x="3951215" y="1628648"/>
            <a:ext cx="715744" cy="2672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0188611-EC09-41CA-B079-6A0DC3C89A6C}"/>
              </a:ext>
            </a:extLst>
          </p:cNvPr>
          <p:cNvSpPr/>
          <p:nvPr/>
        </p:nvSpPr>
        <p:spPr>
          <a:xfrm>
            <a:off x="7492766" y="1911657"/>
            <a:ext cx="1589321" cy="386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F336326-4060-48CD-9B14-0F09636171D6}"/>
              </a:ext>
            </a:extLst>
          </p:cNvPr>
          <p:cNvSpPr/>
          <p:nvPr/>
        </p:nvSpPr>
        <p:spPr>
          <a:xfrm>
            <a:off x="69908" y="4756923"/>
            <a:ext cx="1589321" cy="386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447A968-735F-4FB8-8382-AE6DBE8186E6}"/>
              </a:ext>
            </a:extLst>
          </p:cNvPr>
          <p:cNvSpPr/>
          <p:nvPr/>
        </p:nvSpPr>
        <p:spPr>
          <a:xfrm>
            <a:off x="3951215" y="5922628"/>
            <a:ext cx="620785" cy="302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4577505-8570-40A0-ADDA-2120BAA3211E}"/>
              </a:ext>
            </a:extLst>
          </p:cNvPr>
          <p:cNvSpPr/>
          <p:nvPr/>
        </p:nvSpPr>
        <p:spPr>
          <a:xfrm>
            <a:off x="4666959" y="2482645"/>
            <a:ext cx="3473741" cy="713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8860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C78F1473-A4BB-434E-B2A4-EF601BD84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600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３－２．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関数の基本設定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E2AA400-A800-4BD7-86D1-8637D8F2C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129F121-9243-4671-9B29-C7A24A0C0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5F01B06D-BF46-4FDC-BA95-BFBCB6A8CA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06009"/>
            <a:ext cx="4572000" cy="26860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854F3DB-D562-45EF-9662-432D32BC5EAE}"/>
              </a:ext>
            </a:extLst>
          </p:cNvPr>
          <p:cNvSpPr/>
          <p:nvPr/>
        </p:nvSpPr>
        <p:spPr>
          <a:xfrm>
            <a:off x="1057013" y="1725415"/>
            <a:ext cx="620785" cy="302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3701EA2-A26A-4FC2-BA91-79C61B4D6C19}"/>
              </a:ext>
            </a:extLst>
          </p:cNvPr>
          <p:cNvSpPr/>
          <p:nvPr/>
        </p:nvSpPr>
        <p:spPr>
          <a:xfrm>
            <a:off x="4573" y="2010312"/>
            <a:ext cx="620785" cy="302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2A87835-B6BC-405F-9223-E69A04E62101}"/>
              </a:ext>
            </a:extLst>
          </p:cNvPr>
          <p:cNvSpPr/>
          <p:nvPr/>
        </p:nvSpPr>
        <p:spPr>
          <a:xfrm>
            <a:off x="3856518" y="1976589"/>
            <a:ext cx="620785" cy="302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2D8C5BC-22FF-4FDD-AC6F-F96BA7213F72}"/>
              </a:ext>
            </a:extLst>
          </p:cNvPr>
          <p:cNvSpPr/>
          <p:nvPr/>
        </p:nvSpPr>
        <p:spPr>
          <a:xfrm>
            <a:off x="4666698" y="2401555"/>
            <a:ext cx="1079762" cy="274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CC339758-E818-4A91-9C34-C11A14D88E16}"/>
              </a:ext>
            </a:extLst>
          </p:cNvPr>
          <p:cNvSpPr/>
          <p:nvPr/>
        </p:nvSpPr>
        <p:spPr>
          <a:xfrm>
            <a:off x="6470650" y="1976589"/>
            <a:ext cx="2438400" cy="1009891"/>
          </a:xfrm>
          <a:prstGeom prst="wedgeRoundRectCallout">
            <a:avLst>
              <a:gd name="adj1" fmla="val -73402"/>
              <a:gd name="adj2" fmla="val 4749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３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GB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を設定するようにします。</a:t>
            </a:r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これにより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vCPU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が２つぐらい付与され実行時間が短縮になります。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3960429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FECEB9A-62A7-4763-8D15-D3786E07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３－３．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関数の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URL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設定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BC1D6CC-7152-4E03-9DCA-1030BF1F9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B58C27C-AA32-4BAF-9615-7372B8F93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06009"/>
            <a:ext cx="4572000" cy="268605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96AFAA9-1354-47EF-8323-C95B947FA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06009"/>
            <a:ext cx="4572000" cy="26860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BCDDAB-6422-4316-893F-D60707DD3F7F}"/>
              </a:ext>
            </a:extLst>
          </p:cNvPr>
          <p:cNvSpPr/>
          <p:nvPr/>
        </p:nvSpPr>
        <p:spPr>
          <a:xfrm>
            <a:off x="3492238" y="2149885"/>
            <a:ext cx="1079762" cy="274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E0721C8-43B3-483E-A851-8C9D8EBA5597}"/>
              </a:ext>
            </a:extLst>
          </p:cNvPr>
          <p:cNvSpPr/>
          <p:nvPr/>
        </p:nvSpPr>
        <p:spPr>
          <a:xfrm>
            <a:off x="77919" y="5161533"/>
            <a:ext cx="2455555" cy="375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6356ABD-D25C-4710-ABEB-89FCC4910183}"/>
              </a:ext>
            </a:extLst>
          </p:cNvPr>
          <p:cNvSpPr/>
          <p:nvPr/>
        </p:nvSpPr>
        <p:spPr>
          <a:xfrm>
            <a:off x="5347602" y="5399467"/>
            <a:ext cx="1262923" cy="2714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BD207C1E-77A4-4423-953C-C15DB4400341}"/>
              </a:ext>
            </a:extLst>
          </p:cNvPr>
          <p:cNvSpPr/>
          <p:nvPr/>
        </p:nvSpPr>
        <p:spPr>
          <a:xfrm>
            <a:off x="2248250" y="2875327"/>
            <a:ext cx="2306972" cy="1107346"/>
          </a:xfrm>
          <a:prstGeom prst="wedgeRoundRectCallout">
            <a:avLst>
              <a:gd name="adj1" fmla="val 11531"/>
              <a:gd name="adj2" fmla="val -73106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テストのため、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URL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で公開します。本番の場合、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APIGateWay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かロードバランサーかでやるべきです。</a:t>
            </a:r>
          </a:p>
        </p:txBody>
      </p:sp>
    </p:spTree>
    <p:extLst>
      <p:ext uri="{BB962C8B-B14F-4D97-AF65-F5344CB8AC3E}">
        <p14:creationId xmlns:p14="http://schemas.microsoft.com/office/powerpoint/2010/main" val="949627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D3620950-3A66-426F-A95E-615403376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３－４．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関数のロール設定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BCDDAB-6422-4316-893F-D60707DD3F7F}"/>
              </a:ext>
            </a:extLst>
          </p:cNvPr>
          <p:cNvSpPr/>
          <p:nvPr/>
        </p:nvSpPr>
        <p:spPr>
          <a:xfrm>
            <a:off x="765815" y="2088451"/>
            <a:ext cx="1079762" cy="274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72748D54-3689-449E-9126-49DEFD651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E0721C8-43B3-483E-A851-8C9D8EBA5597}"/>
              </a:ext>
            </a:extLst>
          </p:cNvPr>
          <p:cNvSpPr/>
          <p:nvPr/>
        </p:nvSpPr>
        <p:spPr>
          <a:xfrm>
            <a:off x="5811340" y="2529355"/>
            <a:ext cx="1598369" cy="290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2FBE9AD-DC53-487A-BF0C-D9349E5E3426}"/>
              </a:ext>
            </a:extLst>
          </p:cNvPr>
          <p:cNvSpPr/>
          <p:nvPr/>
        </p:nvSpPr>
        <p:spPr>
          <a:xfrm>
            <a:off x="8305800" y="1765429"/>
            <a:ext cx="702278" cy="323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D73D2002-BB1F-439C-8D8E-F405E5A1DCB0}"/>
              </a:ext>
            </a:extLst>
          </p:cNvPr>
          <p:cNvSpPr/>
          <p:nvPr/>
        </p:nvSpPr>
        <p:spPr>
          <a:xfrm>
            <a:off x="4461933" y="3706009"/>
            <a:ext cx="3953934" cy="939800"/>
          </a:xfrm>
          <a:prstGeom prst="wedgeRoundRectCallout">
            <a:avLst>
              <a:gd name="adj1" fmla="val -1216"/>
              <a:gd name="adj2" fmla="val -139302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AWSLambdaVPCAccessExecutionRole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を追加します。</a:t>
            </a:r>
          </a:p>
        </p:txBody>
      </p:sp>
    </p:spTree>
    <p:extLst>
      <p:ext uri="{BB962C8B-B14F-4D97-AF65-F5344CB8AC3E}">
        <p14:creationId xmlns:p14="http://schemas.microsoft.com/office/powerpoint/2010/main" val="4126623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4C0543C-080D-4E03-87DC-F120F0EE4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３－５．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関数の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VPC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設定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BCDDAB-6422-4316-893F-D60707DD3F7F}"/>
              </a:ext>
            </a:extLst>
          </p:cNvPr>
          <p:cNvSpPr/>
          <p:nvPr/>
        </p:nvSpPr>
        <p:spPr>
          <a:xfrm>
            <a:off x="2095238" y="2291421"/>
            <a:ext cx="1079762" cy="274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43FC7781-8238-4386-ACFB-8430B67AB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003D993-C824-4C72-8FCD-13BDD3212F1C}"/>
              </a:ext>
            </a:extLst>
          </p:cNvPr>
          <p:cNvSpPr/>
          <p:nvPr/>
        </p:nvSpPr>
        <p:spPr>
          <a:xfrm>
            <a:off x="4677570" y="1647955"/>
            <a:ext cx="2993229" cy="14085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295FC6A1-8ABE-4394-95D4-B14BC50F6F8D}"/>
              </a:ext>
            </a:extLst>
          </p:cNvPr>
          <p:cNvSpPr/>
          <p:nvPr/>
        </p:nvSpPr>
        <p:spPr>
          <a:xfrm>
            <a:off x="155575" y="4197076"/>
            <a:ext cx="3953934" cy="939800"/>
          </a:xfrm>
          <a:prstGeom prst="wedgeRoundRectCallout">
            <a:avLst>
              <a:gd name="adj1" fmla="val 63666"/>
              <a:gd name="adj2" fmla="val -274437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デフォルト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VPC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のデフォルト情報を利用します。</a:t>
            </a:r>
          </a:p>
        </p:txBody>
      </p:sp>
    </p:spTree>
    <p:extLst>
      <p:ext uri="{BB962C8B-B14F-4D97-AF65-F5344CB8AC3E}">
        <p14:creationId xmlns:p14="http://schemas.microsoft.com/office/powerpoint/2010/main" val="310903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３－６．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EFS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のアクセスポイント設定１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5B7AF7-4244-4C19-B60A-4857920FF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4BC3A56-4E36-41A6-AE2E-A520C8BA4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BBBEDF8-E72A-44E1-927F-4D62EE8DD3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06009"/>
            <a:ext cx="4572000" cy="268605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85CA54DF-AA55-40C8-AD0C-64E979DE67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06009"/>
            <a:ext cx="4572000" cy="26860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2B7B5CF-D019-48B9-BEB0-90F579D8C116}"/>
              </a:ext>
            </a:extLst>
          </p:cNvPr>
          <p:cNvSpPr/>
          <p:nvPr/>
        </p:nvSpPr>
        <p:spPr>
          <a:xfrm>
            <a:off x="114038" y="2575560"/>
            <a:ext cx="1079762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0992889-DFF2-4B9F-9FB7-6003702FFDC1}"/>
              </a:ext>
            </a:extLst>
          </p:cNvPr>
          <p:cNvSpPr/>
          <p:nvPr/>
        </p:nvSpPr>
        <p:spPr>
          <a:xfrm>
            <a:off x="4691118" y="2102722"/>
            <a:ext cx="907042" cy="676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676616D3-06EE-4D42-A2F4-E9BEF8E6857C}"/>
              </a:ext>
            </a:extLst>
          </p:cNvPr>
          <p:cNvSpPr/>
          <p:nvPr/>
        </p:nvSpPr>
        <p:spPr>
          <a:xfrm>
            <a:off x="6527800" y="2153920"/>
            <a:ext cx="1549400" cy="640080"/>
          </a:xfrm>
          <a:prstGeom prst="wedgeRoundRectCallout">
            <a:avLst>
              <a:gd name="adj1" fmla="val -92308"/>
              <a:gd name="adj2" fmla="val 5357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root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ユーザの意味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4951A53-409B-4E97-B481-1B121B46CEC3}"/>
              </a:ext>
            </a:extLst>
          </p:cNvPr>
          <p:cNvSpPr/>
          <p:nvPr/>
        </p:nvSpPr>
        <p:spPr>
          <a:xfrm>
            <a:off x="42918" y="4737972"/>
            <a:ext cx="907042" cy="676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EC08A2C6-8790-4114-808D-C5E95278764D}"/>
              </a:ext>
            </a:extLst>
          </p:cNvPr>
          <p:cNvSpPr/>
          <p:nvPr/>
        </p:nvSpPr>
        <p:spPr>
          <a:xfrm>
            <a:off x="1686560" y="4836458"/>
            <a:ext cx="1549400" cy="640080"/>
          </a:xfrm>
          <a:prstGeom prst="wedgeRoundRectCallout">
            <a:avLst>
              <a:gd name="adj1" fmla="val -92308"/>
              <a:gd name="adj2" fmla="val 5357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root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ユーザの意味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E16EB6D-FDD4-49EC-AE26-956A9AF94409}"/>
              </a:ext>
            </a:extLst>
          </p:cNvPr>
          <p:cNvSpPr/>
          <p:nvPr/>
        </p:nvSpPr>
        <p:spPr>
          <a:xfrm>
            <a:off x="4645398" y="4703270"/>
            <a:ext cx="663202" cy="204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1428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３－６．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EFS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のアクセスポイント設定２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9A57F57-A961-4A15-A60F-65BD0CA82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7C02CB6-6278-47E9-8D33-C2E1517D4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712847B-67D1-4340-9955-FE19CC3C25E2}"/>
              </a:ext>
            </a:extLst>
          </p:cNvPr>
          <p:cNvSpPr/>
          <p:nvPr/>
        </p:nvSpPr>
        <p:spPr>
          <a:xfrm>
            <a:off x="1287518" y="1987550"/>
            <a:ext cx="522232" cy="336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9913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E8419E94-73C8-4DE3-9E3C-A0FE7F50D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３－７．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Lambda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関数のイメージ更新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4E6CCE7-A74D-4646-B18E-F5098B032882}"/>
              </a:ext>
            </a:extLst>
          </p:cNvPr>
          <p:cNvSpPr/>
          <p:nvPr/>
        </p:nvSpPr>
        <p:spPr>
          <a:xfrm>
            <a:off x="3516368" y="3346447"/>
            <a:ext cx="915932" cy="2492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024EBB-E461-4487-92D9-DF7A3CFCCBEC}"/>
              </a:ext>
            </a:extLst>
          </p:cNvPr>
          <p:cNvSpPr/>
          <p:nvPr/>
        </p:nvSpPr>
        <p:spPr>
          <a:xfrm>
            <a:off x="49268" y="3097165"/>
            <a:ext cx="411107" cy="2492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76F7F8C-993D-4DF9-9646-56CDF1177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92ED482-5F74-4B03-9786-1F6D4A4DBE05}"/>
              </a:ext>
            </a:extLst>
          </p:cNvPr>
          <p:cNvSpPr/>
          <p:nvPr/>
        </p:nvSpPr>
        <p:spPr>
          <a:xfrm>
            <a:off x="7504168" y="2495547"/>
            <a:ext cx="706382" cy="2540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137C249A-10BB-4630-9371-5D82C4784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06009"/>
            <a:ext cx="4572000" cy="2686050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27F5B7A-2764-48A3-9333-9014D233FE52}"/>
              </a:ext>
            </a:extLst>
          </p:cNvPr>
          <p:cNvSpPr/>
          <p:nvPr/>
        </p:nvSpPr>
        <p:spPr>
          <a:xfrm>
            <a:off x="307975" y="5174371"/>
            <a:ext cx="915932" cy="2492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B66FD77-2726-4C91-A525-925479722569}"/>
              </a:ext>
            </a:extLst>
          </p:cNvPr>
          <p:cNvSpPr/>
          <p:nvPr/>
        </p:nvSpPr>
        <p:spPr>
          <a:xfrm>
            <a:off x="3656068" y="5953968"/>
            <a:ext cx="915932" cy="2492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6476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1E78A9F6-513A-40FB-98BE-48CAB79A2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9"/>
            <a:ext cx="4572000" cy="26860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４．動作確認</a:t>
            </a:r>
            <a:endParaRPr lang="ja-JP" altLang="en-US" sz="2800" dirty="0">
              <a:solidFill>
                <a:schemeClr val="tx2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E9F8F53-9DD0-4A35-B1F8-55AD0FA9E17D}"/>
              </a:ext>
            </a:extLst>
          </p:cNvPr>
          <p:cNvSpPr/>
          <p:nvPr/>
        </p:nvSpPr>
        <p:spPr>
          <a:xfrm>
            <a:off x="2887718" y="2755897"/>
            <a:ext cx="1493782" cy="368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81B93DB-7814-42F9-9A45-A92A4C3A2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9959"/>
            <a:ext cx="4572000" cy="2686050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D9E26D1-167F-43DA-892E-31B45C2414AB}"/>
              </a:ext>
            </a:extLst>
          </p:cNvPr>
          <p:cNvSpPr/>
          <p:nvPr/>
        </p:nvSpPr>
        <p:spPr>
          <a:xfrm>
            <a:off x="4976868" y="1051621"/>
            <a:ext cx="2116082" cy="368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E4F2F042-A9AF-4461-9B93-59663A630D0B}"/>
              </a:ext>
            </a:extLst>
          </p:cNvPr>
          <p:cNvSpPr/>
          <p:nvPr/>
        </p:nvSpPr>
        <p:spPr>
          <a:xfrm>
            <a:off x="5727700" y="2667000"/>
            <a:ext cx="2870200" cy="1384300"/>
          </a:xfrm>
          <a:prstGeom prst="wedgeRoundRectCallout">
            <a:avLst>
              <a:gd name="adj1" fmla="val -35656"/>
              <a:gd name="adj2" fmla="val -138417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A836FB09-0778-41AE-BDA6-B4091B0916ED}"/>
              </a:ext>
            </a:extLst>
          </p:cNvPr>
          <p:cNvSpPr/>
          <p:nvPr/>
        </p:nvSpPr>
        <p:spPr>
          <a:xfrm>
            <a:off x="5727700" y="2667000"/>
            <a:ext cx="2870200" cy="1384300"/>
          </a:xfrm>
          <a:prstGeom prst="wedgeRoundRectCallout">
            <a:avLst>
              <a:gd name="adj1" fmla="val -97824"/>
              <a:gd name="adj2" fmla="val -28325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Lambda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URL+”/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hlloworld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/”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で開きます。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4E8324B0-B679-4149-9F47-388A48032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06009"/>
            <a:ext cx="4572000" cy="2686050"/>
          </a:xfrm>
          <a:prstGeom prst="rect">
            <a:avLst/>
          </a:prstGeom>
        </p:spPr>
      </p:pic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CE125FE6-6C20-44C1-BABF-D609357DE82F}"/>
              </a:ext>
            </a:extLst>
          </p:cNvPr>
          <p:cNvSpPr/>
          <p:nvPr/>
        </p:nvSpPr>
        <p:spPr>
          <a:xfrm>
            <a:off x="5872649" y="5049034"/>
            <a:ext cx="2912533" cy="922021"/>
          </a:xfrm>
          <a:prstGeom prst="wedgeRoundRectCallout">
            <a:avLst>
              <a:gd name="adj1" fmla="val -39728"/>
              <a:gd name="adj2" fmla="val -69731"/>
              <a:gd name="adj3" fmla="val 16667"/>
            </a:avLst>
          </a:prstGeom>
          <a:solidFill>
            <a:srgbClr val="FFFF0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TODO DB</a:t>
            </a:r>
            <a:r>
              <a:rPr kumimoji="1" lang="ja-JP" altLang="en-US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</a:t>
            </a:r>
            <a:r>
              <a:rPr kumimoji="1" lang="en-US" altLang="ja-JP" sz="14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Websocket</a:t>
            </a:r>
            <a:r>
              <a:rPr kumimoji="1" lang="ja-JP" altLang="en-US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対応の設定はこれから追加します。</a:t>
            </a:r>
          </a:p>
        </p:txBody>
      </p:sp>
    </p:spTree>
    <p:extLst>
      <p:ext uri="{BB962C8B-B14F-4D97-AF65-F5344CB8AC3E}">
        <p14:creationId xmlns:p14="http://schemas.microsoft.com/office/powerpoint/2010/main" val="23079381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FIRST_PUBLISH" val="1"/>
  <p:tag name="ISPRING_LMS_API_VERSION" val="SCORM 1.2"/>
  <p:tag name="ISPRING_ULTRA_SCORM_COURSE_ID" val="2FB98E69-29C4-4A6B-85DC-5AA21706F4F0"/>
  <p:tag name="ISPRING_CMI5_LAUNCH_METHOD" val="any window"/>
  <p:tag name="ISPRING_SCORM_RATE_SLIDES" val="1"/>
  <p:tag name="ISPRINGCLOUDFOLDERID" val="1"/>
  <p:tag name="ISPRINGONLINEFOLDERID" val="1"/>
  <p:tag name="ISPRING_OUTPUT_FOLDER" val="[[&quot;x6\&quot;T{0A1F2BAE-1CEA-4DCF-97F0-F7F7D714EBC9}&quot;,&quot;C:\\Users\\kejun.chang\\Documents\\GitHub\\efw4_online_pp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PASSING_SCORE" val="100.000000"/>
  <p:tag name="ISPRING_ULTRA_SCORM_COURCE_TITLE" val="EFW紹介v1.6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EFW紹介v1.6"/>
</p:tagLst>
</file>

<file path=ppt/theme/theme1.xml><?xml version="1.0" encoding="utf-8"?>
<a:theme xmlns:a="http://schemas.openxmlformats.org/drawingml/2006/main" name="1_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Office ​​テーマ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400" dirty="0" smtClean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50995</TotalTime>
  <Words>1717</Words>
  <Application>Microsoft Office PowerPoint</Application>
  <PresentationFormat>画面に合わせる (4:3)</PresentationFormat>
  <Paragraphs>286</Paragraphs>
  <Slides>33</Slides>
  <Notes>33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33</vt:i4>
      </vt:variant>
    </vt:vector>
  </HeadingPairs>
  <TitlesOfParts>
    <vt:vector size="39" baseType="lpstr">
      <vt:lpstr>Meiryo UI</vt:lpstr>
      <vt:lpstr>MS UI Gothic</vt:lpstr>
      <vt:lpstr>Arial</vt:lpstr>
      <vt:lpstr>Calibri</vt:lpstr>
      <vt:lpstr>Wingdings</vt:lpstr>
      <vt:lpstr>1_Office ​​テーマ</vt:lpstr>
      <vt:lpstr>PowerPoint プレゼンテーション</vt:lpstr>
      <vt:lpstr>システム概念図</vt:lpstr>
      <vt:lpstr>１．作業環境準備の概要</vt:lpstr>
      <vt:lpstr>１ー１ー１．EC2環境の作成１</vt:lpstr>
      <vt:lpstr>１ー１ー２．EC2環境の作成２</vt:lpstr>
      <vt:lpstr>１ー２．セキュリティグループの設定</vt:lpstr>
      <vt:lpstr>１ー３ー１． EFSの作成１</vt:lpstr>
      <vt:lpstr>１ー３ー２． EFSの作成２</vt:lpstr>
      <vt:lpstr>１ー４ー１．Valkeyの設定１</vt:lpstr>
      <vt:lpstr>１ー４ー２．Valkeyの設定２</vt:lpstr>
      <vt:lpstr>１ー５．資材のアップロード</vt:lpstr>
      <vt:lpstr>１ー６ー１．資材一覧</vt:lpstr>
      <vt:lpstr>１ー６ー２．Dockfile</vt:lpstr>
      <vt:lpstr>１ー６ー３．entrypoint.sh</vt:lpstr>
      <vt:lpstr>１ー６ー４．efw.properties</vt:lpstr>
      <vt:lpstr>１ー６ー５．catalina.properties</vt:lpstr>
      <vt:lpstr>１ー６ー６．context.xmlとredisson.yaml</vt:lpstr>
      <vt:lpstr>２． Dockerイメージの作成</vt:lpstr>
      <vt:lpstr>２ー１．Dockerツールのインストール</vt:lpstr>
      <vt:lpstr>２ー２．ECRリポジトリの作成</vt:lpstr>
      <vt:lpstr>２ー３．アクセスキーの作成</vt:lpstr>
      <vt:lpstr>２ー４．Dockerイメージの作成</vt:lpstr>
      <vt:lpstr>２ー５．DockerイメージのPush</vt:lpstr>
      <vt:lpstr>３．Lambda作成概要</vt:lpstr>
      <vt:lpstr>３－１．Lambda関数作成</vt:lpstr>
      <vt:lpstr>３－２．Lambda関数の基本設定</vt:lpstr>
      <vt:lpstr>３－３．Lambda関数のURL設定</vt:lpstr>
      <vt:lpstr>３－４．Lambda関数のロール設定</vt:lpstr>
      <vt:lpstr>３－５．Lambda関数のVPC設定</vt:lpstr>
      <vt:lpstr>３－６．EFSのアクセスポイント設定１</vt:lpstr>
      <vt:lpstr>３－６．EFSのアクセスポイント設定２</vt:lpstr>
      <vt:lpstr>３－７．Lambda関数のイメージ更新</vt:lpstr>
      <vt:lpstr>４．動作確認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EFW紹介v1.6</dc:title>
  <dc:creator>常 珂軍</dc:creator>
  <cp:lastModifiedBy>常 珂軍</cp:lastModifiedBy>
  <cp:revision>5526</cp:revision>
  <cp:lastPrinted>2012-10-25T09:56:50Z</cp:lastPrinted>
  <dcterms:modified xsi:type="dcterms:W3CDTF">2026-05-08T00:52:38Z</dcterms:modified>
</cp:coreProperties>
</file>