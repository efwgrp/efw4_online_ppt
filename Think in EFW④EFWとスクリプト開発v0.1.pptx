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51" r:id="rId1"/>
  </p:sldMasterIdLst>
  <p:notesMasterIdLst>
    <p:notesMasterId r:id="rId7"/>
  </p:notesMasterIdLst>
  <p:handoutMasterIdLst>
    <p:handoutMasterId r:id="rId8"/>
  </p:handoutMasterIdLst>
  <p:sldIdLst>
    <p:sldId id="392" r:id="rId2"/>
    <p:sldId id="436" r:id="rId3"/>
    <p:sldId id="467" r:id="rId4"/>
    <p:sldId id="468" r:id="rId5"/>
    <p:sldId id="469" r:id="rId6"/>
  </p:sldIdLst>
  <p:sldSz cx="9144000" cy="6858000" type="screen4x3"/>
  <p:notesSz cx="7099300" cy="10234613"/>
  <p:custDataLst>
    <p:tags r:id="rId9"/>
  </p:custDataLst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E9EDF4"/>
    <a:srgbClr val="D0D8E8"/>
    <a:srgbClr val="006600"/>
    <a:srgbClr val="FF9900"/>
    <a:srgbClr val="0000FF"/>
    <a:srgbClr val="007033"/>
    <a:srgbClr val="008A3E"/>
    <a:srgbClr val="609ED6"/>
    <a:srgbClr val="99CCFF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テーマ スタイル 1 - アクセント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9643" autoAdjust="0"/>
  </p:normalViewPr>
  <p:slideViewPr>
    <p:cSldViewPr snapToGrid="0">
      <p:cViewPr varScale="1">
        <p:scale>
          <a:sx n="78" d="100"/>
          <a:sy n="78" d="100"/>
        </p:scale>
        <p:origin x="924" y="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-2856" y="-78"/>
      </p:cViewPr>
      <p:guideLst>
        <p:guide orient="horz" pos="3224"/>
        <p:guide pos="223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640" tIns="47320" rIns="94640" bIns="47320" numCol="1" anchor="t" anchorCtr="0" compatLnSpc="1">
            <a:prstTxWarp prst="textNoShape">
              <a:avLst/>
            </a:prstTxWarp>
          </a:bodyPr>
          <a:lstStyle>
            <a:lvl1pPr defTabSz="946150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640" tIns="47320" rIns="94640" bIns="47320" numCol="1" anchor="t" anchorCtr="0" compatLnSpc="1">
            <a:prstTxWarp prst="textNoShape">
              <a:avLst/>
            </a:prstTxWarp>
          </a:bodyPr>
          <a:lstStyle>
            <a:lvl1pPr algn="r" defTabSz="946150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21EEA4EC-110F-4EBE-8324-45D9533D5526}" type="datetimeFigureOut">
              <a:rPr lang="ja-JP" altLang="en-US"/>
              <a:pPr>
                <a:defRPr/>
              </a:pPr>
              <a:t>2026/1/21</a:t>
            </a:fld>
            <a:endParaRPr lang="en-US" altLang="ja-JP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640" tIns="47320" rIns="94640" bIns="47320" numCol="1" anchor="b" anchorCtr="0" compatLnSpc="1">
            <a:prstTxWarp prst="textNoShape">
              <a:avLst/>
            </a:prstTxWarp>
          </a:bodyPr>
          <a:lstStyle>
            <a:lvl1pPr defTabSz="946150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640" tIns="47320" rIns="94640" bIns="47320" numCol="1" anchor="b" anchorCtr="0" compatLnSpc="1">
            <a:prstTxWarp prst="textNoShape">
              <a:avLst/>
            </a:prstTxWarp>
          </a:bodyPr>
          <a:lstStyle>
            <a:lvl1pPr algn="r" defTabSz="946150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C68A9FDE-10FD-45DA-A1F0-F8F5C3264679}" type="slidenum">
              <a:rPr lang="ja-JP" altLang="en-US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1356126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640" tIns="47320" rIns="94640" bIns="47320" numCol="1" anchor="t" anchorCtr="0" compatLnSpc="1">
            <a:prstTxWarp prst="textNoShape">
              <a:avLst/>
            </a:prstTxWarp>
          </a:bodyPr>
          <a:lstStyle>
            <a:lvl1pPr defTabSz="946150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640" tIns="47320" rIns="94640" bIns="47320" numCol="1" anchor="t" anchorCtr="0" compatLnSpc="1">
            <a:prstTxWarp prst="textNoShape">
              <a:avLst/>
            </a:prstTxWarp>
          </a:bodyPr>
          <a:lstStyle>
            <a:lvl1pPr algn="r" defTabSz="946150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905D0ECA-68A4-4E95-906C-2D1519606506}" type="datetimeFigureOut">
              <a:rPr lang="ja-JP" altLang="en-US"/>
              <a:pPr>
                <a:defRPr/>
              </a:pPr>
              <a:t>2026/1/21</a:t>
            </a:fld>
            <a:endParaRPr lang="en-US" altLang="ja-JP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8350"/>
            <a:ext cx="511810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ja-JP" altLang="en-US" noProof="0" dirty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640" tIns="47320" rIns="94640" bIns="473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640" tIns="47320" rIns="94640" bIns="47320" numCol="1" anchor="b" anchorCtr="0" compatLnSpc="1">
            <a:prstTxWarp prst="textNoShape">
              <a:avLst/>
            </a:prstTxWarp>
          </a:bodyPr>
          <a:lstStyle>
            <a:lvl1pPr defTabSz="946150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640" tIns="47320" rIns="94640" bIns="47320" numCol="1" anchor="b" anchorCtr="0" compatLnSpc="1">
            <a:prstTxWarp prst="textNoShape">
              <a:avLst/>
            </a:prstTxWarp>
          </a:bodyPr>
          <a:lstStyle>
            <a:lvl1pPr algn="r" defTabSz="946150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E411F456-129C-4679-AE79-8CAE1F5EB502}" type="slidenum">
              <a:rPr lang="ja-JP" altLang="en-US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67750724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ノート プレースホルダー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>
              <a:spcBef>
                <a:spcPct val="0"/>
              </a:spcBef>
            </a:pPr>
            <a:endParaRPr lang="ja-JP" altLang="en-US" sz="1800"/>
          </a:p>
        </p:txBody>
      </p:sp>
      <p:sp>
        <p:nvSpPr>
          <p:cNvPr id="13316" name="スライド番号プレースホルダー 3"/>
          <p:cNvSpPr txBox="1">
            <a:spLocks noGrp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640" tIns="47320" rIns="94640" bIns="47320" anchor="b"/>
          <a:lstStyle>
            <a:lvl1pPr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1pPr>
            <a:lvl2pPr marL="768350" indent="-295275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2pPr>
            <a:lvl3pPr marL="118268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3pPr>
            <a:lvl4pPr marL="1655763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4pPr>
            <a:lvl5pPr marL="212883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5pPr>
            <a:lvl6pPr marL="25860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6pPr>
            <a:lvl7pPr marL="30432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7pPr>
            <a:lvl8pPr marL="35004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8pPr>
            <a:lvl9pPr marL="39576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1354DFD-A574-4020-9875-E8EE80E50137}" type="slidenum">
              <a:rPr lang="ja-JP" altLang="en-US"/>
              <a:pPr algn="r" eaLnBrk="1" hangingPunct="1">
                <a:spcBef>
                  <a:spcPct val="0"/>
                </a:spcBef>
              </a:pPr>
              <a:t>0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1795190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ノート プレースホルダー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ja-JP" altLang="en-US"/>
          </a:p>
        </p:txBody>
      </p:sp>
      <p:sp>
        <p:nvSpPr>
          <p:cNvPr id="14340" name="スライド番号プレースホルダー 3"/>
          <p:cNvSpPr txBox="1">
            <a:spLocks noGrp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640" tIns="47320" rIns="94640" bIns="47320" anchor="b"/>
          <a:lstStyle>
            <a:lvl1pPr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1pPr>
            <a:lvl2pPr marL="768350" indent="-295275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2pPr>
            <a:lvl3pPr marL="118268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3pPr>
            <a:lvl4pPr marL="1655763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4pPr>
            <a:lvl5pPr marL="212883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5pPr>
            <a:lvl6pPr marL="25860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6pPr>
            <a:lvl7pPr marL="30432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7pPr>
            <a:lvl8pPr marL="35004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8pPr>
            <a:lvl9pPr marL="39576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B9EDEEC-12B0-467D-849C-FC255EDD81CA}" type="slidenum">
              <a:rPr lang="ja-JP" altLang="en-US"/>
              <a:pPr algn="r" eaLnBrk="1" hangingPunct="1">
                <a:spcBef>
                  <a:spcPct val="0"/>
                </a:spcBef>
              </a:pPr>
              <a:t>1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5112386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ノート プレースホルダー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ja-JP" altLang="en-US"/>
          </a:p>
        </p:txBody>
      </p:sp>
      <p:sp>
        <p:nvSpPr>
          <p:cNvPr id="14340" name="スライド番号プレースホルダー 3"/>
          <p:cNvSpPr txBox="1">
            <a:spLocks noGrp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640" tIns="47320" rIns="94640" bIns="47320" anchor="b"/>
          <a:lstStyle>
            <a:lvl1pPr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1pPr>
            <a:lvl2pPr marL="768350" indent="-295275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2pPr>
            <a:lvl3pPr marL="118268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3pPr>
            <a:lvl4pPr marL="1655763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4pPr>
            <a:lvl5pPr marL="212883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5pPr>
            <a:lvl6pPr marL="25860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6pPr>
            <a:lvl7pPr marL="30432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7pPr>
            <a:lvl8pPr marL="35004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8pPr>
            <a:lvl9pPr marL="39576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B9EDEEC-12B0-467D-849C-FC255EDD81CA}" type="slidenum">
              <a:rPr lang="ja-JP" altLang="en-US"/>
              <a:pPr algn="r" eaLnBrk="1" hangingPunct="1">
                <a:spcBef>
                  <a:spcPct val="0"/>
                </a:spcBef>
              </a:pPr>
              <a:t>2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293180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ノート プレースホルダー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ja-JP" altLang="en-US"/>
          </a:p>
        </p:txBody>
      </p:sp>
      <p:sp>
        <p:nvSpPr>
          <p:cNvPr id="14340" name="スライド番号プレースホルダー 3"/>
          <p:cNvSpPr txBox="1">
            <a:spLocks noGrp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640" tIns="47320" rIns="94640" bIns="47320" anchor="b"/>
          <a:lstStyle>
            <a:lvl1pPr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1pPr>
            <a:lvl2pPr marL="768350" indent="-295275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2pPr>
            <a:lvl3pPr marL="118268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3pPr>
            <a:lvl4pPr marL="1655763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4pPr>
            <a:lvl5pPr marL="212883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5pPr>
            <a:lvl6pPr marL="25860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6pPr>
            <a:lvl7pPr marL="30432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7pPr>
            <a:lvl8pPr marL="35004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8pPr>
            <a:lvl9pPr marL="39576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B9EDEEC-12B0-467D-849C-FC255EDD81CA}" type="slidenum">
              <a:rPr lang="ja-JP" altLang="en-US"/>
              <a:pPr algn="r" eaLnBrk="1" hangingPunct="1">
                <a:spcBef>
                  <a:spcPct val="0"/>
                </a:spcBef>
              </a:pPr>
              <a:t>3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8179794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ノート プレースホルダー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ja-JP" altLang="en-US"/>
          </a:p>
        </p:txBody>
      </p:sp>
      <p:sp>
        <p:nvSpPr>
          <p:cNvPr id="14340" name="スライド番号プレースホルダー 3"/>
          <p:cNvSpPr txBox="1">
            <a:spLocks noGrp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640" tIns="47320" rIns="94640" bIns="47320" anchor="b"/>
          <a:lstStyle>
            <a:lvl1pPr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1pPr>
            <a:lvl2pPr marL="768350" indent="-295275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2pPr>
            <a:lvl3pPr marL="118268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3pPr>
            <a:lvl4pPr marL="1655763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4pPr>
            <a:lvl5pPr marL="212883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5pPr>
            <a:lvl6pPr marL="25860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6pPr>
            <a:lvl7pPr marL="30432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7pPr>
            <a:lvl8pPr marL="35004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8pPr>
            <a:lvl9pPr marL="39576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B9EDEEC-12B0-467D-849C-FC255EDD81CA}" type="slidenum">
              <a:rPr lang="ja-JP" altLang="en-US"/>
              <a:pPr algn="r" eaLnBrk="1" hangingPunct="1">
                <a:spcBef>
                  <a:spcPct val="0"/>
                </a:spcBef>
              </a:pPr>
              <a:t>4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2784200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3"/>
          <p:cNvSpPr/>
          <p:nvPr/>
        </p:nvSpPr>
        <p:spPr>
          <a:xfrm>
            <a:off x="251520" y="863001"/>
            <a:ext cx="8712968" cy="45719"/>
          </a:xfrm>
          <a:prstGeom prst="round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dirty="0"/>
          </a:p>
        </p:txBody>
      </p:sp>
      <p:sp>
        <p:nvSpPr>
          <p:cNvPr id="6" name="テキスト ボックス 9"/>
          <p:cNvSpPr txBox="1">
            <a:spLocks noChangeArrowheads="1"/>
          </p:cNvSpPr>
          <p:nvPr/>
        </p:nvSpPr>
        <p:spPr bwMode="auto">
          <a:xfrm>
            <a:off x="-36000" y="-46800"/>
            <a:ext cx="32400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r>
              <a:rPr lang="en-US" altLang="ja-JP" sz="1400" b="1" dirty="0">
                <a:solidFill>
                  <a:srgbClr val="C00000"/>
                </a:solidFill>
              </a:rPr>
              <a:t>EFW MAKE IT EASY</a:t>
            </a:r>
            <a:endParaRPr lang="ja-JP" altLang="en-US" sz="1400" b="1" dirty="0">
              <a:solidFill>
                <a:srgbClr val="C00000"/>
              </a:solidFill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288" y="6519863"/>
            <a:ext cx="2895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tx2"/>
                </a:solidFill>
                <a:latin typeface="MS UI Gothic" pitchFamily="50" charset="-128"/>
                <a:ea typeface="MS UI Gothic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991269"/>
            <a:ext cx="8229600" cy="5246043"/>
          </a:xfrm>
        </p:spPr>
        <p:txBody>
          <a:bodyPr>
            <a:normAutofit/>
          </a:bodyPr>
          <a:lstStyle>
            <a:lvl1pPr>
              <a:defRPr sz="1800">
                <a:latin typeface="MS UI Gothic" pitchFamily="50" charset="-128"/>
                <a:ea typeface="MS UI Gothic" pitchFamily="50" charset="-128"/>
              </a:defRPr>
            </a:lvl1pPr>
            <a:lvl2pPr>
              <a:defRPr sz="1800">
                <a:latin typeface="MS UI Gothic" pitchFamily="50" charset="-128"/>
                <a:ea typeface="MS UI Gothic" pitchFamily="50" charset="-128"/>
              </a:defRPr>
            </a:lvl2pPr>
            <a:lvl3pPr>
              <a:defRPr sz="1800">
                <a:latin typeface="MS UI Gothic" pitchFamily="50" charset="-128"/>
                <a:ea typeface="MS UI Gothic" pitchFamily="50" charset="-128"/>
              </a:defRPr>
            </a:lvl3pPr>
            <a:lvl4pPr>
              <a:defRPr sz="1800">
                <a:latin typeface="MS UI Gothic" pitchFamily="50" charset="-128"/>
                <a:ea typeface="MS UI Gothic" pitchFamily="50" charset="-128"/>
              </a:defRPr>
            </a:lvl4pPr>
            <a:lvl5pPr>
              <a:defRPr sz="1800">
                <a:latin typeface="MS UI Gothic" pitchFamily="50" charset="-128"/>
                <a:ea typeface="MS UI Gothic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8" name="スライド番号プレースホルダー 1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B2CBF0-9F56-4157-9FC0-529FA0A011B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748375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タイトル プレースホルダー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マスター タイトルの書式設定</a:t>
            </a:r>
          </a:p>
        </p:txBody>
      </p:sp>
      <p:sp>
        <p:nvSpPr>
          <p:cNvPr id="1027" name="テキスト プレースホルダー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1" name="スライド番号プレースホルダー 1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Arial" charset="0"/>
              </a:defRPr>
            </a:lvl1pPr>
          </a:lstStyle>
          <a:p>
            <a:pPr>
              <a:defRPr/>
            </a:pPr>
            <a:fld id="{E5AA8DC3-14C1-4C98-A520-5519C9F789F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Arial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Arial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Arial" charset="0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Arial" charset="0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Arial" charset="0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"/>
          <p:cNvSpPr txBox="1">
            <a:spLocks/>
          </p:cNvSpPr>
          <p:nvPr/>
        </p:nvSpPr>
        <p:spPr bwMode="auto">
          <a:xfrm>
            <a:off x="698500" y="2422525"/>
            <a:ext cx="7772400" cy="147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Arial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r>
              <a:rPr lang="en-US" altLang="ja-JP" sz="3600" dirty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Think in EFW</a:t>
            </a:r>
          </a:p>
          <a:p>
            <a:r>
              <a:rPr lang="ja-JP" altLang="en-US" sz="3600" dirty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➃</a:t>
            </a:r>
            <a:r>
              <a:rPr lang="en-US" altLang="ja-JP" sz="3600" dirty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EFW</a:t>
            </a:r>
            <a:r>
              <a:rPr lang="ja-JP" altLang="en-US" sz="3600" dirty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とスクリプト開発</a:t>
            </a:r>
            <a:endParaRPr lang="en-US" altLang="ja-JP" sz="3600" dirty="0"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r>
              <a:rPr lang="en-US" altLang="ja-JP" sz="1400" dirty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V0.1</a:t>
            </a:r>
          </a:p>
        </p:txBody>
      </p:sp>
      <p:sp>
        <p:nvSpPr>
          <p:cNvPr id="8" name="タイトル 1"/>
          <p:cNvSpPr txBox="1">
            <a:spLocks/>
          </p:cNvSpPr>
          <p:nvPr/>
        </p:nvSpPr>
        <p:spPr bwMode="auto">
          <a:xfrm>
            <a:off x="0" y="4365625"/>
            <a:ext cx="9144000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エスコ・ジャパン株式会社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2026.01.21</a:t>
            </a:r>
            <a:endParaRPr lang="ja-JP" altLang="en-US" sz="24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431F148E-8120-479E-BE34-50E1215860F3}"/>
              </a:ext>
            </a:extLst>
          </p:cNvPr>
          <p:cNvSpPr txBox="1">
            <a:spLocks/>
          </p:cNvSpPr>
          <p:nvPr/>
        </p:nvSpPr>
        <p:spPr bwMode="auto">
          <a:xfrm>
            <a:off x="109058" y="5339442"/>
            <a:ext cx="3218342" cy="140111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Arial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ja-JP" altLang="en-US" sz="1500" dirty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１、スクリプト言語の流行</a:t>
            </a:r>
            <a:endParaRPr lang="en-US" altLang="ja-JP" sz="1500" dirty="0"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ja-JP" altLang="en-US" sz="1500" dirty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２、 </a:t>
            </a:r>
            <a:r>
              <a:rPr lang="en-US" altLang="ja-JP" sz="1500" dirty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EFW</a:t>
            </a:r>
            <a:r>
              <a:rPr lang="ja-JP" altLang="en-US" sz="1500" dirty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の補足</a:t>
            </a:r>
            <a:endParaRPr lang="en-US" altLang="ja-JP" sz="1500" dirty="0"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ja-JP" altLang="en-US" sz="1500" dirty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３、</a:t>
            </a:r>
            <a:r>
              <a:rPr lang="en-US" altLang="ja-JP" sz="1500" dirty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 EFW</a:t>
            </a:r>
            <a:r>
              <a:rPr lang="ja-JP" altLang="en-US" sz="1500" dirty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と</a:t>
            </a:r>
            <a:r>
              <a:rPr lang="en-US" altLang="ja-JP" sz="1500" dirty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Node.js</a:t>
            </a:r>
            <a:r>
              <a:rPr lang="ja-JP" altLang="en-US" sz="1500" dirty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の比較</a:t>
            </a:r>
            <a:endParaRPr lang="en-US" altLang="ja-JP" sz="1500" dirty="0"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ja-JP" altLang="en-US" sz="1500" dirty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４、 複雑バッチ機能の実績紹介</a:t>
            </a:r>
            <a:endParaRPr lang="en-US" altLang="ja-JP" sz="1500" dirty="0"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タイトル 1"/>
          <p:cNvSpPr>
            <a:spLocks noGrp="1"/>
          </p:cNvSpPr>
          <p:nvPr>
            <p:ph type="title" idx="4294967295"/>
          </p:nvPr>
        </p:nvSpPr>
        <p:spPr>
          <a:xfrm>
            <a:off x="276894" y="273922"/>
            <a:ext cx="8229600" cy="56197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l" eaLnBrk="1" latinLnBrk="1" hangingPunct="1">
              <a:lnSpc>
                <a:spcPct val="110000"/>
              </a:lnSpc>
              <a:spcBef>
                <a:spcPct val="25000"/>
              </a:spcBef>
            </a:pP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１．スクリプト言語の流行（</a:t>
            </a:r>
            <a:r>
              <a:rPr lang="en-US" altLang="ja-JP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AI</a:t>
            </a: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のまとめ）</a:t>
            </a:r>
            <a:endParaRPr lang="ja-JP" altLang="en-US" sz="1600" dirty="0">
              <a:solidFill>
                <a:schemeClr val="tx2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4099" name="スライド番号プレースホルダー 3"/>
          <p:cNvSpPr txBox="1">
            <a:spLocks/>
          </p:cNvSpPr>
          <p:nvPr/>
        </p:nvSpPr>
        <p:spPr bwMode="auto">
          <a:xfrm>
            <a:off x="6948488" y="64928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charset="0"/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58FAC8A-E6DC-4B55-B38E-E698B51BB229}" type="slidenum">
              <a:rPr lang="ja-JP" altLang="en-US" sz="1200">
                <a:solidFill>
                  <a:srgbClr val="898989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1</a:t>
            </a:fld>
            <a:endParaRPr lang="en-US" altLang="ja-JP" sz="1200">
              <a:solidFill>
                <a:srgbClr val="898989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3" name="AutoShape 6" descr="「我反正信了。」の画像検索結果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3BBDA3D-26F4-4E20-BF3A-40B3A36AC675}"/>
              </a:ext>
            </a:extLst>
          </p:cNvPr>
          <p:cNvSpPr txBox="1"/>
          <p:nvPr/>
        </p:nvSpPr>
        <p:spPr>
          <a:xfrm>
            <a:off x="219744" y="985366"/>
            <a:ext cx="85731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ここ</a:t>
            </a:r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10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年ほど、</a:t>
            </a:r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Python</a:t>
            </a:r>
            <a:r>
              <a:rPr lang="ja-JP" altLang="en-US" sz="14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、</a:t>
            </a:r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JavaScript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（</a:t>
            </a:r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TypeScript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）、</a:t>
            </a:r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Ruby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などのスクリプト言語が主流となっているのは、開発の現場に求められる</a:t>
            </a:r>
            <a:r>
              <a:rPr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「スピード」と「柔軟性」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が劇的に変化したからです。かつての主流だった</a:t>
            </a:r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C++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や</a:t>
            </a:r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Java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（初期）などの「コンパイル言語」に対し、なぜスクリプト言語が選ばれているのか、主な理由を以下の視点で解説します。</a:t>
            </a: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41E3BC86-51B7-4B6E-9FE4-BE2F615138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159143"/>
              </p:ext>
            </p:extLst>
          </p:nvPr>
        </p:nvGraphicFramePr>
        <p:xfrm>
          <a:off x="307975" y="1808634"/>
          <a:ext cx="8516042" cy="497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9592">
                  <a:extLst>
                    <a:ext uri="{9D8B030D-6E8A-4147-A177-3AD203B41FA5}">
                      <a16:colId xmlns:a16="http://schemas.microsoft.com/office/drawing/2014/main" val="3267597889"/>
                    </a:ext>
                  </a:extLst>
                </a:gridCol>
                <a:gridCol w="5886450">
                  <a:extLst>
                    <a:ext uri="{9D8B030D-6E8A-4147-A177-3AD203B41FA5}">
                      <a16:colId xmlns:a16="http://schemas.microsoft.com/office/drawing/2014/main" val="25441895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視点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説明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1524577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1. </a:t>
                      </a:r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開発スピードの圧倒的な速さ</a:t>
                      </a:r>
                      <a:endParaRPr kumimoji="1" lang="en-US" altLang="ja-JP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r>
                        <a:rPr kumimoji="1" lang="ja-JP" altLang="en-US" sz="1400" dirty="0">
                          <a:solidFill>
                            <a:srgbClr val="C00000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現代のビジネスは「まず形にして、市場の反応を見る」というアジャイル開発が主流です。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記述量の少なさ：</a:t>
                      </a:r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スクリプト言語は、同じ機能を実装するのに必要なコード量が圧倒的に少ないです。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54401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kumimoji="1" lang="ja-JP" altLang="en-US" sz="16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コンパイル不要：</a:t>
                      </a:r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コードを書いてすぐに実行できるため、「修正→確認」のサイクルが数秒で回せます。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816897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kumimoji="1" lang="ja-JP" altLang="en-US" sz="16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動的型付け：</a:t>
                      </a:r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数の型を厳密に定義しなくてよいため、プロトタイプ作成がスムーズです。（</a:t>
                      </a:r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※</a:t>
                      </a:r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最近は大規模開発向けに、</a:t>
                      </a:r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TypeScript</a:t>
                      </a:r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のような「型のあるスクリプト言語」も普及しています）。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1723294"/>
                  </a:ext>
                </a:extLst>
              </a:tr>
              <a:tr h="425813">
                <a:tc rowSpan="2">
                  <a:txBody>
                    <a:bodyPr/>
                    <a:lstStyle/>
                    <a:p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2. </a:t>
                      </a:r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ライブラリとエコシステムの充実</a:t>
                      </a:r>
                      <a:endParaRPr kumimoji="1" lang="en-US" altLang="ja-JP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r>
                        <a:rPr kumimoji="1" lang="ja-JP" altLang="en-US" sz="1400" dirty="0">
                          <a:solidFill>
                            <a:schemeClr val="tx2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「車輪の再発明」をせず、</a:t>
                      </a:r>
                      <a:r>
                        <a:rPr kumimoji="1" lang="ja-JP" altLang="en-US" sz="1400" dirty="0">
                          <a:solidFill>
                            <a:srgbClr val="C00000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既存の部品を組み合わせる開発スタイルが定着しました。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データサイエンスと</a:t>
                      </a:r>
                      <a:r>
                        <a:rPr kumimoji="1" lang="en-US" altLang="ja-JP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AI: </a:t>
                      </a:r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Python</a:t>
                      </a:r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がその筆頭です。</a:t>
                      </a:r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TensorFlow</a:t>
                      </a:r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や</a:t>
                      </a:r>
                      <a:r>
                        <a:rPr kumimoji="1" lang="en-US" altLang="ja-JP" sz="1400" dirty="0" err="1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PyTorch</a:t>
                      </a:r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など、強力なライブラリがスクリプト言語向けに提供されたことで、専門家以外でも高度な技術を扱えるようになりました。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72824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kumimoji="1" lang="ja-JP" altLang="en-US" sz="16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Web</a:t>
                      </a:r>
                      <a:r>
                        <a:rPr kumimoji="1" lang="ja-JP" altLang="en-US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開発の標準化</a:t>
                      </a:r>
                      <a:r>
                        <a:rPr kumimoji="1" lang="en-US" altLang="ja-JP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: </a:t>
                      </a:r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JavaScript</a:t>
                      </a:r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はブラウザで動く唯一の言語でしたが、</a:t>
                      </a:r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Node.js</a:t>
                      </a:r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の登場でサーバー側もこなせるようになり、</a:t>
                      </a:r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Web</a:t>
                      </a:r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業界全体を飲み込みました。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0561527"/>
                  </a:ext>
                </a:extLst>
              </a:tr>
              <a:tr h="185420">
                <a:tc rowSpan="2">
                  <a:txBody>
                    <a:bodyPr/>
                    <a:lstStyle/>
                    <a:p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3. </a:t>
                      </a:r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ハードウェア性能の向上とクラウドの普及</a:t>
                      </a:r>
                    </a:p>
                    <a:p>
                      <a:r>
                        <a:rPr kumimoji="1" lang="ja-JP" altLang="en-US" sz="1400" dirty="0">
                          <a:solidFill>
                            <a:schemeClr val="tx2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昔はスクリプト言語の欠点として「実行速度が遅い」ことが挙げられていました。しかし、以下の要因でそのデメリットが目立たなくなりました。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PC</a:t>
                      </a:r>
                      <a:r>
                        <a:rPr kumimoji="1" lang="ja-JP" altLang="en-US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スペックの向上</a:t>
                      </a:r>
                      <a:r>
                        <a:rPr kumimoji="1" lang="en-US" altLang="ja-JP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: </a:t>
                      </a:r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多少効率が悪くても、体感速度に影響しないほど</a:t>
                      </a:r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PC</a:t>
                      </a:r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が速くなりました。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3747469"/>
                  </a:ext>
                </a:extLst>
              </a:tr>
              <a:tr h="185420">
                <a:tc vMerge="1">
                  <a:txBody>
                    <a:bodyPr/>
                    <a:lstStyle/>
                    <a:p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クラウド（</a:t>
                      </a:r>
                      <a:r>
                        <a:rPr kumimoji="1" lang="en-US" altLang="ja-JP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AWS</a:t>
                      </a:r>
                      <a:r>
                        <a:rPr kumimoji="1" lang="ja-JP" altLang="en-US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等）の普及</a:t>
                      </a:r>
                      <a:r>
                        <a:rPr kumimoji="1" lang="en-US" altLang="ja-JP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: </a:t>
                      </a:r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処理が重ければサーバーを増強すれば解決するという考え方が一般的になり、</a:t>
                      </a:r>
                      <a:r>
                        <a:rPr kumimoji="1" lang="ja-JP" altLang="en-US" sz="1400" dirty="0">
                          <a:solidFill>
                            <a:srgbClr val="C00000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実行速度よりも**「エンジニアの人件費（＝開発時間の短縮）」**</a:t>
                      </a:r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の方が重要視されるようになりました。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3874064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891279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タイトル 1"/>
          <p:cNvSpPr>
            <a:spLocks noGrp="1"/>
          </p:cNvSpPr>
          <p:nvPr>
            <p:ph type="title" idx="4294967295"/>
          </p:nvPr>
        </p:nvSpPr>
        <p:spPr>
          <a:xfrm>
            <a:off x="276894" y="273922"/>
            <a:ext cx="8229600" cy="56197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l" eaLnBrk="1" latinLnBrk="1" hangingPunct="1">
              <a:lnSpc>
                <a:spcPct val="110000"/>
              </a:lnSpc>
              <a:spcBef>
                <a:spcPct val="25000"/>
              </a:spcBef>
            </a:pP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２．スクリプト言語の流行に対する</a:t>
            </a:r>
            <a:r>
              <a:rPr lang="en-US" altLang="ja-JP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EFW</a:t>
            </a: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の補足</a:t>
            </a:r>
            <a:endParaRPr lang="ja-JP" altLang="en-US" sz="1600" dirty="0">
              <a:solidFill>
                <a:schemeClr val="tx2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4099" name="スライド番号プレースホルダー 3"/>
          <p:cNvSpPr txBox="1">
            <a:spLocks/>
          </p:cNvSpPr>
          <p:nvPr/>
        </p:nvSpPr>
        <p:spPr bwMode="auto">
          <a:xfrm>
            <a:off x="6948488" y="64928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charset="0"/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58FAC8A-E6DC-4B55-B38E-E698B51BB229}" type="slidenum">
              <a:rPr lang="ja-JP" altLang="en-US" sz="1200">
                <a:solidFill>
                  <a:srgbClr val="898989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ja-JP" sz="1200">
              <a:solidFill>
                <a:srgbClr val="898989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3" name="AutoShape 6" descr="「我反正信了。」の画像検索結果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3BBDA3D-26F4-4E20-BF3A-40B3A36AC675}"/>
              </a:ext>
            </a:extLst>
          </p:cNvPr>
          <p:cNvSpPr txBox="1"/>
          <p:nvPr/>
        </p:nvSpPr>
        <p:spPr>
          <a:xfrm>
            <a:off x="219744" y="985366"/>
            <a:ext cx="85731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上記背景を踏まえ、</a:t>
            </a:r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EFW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フレームワークがどのように対応しているか、補足内容を追記します。</a:t>
            </a: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41E3BC86-51B7-4B6E-9FE4-BE2F615138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5196828"/>
              </p:ext>
            </p:extLst>
          </p:nvPr>
        </p:nvGraphicFramePr>
        <p:xfrm>
          <a:off x="313979" y="1406349"/>
          <a:ext cx="8516042" cy="3388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9592">
                  <a:extLst>
                    <a:ext uri="{9D8B030D-6E8A-4147-A177-3AD203B41FA5}">
                      <a16:colId xmlns:a16="http://schemas.microsoft.com/office/drawing/2014/main" val="3267597889"/>
                    </a:ext>
                  </a:extLst>
                </a:gridCol>
                <a:gridCol w="5886450">
                  <a:extLst>
                    <a:ext uri="{9D8B030D-6E8A-4147-A177-3AD203B41FA5}">
                      <a16:colId xmlns:a16="http://schemas.microsoft.com/office/drawing/2014/main" val="25441895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視点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説明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1524577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1. </a:t>
                      </a:r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開発スピードの圧倒的な速さ</a:t>
                      </a:r>
                      <a:endParaRPr kumimoji="1" lang="en-US" altLang="ja-JP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記述量の少なさ：</a:t>
                      </a:r>
                      <a:r>
                        <a:rPr kumimoji="1" lang="en-US" altLang="ja-JP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Web</a:t>
                      </a:r>
                      <a:r>
                        <a:rPr kumimoji="1" lang="ja-JP" altLang="en-US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</a:t>
                      </a:r>
                      <a:r>
                        <a:rPr kumimoji="1" lang="en-US" altLang="ja-JP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DB</a:t>
                      </a:r>
                      <a:r>
                        <a:rPr kumimoji="1" lang="ja-JP" altLang="en-US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操作を</a:t>
                      </a:r>
                      <a:r>
                        <a:rPr kumimoji="1" lang="en-US" altLang="ja-JP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DSL</a:t>
                      </a:r>
                      <a:r>
                        <a:rPr kumimoji="1" lang="ja-JP" altLang="en-US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レベルまで最適化。</a:t>
                      </a:r>
                      <a:r>
                        <a:rPr kumimoji="1" lang="en-US" altLang="ja-JP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Node.js</a:t>
                      </a:r>
                      <a:r>
                        <a:rPr kumimoji="1" lang="ja-JP" altLang="en-US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以上のコード削減を実現しました。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54401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kumimoji="1" lang="ja-JP" altLang="en-US" sz="16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コンパイル不要：</a:t>
                      </a:r>
                      <a:r>
                        <a:rPr kumimoji="1" lang="ja-JP" altLang="en-US" sz="1400" b="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デバッグ・リリースの両モードを搭載し、開発効率の向上と高速なパフォーマンスを最適化しました。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816897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kumimoji="1" lang="ja-JP" altLang="en-US" sz="16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動的型付け：</a:t>
                      </a:r>
                      <a:r>
                        <a:rPr lang="en-US" altLang="ja-JP" sz="1400" dirty="0" err="1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Nashorn</a:t>
                      </a:r>
                      <a:r>
                        <a:rPr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/</a:t>
                      </a:r>
                      <a:r>
                        <a:rPr lang="en-US" altLang="ja-JP" sz="1400" dirty="0" err="1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GraalJS</a:t>
                      </a:r>
                      <a:r>
                        <a:rPr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のサポートにより、</a:t>
                      </a:r>
                      <a:r>
                        <a:rPr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JavaScript</a:t>
                      </a:r>
                      <a:r>
                        <a:rPr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から</a:t>
                      </a:r>
                      <a:r>
                        <a:rPr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Java</a:t>
                      </a:r>
                      <a:r>
                        <a:rPr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クラス・オブジェクトの相互利用が可能。</a:t>
                      </a:r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1723294"/>
                  </a:ext>
                </a:extLst>
              </a:tr>
              <a:tr h="425813">
                <a:tc rowSpan="2">
                  <a:txBody>
                    <a:bodyPr/>
                    <a:lstStyle/>
                    <a:p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2. </a:t>
                      </a:r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ライブラリとエコシステムの充実</a:t>
                      </a:r>
                      <a:endParaRPr kumimoji="1" lang="en-US" altLang="ja-JP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Java</a:t>
                      </a:r>
                      <a:r>
                        <a:rPr kumimoji="1" lang="ja-JP" altLang="en-US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資産の流用</a:t>
                      </a:r>
                      <a:r>
                        <a:rPr kumimoji="1" lang="en-US" altLang="ja-JP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:</a:t>
                      </a:r>
                      <a:r>
                        <a:rPr kumimoji="1" lang="ja-JP" altLang="en-US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</a:t>
                      </a:r>
                      <a:r>
                        <a:rPr kumimoji="1" lang="ja-JP" altLang="en-US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広大な</a:t>
                      </a:r>
                      <a:r>
                        <a:rPr kumimoji="1" lang="en-US" altLang="ja-JP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Java</a:t>
                      </a:r>
                      <a:r>
                        <a:rPr kumimoji="1" lang="ja-JP" altLang="en-US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エコシステムをフル活用できるだけでなく、企業が長年培ってきた</a:t>
                      </a:r>
                      <a:r>
                        <a:rPr kumimoji="1" lang="en-US" altLang="ja-JP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Java</a:t>
                      </a:r>
                      <a:r>
                        <a:rPr kumimoji="1" lang="ja-JP" altLang="en-US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資産の中から必要なものを選別し、シームレスに流用することが可能です。新規開発のスピードと、既存資産の信頼性を高度に両立します。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72824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kumimoji="1" lang="ja-JP" altLang="en-US" sz="16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Web</a:t>
                      </a:r>
                      <a:r>
                        <a:rPr kumimoji="1" lang="ja-JP" altLang="en-US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開発の標準化 </a:t>
                      </a:r>
                      <a:r>
                        <a:rPr kumimoji="1" lang="en-US" altLang="ja-JP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:</a:t>
                      </a:r>
                      <a:r>
                        <a:rPr kumimoji="1" lang="ja-JP" altLang="en-US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</a:t>
                      </a:r>
                      <a:r>
                        <a:rPr kumimoji="1" lang="en-US" altLang="ja-JP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Tomcat</a:t>
                      </a:r>
                      <a:r>
                        <a:rPr kumimoji="1" lang="ja-JP" altLang="en-US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上で動作する、</a:t>
                      </a:r>
                      <a:r>
                        <a:rPr kumimoji="1" lang="en-US" altLang="ja-JP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JSP</a:t>
                      </a:r>
                      <a:r>
                        <a:rPr kumimoji="1" lang="ja-JP" altLang="en-US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（表示）・イベント</a:t>
                      </a:r>
                      <a:r>
                        <a:rPr kumimoji="1" lang="en-US" altLang="ja-JP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JS</a:t>
                      </a:r>
                      <a:r>
                        <a:rPr kumimoji="1" lang="ja-JP" altLang="en-US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（制御）・外部</a:t>
                      </a:r>
                      <a:r>
                        <a:rPr kumimoji="1" lang="en-US" altLang="ja-JP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SQL</a:t>
                      </a:r>
                      <a:r>
                        <a:rPr kumimoji="1" lang="ja-JP" altLang="en-US" sz="1400" b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（データ）の完全分離を実現。シンプルかつ保守性に優れた開発スタイルを提供します。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0561527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975209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タイトル 1"/>
          <p:cNvSpPr>
            <a:spLocks noGrp="1"/>
          </p:cNvSpPr>
          <p:nvPr>
            <p:ph type="title" idx="4294967295"/>
          </p:nvPr>
        </p:nvSpPr>
        <p:spPr>
          <a:xfrm>
            <a:off x="276894" y="273922"/>
            <a:ext cx="8229600" cy="56197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l" eaLnBrk="1" latinLnBrk="1" hangingPunct="1">
              <a:lnSpc>
                <a:spcPct val="110000"/>
              </a:lnSpc>
              <a:spcBef>
                <a:spcPct val="25000"/>
              </a:spcBef>
            </a:pP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３．</a:t>
            </a:r>
            <a:r>
              <a:rPr lang="en-US" altLang="ja-JP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EFW</a:t>
            </a: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と</a:t>
            </a:r>
            <a:r>
              <a:rPr lang="en-US" altLang="ja-JP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Node.js</a:t>
            </a: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の比較（</a:t>
            </a:r>
            <a:r>
              <a:rPr lang="en-US" altLang="ja-JP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AI</a:t>
            </a: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のまとめ）</a:t>
            </a:r>
            <a:endParaRPr lang="ja-JP" altLang="en-US" sz="1600" dirty="0">
              <a:solidFill>
                <a:schemeClr val="tx2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4099" name="スライド番号プレースホルダー 3"/>
          <p:cNvSpPr txBox="1">
            <a:spLocks/>
          </p:cNvSpPr>
          <p:nvPr/>
        </p:nvSpPr>
        <p:spPr bwMode="auto">
          <a:xfrm>
            <a:off x="6948488" y="64928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charset="0"/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58FAC8A-E6DC-4B55-B38E-E698B51BB229}" type="slidenum">
              <a:rPr lang="ja-JP" altLang="en-US" sz="1200">
                <a:solidFill>
                  <a:srgbClr val="898989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en-US" altLang="ja-JP" sz="1200">
              <a:solidFill>
                <a:srgbClr val="898989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3" name="AutoShape 6" descr="「我反正信了。」の画像検索結果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3BBDA3D-26F4-4E20-BF3A-40B3A36AC675}"/>
              </a:ext>
            </a:extLst>
          </p:cNvPr>
          <p:cNvSpPr txBox="1"/>
          <p:nvPr/>
        </p:nvSpPr>
        <p:spPr>
          <a:xfrm>
            <a:off x="219744" y="985366"/>
            <a:ext cx="85731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EFW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（</a:t>
            </a:r>
            <a:r>
              <a:rPr lang="en-US" altLang="ja-JP" sz="14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Escco</a:t>
            </a:r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-Framework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）と</a:t>
            </a:r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Node.js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は、どちらも</a:t>
            </a:r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JavaScript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をサーバーサイドで実行できる環境ですが、その設計思想や実行基盤には明確な違いがあります。</a:t>
            </a:r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757BC8CD-7CBB-45A6-B35C-667BD1F91D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4707421"/>
              </p:ext>
            </p:extLst>
          </p:nvPr>
        </p:nvGraphicFramePr>
        <p:xfrm>
          <a:off x="307974" y="1658055"/>
          <a:ext cx="857319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7526">
                  <a:extLst>
                    <a:ext uri="{9D8B030D-6E8A-4147-A177-3AD203B41FA5}">
                      <a16:colId xmlns:a16="http://schemas.microsoft.com/office/drawing/2014/main" val="1269148698"/>
                    </a:ext>
                  </a:extLst>
                </a:gridCol>
                <a:gridCol w="3244850">
                  <a:extLst>
                    <a:ext uri="{9D8B030D-6E8A-4147-A177-3AD203B41FA5}">
                      <a16:colId xmlns:a16="http://schemas.microsoft.com/office/drawing/2014/main" val="1541164166"/>
                    </a:ext>
                  </a:extLst>
                </a:gridCol>
                <a:gridCol w="3540814">
                  <a:extLst>
                    <a:ext uri="{9D8B030D-6E8A-4147-A177-3AD203B41FA5}">
                      <a16:colId xmlns:a16="http://schemas.microsoft.com/office/drawing/2014/main" val="12650327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比較項目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EFW</a:t>
                      </a:r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Node.js</a:t>
                      </a:r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0043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実行基盤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Java (Tomcat)</a:t>
                      </a:r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V8</a:t>
                      </a:r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エンジン </a:t>
                      </a:r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(C++)</a:t>
                      </a:r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4712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JS</a:t>
                      </a:r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エンジン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err="1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Nashorn</a:t>
                      </a:r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/ </a:t>
                      </a:r>
                      <a:r>
                        <a:rPr kumimoji="1" lang="en-US" altLang="ja-JP" sz="1400" dirty="0" err="1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GraalJS</a:t>
                      </a:r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V8</a:t>
                      </a:r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6938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主な目的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目標指向による</a:t>
                      </a:r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WEB</a:t>
                      </a:r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開発の簡素化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汎用的なサーバーサイド実行環境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7410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記述量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DSL</a:t>
                      </a:r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（目的指向）により極めて少ない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フレームワーク（</a:t>
                      </a:r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Express</a:t>
                      </a:r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等）に依存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3432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Java</a:t>
                      </a:r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との親和性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Java</a:t>
                      </a:r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資産を直接・簡単に流用可能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ライブラリ経由等の間接的な利用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5214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SQL</a:t>
                      </a:r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管理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外部</a:t>
                      </a:r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SQL</a:t>
                      </a:r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ファイルによる分離管理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ORM</a:t>
                      </a:r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やコード内記述が一般的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425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主な強み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Java</a:t>
                      </a:r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エコシステムの継承と保守性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非同期</a:t>
                      </a:r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I/O</a:t>
                      </a:r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による高いスケーラビリティ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7536873"/>
                  </a:ext>
                </a:extLst>
              </a:tr>
            </a:tbl>
          </a:graphicData>
        </a:graphic>
      </p:graphicFrame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FFB9379-1CF9-45D2-BEDB-A6EA3B0FCA1B}"/>
              </a:ext>
            </a:extLst>
          </p:cNvPr>
          <p:cNvSpPr/>
          <p:nvPr/>
        </p:nvSpPr>
        <p:spPr>
          <a:xfrm>
            <a:off x="276894" y="4774244"/>
            <a:ext cx="857319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まとめ</a:t>
            </a:r>
            <a:endParaRPr lang="en-US" altLang="ja-JP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既存のJava資産を活かしつつ、少ないコードで素早くWEBシステムを構築したいなら EFW。</a:t>
            </a:r>
            <a:endParaRPr lang="en-US" altLang="ja-JP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JavaScriptのみのスタックで、リアルタイム性や高度なスケーラビリティを追求したいなら Node.js。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92190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タイトル 1"/>
          <p:cNvSpPr>
            <a:spLocks noGrp="1"/>
          </p:cNvSpPr>
          <p:nvPr>
            <p:ph type="title" idx="4294967295"/>
          </p:nvPr>
        </p:nvSpPr>
        <p:spPr>
          <a:xfrm>
            <a:off x="276894" y="273922"/>
            <a:ext cx="8229600" cy="56197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l" eaLnBrk="1" latinLnBrk="1" hangingPunct="1">
              <a:lnSpc>
                <a:spcPct val="110000"/>
              </a:lnSpc>
              <a:spcBef>
                <a:spcPct val="25000"/>
              </a:spcBef>
            </a:pP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４．複雑バッチ機能の実績紹介</a:t>
            </a:r>
            <a:endParaRPr lang="ja-JP" altLang="en-US" sz="1600" dirty="0">
              <a:solidFill>
                <a:schemeClr val="tx2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4099" name="スライド番号プレースホルダー 3"/>
          <p:cNvSpPr txBox="1">
            <a:spLocks/>
          </p:cNvSpPr>
          <p:nvPr/>
        </p:nvSpPr>
        <p:spPr bwMode="auto">
          <a:xfrm>
            <a:off x="6948488" y="64928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charset="0"/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58FAC8A-E6DC-4B55-B38E-E698B51BB229}" type="slidenum">
              <a:rPr lang="ja-JP" altLang="en-US" sz="1200">
                <a:solidFill>
                  <a:srgbClr val="898989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en-US" altLang="ja-JP" sz="1200">
              <a:solidFill>
                <a:srgbClr val="898989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3" name="AutoShape 6" descr="「我反正信了。」の画像検索結果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3BBDA3D-26F4-4E20-BF3A-40B3A36AC675}"/>
              </a:ext>
            </a:extLst>
          </p:cNvPr>
          <p:cNvSpPr txBox="1"/>
          <p:nvPr/>
        </p:nvSpPr>
        <p:spPr>
          <a:xfrm>
            <a:off x="219744" y="985366"/>
            <a:ext cx="85731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保険向けシステムに、月次バッチ機能として、</a:t>
            </a:r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EFW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バッチ</a:t>
            </a:r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22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本実装した実績があります。</a:t>
            </a:r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757BC8CD-7CBB-45A6-B35C-667BD1F91D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1165086"/>
              </p:ext>
            </p:extLst>
          </p:nvPr>
        </p:nvGraphicFramePr>
        <p:xfrm>
          <a:off x="307974" y="1336324"/>
          <a:ext cx="8573190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7526">
                  <a:extLst>
                    <a:ext uri="{9D8B030D-6E8A-4147-A177-3AD203B41FA5}">
                      <a16:colId xmlns:a16="http://schemas.microsoft.com/office/drawing/2014/main" val="1269148698"/>
                    </a:ext>
                  </a:extLst>
                </a:gridCol>
                <a:gridCol w="3244850">
                  <a:extLst>
                    <a:ext uri="{9D8B030D-6E8A-4147-A177-3AD203B41FA5}">
                      <a16:colId xmlns:a16="http://schemas.microsoft.com/office/drawing/2014/main" val="1541164166"/>
                    </a:ext>
                  </a:extLst>
                </a:gridCol>
                <a:gridCol w="3540814">
                  <a:extLst>
                    <a:ext uri="{9D8B030D-6E8A-4147-A177-3AD203B41FA5}">
                      <a16:colId xmlns:a16="http://schemas.microsoft.com/office/drawing/2014/main" val="1265032748"/>
                    </a:ext>
                  </a:extLst>
                </a:gridCol>
              </a:tblGrid>
              <a:tr h="297943"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項目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合計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0043314"/>
                  </a:ext>
                </a:extLst>
              </a:tr>
              <a:tr h="297943">
                <a:tc>
                  <a:txBody>
                    <a:bodyPr/>
                    <a:lstStyle/>
                    <a:p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JS</a:t>
                      </a:r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ソース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8.1KL</a:t>
                      </a:r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合計</a:t>
                      </a:r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12.3KL</a:t>
                      </a:r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4712334"/>
                  </a:ext>
                </a:extLst>
              </a:tr>
              <a:tr h="297943"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外だし</a:t>
                      </a:r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SQL</a:t>
                      </a:r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4.2KL</a:t>
                      </a:r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6938860"/>
                  </a:ext>
                </a:extLst>
              </a:tr>
              <a:tr h="297943"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取込バッチ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18</a:t>
                      </a:r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本</a:t>
                      </a:r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合計</a:t>
                      </a:r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22</a:t>
                      </a:r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7410555"/>
                  </a:ext>
                </a:extLst>
              </a:tr>
              <a:tr h="287974"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集計バッチ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</a:t>
                      </a:r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本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3432327"/>
                  </a:ext>
                </a:extLst>
              </a:tr>
              <a:tr h="287974"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名寄せバッチ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本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094509"/>
                  </a:ext>
                </a:extLst>
              </a:tr>
              <a:tr h="297943"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データ移行バッチ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本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5214544"/>
                  </a:ext>
                </a:extLst>
              </a:tr>
              <a:tr h="297943"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取込データファイル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93</a:t>
                      </a:r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93.5GB</a:t>
                      </a:r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425434"/>
                  </a:ext>
                </a:extLst>
              </a:tr>
            </a:tbl>
          </a:graphicData>
        </a:graphic>
      </p:graphicFrame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AA33F10-5435-49AF-9893-9B29B1CD3FCA}"/>
              </a:ext>
            </a:extLst>
          </p:cNvPr>
          <p:cNvSpPr txBox="1"/>
          <p:nvPr/>
        </p:nvSpPr>
        <p:spPr>
          <a:xfrm>
            <a:off x="307974" y="3813337"/>
            <a:ext cx="85731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該当実績に以下のような技術特徴を整理します。</a:t>
            </a:r>
            <a:endParaRPr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aphicFrame>
        <p:nvGraphicFramePr>
          <p:cNvPr id="9" name="表 8">
            <a:extLst>
              <a:ext uri="{FF2B5EF4-FFF2-40B4-BE49-F238E27FC236}">
                <a16:creationId xmlns:a16="http://schemas.microsoft.com/office/drawing/2014/main" id="{A88B63CD-19A6-4EF2-9204-5A7AD6306C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5833267"/>
              </p:ext>
            </p:extLst>
          </p:nvPr>
        </p:nvGraphicFramePr>
        <p:xfrm>
          <a:off x="307974" y="4146915"/>
          <a:ext cx="8573190" cy="22009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0426">
                  <a:extLst>
                    <a:ext uri="{9D8B030D-6E8A-4147-A177-3AD203B41FA5}">
                      <a16:colId xmlns:a16="http://schemas.microsoft.com/office/drawing/2014/main" val="1269148698"/>
                    </a:ext>
                  </a:extLst>
                </a:gridCol>
                <a:gridCol w="3412067">
                  <a:extLst>
                    <a:ext uri="{9D8B030D-6E8A-4147-A177-3AD203B41FA5}">
                      <a16:colId xmlns:a16="http://schemas.microsoft.com/office/drawing/2014/main" val="1541164166"/>
                    </a:ext>
                  </a:extLst>
                </a:gridCol>
                <a:gridCol w="3030697">
                  <a:extLst>
                    <a:ext uri="{9D8B030D-6E8A-4147-A177-3AD203B41FA5}">
                      <a16:colId xmlns:a16="http://schemas.microsoft.com/office/drawing/2014/main" val="3938237639"/>
                    </a:ext>
                  </a:extLst>
                </a:gridCol>
              </a:tblGrid>
              <a:tr h="270839"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キーワード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目的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説明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00433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マルチデータベース</a:t>
                      </a:r>
                      <a:endParaRPr lang="en-US" altLang="ja-JP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400" dirty="0"/>
                        <a:t>取込</a:t>
                      </a:r>
                      <a:r>
                        <a:rPr lang="en-US" altLang="ja-JP" sz="1400" dirty="0"/>
                        <a:t>DB</a:t>
                      </a:r>
                      <a:r>
                        <a:rPr lang="ja-JP" altLang="en-US" sz="1400" dirty="0"/>
                        <a:t>と公開</a:t>
                      </a:r>
                      <a:r>
                        <a:rPr lang="en-US" altLang="ja-JP" sz="1400" dirty="0"/>
                        <a:t>DB</a:t>
                      </a:r>
                      <a:r>
                        <a:rPr lang="ja-JP" altLang="en-US" sz="1400" dirty="0"/>
                        <a:t>をわけ、高可用性確保</a:t>
                      </a:r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400" dirty="0"/>
                        <a:t>ファイル処理、</a:t>
                      </a:r>
                      <a:r>
                        <a:rPr lang="en-US" altLang="ja-JP" sz="1400" dirty="0"/>
                        <a:t>DB</a:t>
                      </a:r>
                      <a:r>
                        <a:rPr lang="ja-JP" altLang="en-US" sz="1400" dirty="0"/>
                        <a:t>処理など、処理時間がかかる</a:t>
                      </a:r>
                      <a:r>
                        <a:rPr lang="en-US" altLang="ja-JP" sz="1400" dirty="0"/>
                        <a:t>IO</a:t>
                      </a:r>
                      <a:r>
                        <a:rPr lang="ja-JP" altLang="en-US" sz="1400" dirty="0"/>
                        <a:t>部分は、</a:t>
                      </a:r>
                      <a:r>
                        <a:rPr lang="en-US" altLang="ja-JP" sz="1400" dirty="0"/>
                        <a:t>EFW</a:t>
                      </a:r>
                      <a:r>
                        <a:rPr lang="ja-JP" altLang="en-US" sz="1400" dirty="0"/>
                        <a:t>内部で</a:t>
                      </a:r>
                      <a:r>
                        <a:rPr lang="en-US" altLang="ja-JP" sz="1400" dirty="0"/>
                        <a:t>Java</a:t>
                      </a:r>
                      <a:r>
                        <a:rPr lang="ja-JP" altLang="en-US" sz="1400" dirty="0"/>
                        <a:t>のクラスを利用しています。そして、処理スピードは純粋な</a:t>
                      </a:r>
                      <a:r>
                        <a:rPr lang="en-US" altLang="ja-JP" sz="1400" dirty="0"/>
                        <a:t>Java</a:t>
                      </a:r>
                      <a:r>
                        <a:rPr lang="ja-JP" altLang="en-US" sz="1400" dirty="0"/>
                        <a:t>プログラムとほぼ同等です。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5927329"/>
                  </a:ext>
                </a:extLst>
              </a:tr>
              <a:tr h="325007">
                <a:tc>
                  <a:txBody>
                    <a:bodyPr/>
                    <a:lstStyle/>
                    <a:p>
                      <a:r>
                        <a:rPr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テーブル水平分割</a:t>
                      </a:r>
                      <a:endParaRPr lang="en-US" altLang="ja-JP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1400" dirty="0"/>
                        <a:t>検索性能アップ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ja-JP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6938860"/>
                  </a:ext>
                </a:extLst>
              </a:tr>
              <a:tr h="3250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IBM</a:t>
                      </a:r>
                      <a:r>
                        <a:rPr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フォントセット</a:t>
                      </a:r>
                      <a:endParaRPr lang="en-US" altLang="ja-JP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ja-JP" altLang="en-US" sz="1400" dirty="0"/>
                        <a:t>ホスト連携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ja-JP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907157"/>
                  </a:ext>
                </a:extLst>
              </a:tr>
              <a:tr h="3250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固定長テキスト</a:t>
                      </a:r>
                      <a:endParaRPr lang="en-US" altLang="ja-JP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ja-JP" altLang="en-US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3635709"/>
                  </a:ext>
                </a:extLst>
              </a:tr>
              <a:tr h="3115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CSV</a:t>
                      </a:r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加工＆</a:t>
                      </a:r>
                      <a:r>
                        <a:rPr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Bulk</a:t>
                      </a:r>
                      <a:r>
                        <a:rPr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取込</a:t>
                      </a:r>
                      <a:endParaRPr lang="en-US" altLang="ja-JP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ja-JP" altLang="en-US" sz="1400" dirty="0"/>
                        <a:t>処理時間短縮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ja-JP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7589303"/>
                  </a:ext>
                </a:extLst>
              </a:tr>
              <a:tr h="2980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マルチスレッド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ja-JP" altLang="en-US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5942691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8458100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FIRST_PUBLISH" val="1"/>
  <p:tag name="ISPRING_LMS_API_VERSION" val="SCORM 1.2"/>
  <p:tag name="ISPRING_ULTRA_SCORM_COURSE_ID" val="3646EA2F-B580-466D-A2B7-03A95492CBF8"/>
  <p:tag name="ISPRING_CMI5_LAUNCH_METHOD" val="any window"/>
  <p:tag name="ISPRING_SCORM_RATE_SLIDES" val="1"/>
  <p:tag name="ISPRINGCLOUDFOLDERID" val="1"/>
  <p:tag name="ISPRINGONLINEFOLDERID" val="1"/>
  <p:tag name="ISPRING_SCORM_PASSING_SCORE" val="100.000000"/>
  <p:tag name="ISPRING_ULTRA_SCORM_COURCE_TITLE" val="EFWとMVCの比較v0.1"/>
  <p:tag name="ISPRING_PRESENTATION_TITLE" val="EFWとMVCの比較v0.1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OUTPUT_FOLDER" val="[[&quot;f\uFFFD_\u0000{F3869DA2-F2D5-46CF-899A-5B1CA6DA96AF}&quot;,&quot;C:\\Users\\kejun.chang\\Documents\\GitHub\\efw4_online_ppt&quot;],[&quot;x6\&quot;T{0A1F2BAE-1CEA-4DCF-97F0-F7F7D714EBC9}&quot;,&quot;C:\\Users\\kejun.chang\\Documents\\GitHub\\efw4_online_ppt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universal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SCALE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}}"/>
  <p:tag name="ISPRING_SCORM_RATE_QUIZZES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663AEFB4-AF13-4D80-94E5-74D4A67FC954}:39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E28D5E27-CD7A-456A-B456-6C194625E10D}:43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E28D5E27-CD7A-456A-B456-6C194625E10D}:43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E28D5E27-CD7A-456A-B456-6C194625E10D}:43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E28D5E27-CD7A-456A-B456-6C194625E10D}:434"/>
</p:tagLst>
</file>

<file path=ppt/theme/theme1.xml><?xml version="1.0" encoding="utf-8"?>
<a:theme xmlns:a="http://schemas.openxmlformats.org/drawingml/2006/main" name="1_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1_Office ​​テーマ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/>
      </a:spPr>
      <a:bodyPr rtlCol="0" anchor="ctr"/>
      <a:lstStyle>
        <a:defPPr algn="ctr">
          <a:defRPr kumimoji="1" sz="1400" dirty="0" smtClean="0">
            <a:solidFill>
              <a:schemeClr val="tx1"/>
            </a:solidFill>
            <a:latin typeface="Meiryo UI" panose="020B0604030504040204" pitchFamily="50" charset="-128"/>
            <a:ea typeface="Meiryo UI" panose="020B0604030504040204" pitchFamily="50" charset="-128"/>
            <a:cs typeface="Meiryo UI" panose="020B0604030504040204" pitchFamily="50" charset="-128"/>
          </a:defRPr>
        </a:defPPr>
      </a:lstStyle>
      <a:style>
        <a:lnRef idx="3">
          <a:schemeClr val="lt1"/>
        </a:lnRef>
        <a:fillRef idx="1">
          <a:schemeClr val="accent5"/>
        </a:fillRef>
        <a:effectRef idx="1">
          <a:schemeClr val="accent5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44798</TotalTime>
  <Words>1064</Words>
  <Application>Microsoft Office PowerPoint</Application>
  <PresentationFormat>画面に合わせる (4:3)</PresentationFormat>
  <Paragraphs>113</Paragraphs>
  <Slides>5</Slides>
  <Notes>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2" baseType="lpstr">
      <vt:lpstr>Meiryo UI</vt:lpstr>
      <vt:lpstr>ＭＳ Ｐゴシック</vt:lpstr>
      <vt:lpstr>MS UI Gothic</vt:lpstr>
      <vt:lpstr>Arial</vt:lpstr>
      <vt:lpstr>Calibri</vt:lpstr>
      <vt:lpstr>Wingdings</vt:lpstr>
      <vt:lpstr>1_Office ​​テーマ</vt:lpstr>
      <vt:lpstr>PowerPoint プレゼンテーション</vt:lpstr>
      <vt:lpstr>１．スクリプト言語の流行（AIのまとめ）</vt:lpstr>
      <vt:lpstr>２．スクリプト言語の流行に対するEFWの補足</vt:lpstr>
      <vt:lpstr>３．EFWとNode.jsの比較（AIのまとめ）</vt:lpstr>
      <vt:lpstr>４．複雑バッチ機能の実績紹介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EFWとMVCの比較v0.1</dc:title>
  <dc:creator>常 珂軍</dc:creator>
  <cp:lastModifiedBy>常 珂軍</cp:lastModifiedBy>
  <cp:revision>6735</cp:revision>
  <cp:lastPrinted>2012-10-25T09:56:50Z</cp:lastPrinted>
  <dcterms:modified xsi:type="dcterms:W3CDTF">2026-01-21T04:36:08Z</dcterms:modified>
</cp:coreProperties>
</file>