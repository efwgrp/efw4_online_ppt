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1" r:id="rId1"/>
  </p:sldMasterIdLst>
  <p:notesMasterIdLst>
    <p:notesMasterId r:id="rId20"/>
  </p:notesMasterIdLst>
  <p:handoutMasterIdLst>
    <p:handoutMasterId r:id="rId21"/>
  </p:handoutMasterIdLst>
  <p:sldIdLst>
    <p:sldId id="392" r:id="rId2"/>
    <p:sldId id="417" r:id="rId3"/>
    <p:sldId id="410" r:id="rId4"/>
    <p:sldId id="434" r:id="rId5"/>
    <p:sldId id="406" r:id="rId6"/>
    <p:sldId id="422" r:id="rId7"/>
    <p:sldId id="425" r:id="rId8"/>
    <p:sldId id="415" r:id="rId9"/>
    <p:sldId id="426" r:id="rId10"/>
    <p:sldId id="428" r:id="rId11"/>
    <p:sldId id="427" r:id="rId12"/>
    <p:sldId id="433" r:id="rId13"/>
    <p:sldId id="416" r:id="rId14"/>
    <p:sldId id="430" r:id="rId15"/>
    <p:sldId id="436" r:id="rId16"/>
    <p:sldId id="432" r:id="rId17"/>
    <p:sldId id="431" r:id="rId18"/>
    <p:sldId id="437" r:id="rId19"/>
  </p:sldIdLst>
  <p:sldSz cx="9144000" cy="6858000" type="screen4x3"/>
  <p:notesSz cx="7099300" cy="10234613"/>
  <p:custDataLst>
    <p:tags r:id="rId22"/>
  </p:custDataLst>
  <p:defaultTextStyle>
    <a:defPPr>
      <a:defRPr lang="ja-JP"/>
    </a:defPPr>
    <a:lvl1pPr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99"/>
    <a:srgbClr val="FF9900"/>
    <a:srgbClr val="006600"/>
    <a:srgbClr val="0000FF"/>
    <a:srgbClr val="007033"/>
    <a:srgbClr val="008A3E"/>
    <a:srgbClr val="609ED6"/>
    <a:srgbClr val="99CCFF"/>
    <a:srgbClr val="66CCFF"/>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53" autoAdjust="0"/>
    <p:restoredTop sz="99643" autoAdjust="0"/>
  </p:normalViewPr>
  <p:slideViewPr>
    <p:cSldViewPr snapToGrid="0">
      <p:cViewPr varScale="1">
        <p:scale>
          <a:sx n="78" d="100"/>
          <a:sy n="78" d="100"/>
        </p:scale>
        <p:origin x="1324" y="6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56" y="-78"/>
      </p:cViewPr>
      <p:guideLst>
        <p:guide orient="horz" pos="3224"/>
        <p:guide pos="223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ejun.chang\Desktop\&#12477;&#12540;&#12473;&#27604;&#36611;\&#27604;&#3661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Sheet3!$F$2</c:f>
              <c:strCache>
                <c:ptCount val="1"/>
                <c:pt idx="0">
                  <c:v>SQL</c:v>
                </c:pt>
              </c:strCache>
            </c:strRef>
          </c:tx>
          <c:spPr>
            <a:solidFill>
              <a:schemeClr val="accent1"/>
            </a:solidFill>
            <a:ln>
              <a:noFill/>
            </a:ln>
            <a:effectLst/>
            <a:sp3d/>
          </c:spPr>
          <c:invertIfNegative val="0"/>
          <c:dLbls>
            <c:dLbl>
              <c:idx val="0"/>
              <c:layout>
                <c:manualLayout>
                  <c:x val="1.8843233202073647E-2"/>
                  <c:y val="-8.6833154656558962E-17"/>
                </c:manualLayout>
              </c:layout>
              <c:tx>
                <c:rich>
                  <a:bodyPr/>
                  <a:lstStyle/>
                  <a:p>
                    <a:fld id="{1A2EE341-728D-4325-ADF8-C59C63C40007}" type="SERIESNAME">
                      <a:rPr lang="en-US" altLang="ja-JP"/>
                      <a:pPr/>
                      <a:t>[系列名]</a:t>
                    </a:fld>
                    <a:r>
                      <a:rPr lang="ja-JP" altLang="en-US" baseline="0"/>
                      <a:t>：</a:t>
                    </a:r>
                    <a:r>
                      <a:rPr lang="en-US" altLang="ja-JP" baseline="0"/>
                      <a:t> </a:t>
                    </a:r>
                    <a:fld id="{CF6A7A7D-B48C-4C50-B715-6A1ED2978291}"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9D0D-435D-8000-783A7CAB93E6}"/>
                </c:ext>
              </c:extLst>
            </c:dLbl>
            <c:dLbl>
              <c:idx val="1"/>
              <c:layout>
                <c:manualLayout>
                  <c:x val="1.2562155468048982E-2"/>
                  <c:y val="-8.6833154656558962E-17"/>
                </c:manualLayout>
              </c:layout>
              <c:tx>
                <c:rich>
                  <a:bodyPr/>
                  <a:lstStyle/>
                  <a:p>
                    <a:fld id="{A4B13950-0E7F-4C71-BC89-13558DCE8724}" type="SERIESNAME">
                      <a:rPr lang="en-US" altLang="ja-JP"/>
                      <a:pPr/>
                      <a:t>[系列名]</a:t>
                    </a:fld>
                    <a:r>
                      <a:rPr lang="ja-JP" altLang="en-US" baseline="0"/>
                      <a:t>：</a:t>
                    </a:r>
                    <a:r>
                      <a:rPr lang="en-US" altLang="ja-JP" baseline="0"/>
                      <a:t> </a:t>
                    </a:r>
                    <a:fld id="{029EACB5-9B97-41A8-A484-54503F7193FF}"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Sheet3!$G$2:$H$2</c:f>
              <c:numCache>
                <c:formatCode>General</c:formatCode>
                <c:ptCount val="2"/>
                <c:pt idx="0">
                  <c:v>10</c:v>
                </c:pt>
                <c:pt idx="1">
                  <c:v>10</c:v>
                </c:pt>
              </c:numCache>
            </c:numRef>
          </c:val>
          <c:extLst>
            <c:ext xmlns:c16="http://schemas.microsoft.com/office/drawing/2014/chart" uri="{C3380CC4-5D6E-409C-BE32-E72D297353CC}">
              <c16:uniqueId val="{00000002-9D0D-435D-8000-783A7CAB93E6}"/>
            </c:ext>
          </c:extLst>
        </c:ser>
        <c:ser>
          <c:idx val="1"/>
          <c:order val="1"/>
          <c:tx>
            <c:strRef>
              <c:f>Sheet3!$F$3</c:f>
              <c:strCache>
                <c:ptCount val="1"/>
                <c:pt idx="0">
                  <c:v>DAO</c:v>
                </c:pt>
              </c:strCache>
            </c:strRef>
          </c:tx>
          <c:spPr>
            <a:solidFill>
              <a:schemeClr val="accent2"/>
            </a:solidFill>
            <a:ln>
              <a:noFill/>
            </a:ln>
            <a:effectLst/>
            <a:sp3d/>
          </c:spPr>
          <c:invertIfNegative val="0"/>
          <c:dLbls>
            <c:dLbl>
              <c:idx val="0"/>
              <c:layout>
                <c:manualLayout>
                  <c:x val="1.2562155468049098E-2"/>
                  <c:y val="-1.4209225815366388E-2"/>
                </c:manualLayout>
              </c:layout>
              <c:tx>
                <c:rich>
                  <a:bodyPr/>
                  <a:lstStyle/>
                  <a:p>
                    <a:fld id="{155DCEE2-5DE5-442A-953A-6ACCA7850BFB}" type="SERIESNAME">
                      <a:rPr lang="en-US" altLang="ja-JP"/>
                      <a:pPr/>
                      <a:t>[系列名]</a:t>
                    </a:fld>
                    <a:r>
                      <a:rPr lang="ja-JP" altLang="en-US" baseline="0"/>
                      <a:t>：</a:t>
                    </a:r>
                    <a:r>
                      <a:rPr lang="en-US" altLang="ja-JP" baseline="0"/>
                      <a:t> </a:t>
                    </a:r>
                    <a:fld id="{935AE725-E2AB-428E-854B-C150177EB5BB}"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D0D-435D-8000-783A7CAB93E6}"/>
                </c:ext>
              </c:extLst>
            </c:dLbl>
            <c:dLbl>
              <c:idx val="1"/>
              <c:delete val="1"/>
              <c:extLst>
                <c:ext xmlns:c15="http://schemas.microsoft.com/office/drawing/2012/chart" uri="{CE6537A1-D6FC-4f65-9D91-7224C49458BB}"/>
                <c:ext xmlns:c16="http://schemas.microsoft.com/office/drawing/2014/chart" uri="{C3380CC4-5D6E-409C-BE32-E72D297353CC}">
                  <c16:uniqueId val="{00000004-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Sheet3!$G$3:$H$3</c:f>
              <c:numCache>
                <c:formatCode>General</c:formatCode>
                <c:ptCount val="2"/>
                <c:pt idx="0">
                  <c:v>5</c:v>
                </c:pt>
                <c:pt idx="1">
                  <c:v>0</c:v>
                </c:pt>
              </c:numCache>
            </c:numRef>
          </c:val>
          <c:extLst>
            <c:ext xmlns:c16="http://schemas.microsoft.com/office/drawing/2014/chart" uri="{C3380CC4-5D6E-409C-BE32-E72D297353CC}">
              <c16:uniqueId val="{00000005-9D0D-435D-8000-783A7CAB93E6}"/>
            </c:ext>
          </c:extLst>
        </c:ser>
        <c:ser>
          <c:idx val="2"/>
          <c:order val="2"/>
          <c:tx>
            <c:strRef>
              <c:f>Sheet3!$F$4</c:f>
              <c:strCache>
                <c:ptCount val="1"/>
                <c:pt idx="0">
                  <c:v>C</c:v>
                </c:pt>
              </c:strCache>
            </c:strRef>
          </c:tx>
          <c:spPr>
            <a:solidFill>
              <a:schemeClr val="accent3"/>
            </a:solidFill>
            <a:ln>
              <a:noFill/>
            </a:ln>
            <a:effectLst/>
            <a:sp3d/>
          </c:spPr>
          <c:invertIfNegative val="0"/>
          <c:dLbls>
            <c:dLbl>
              <c:idx val="0"/>
              <c:tx>
                <c:rich>
                  <a:bodyPr/>
                  <a:lstStyle/>
                  <a:p>
                    <a:fld id="{4BCE491D-281B-446C-A350-843EB601C3DC}" type="SERIESNAME">
                      <a:rPr lang="en-US" altLang="ja-JP" smtClean="0"/>
                      <a:pPr/>
                      <a:t>[系列名]</a:t>
                    </a:fld>
                    <a:r>
                      <a:rPr lang="ja-JP" altLang="en-US" baseline="0"/>
                      <a:t>：</a:t>
                    </a:r>
                    <a:r>
                      <a:rPr lang="en-US" altLang="ja-JP" baseline="0"/>
                      <a:t> </a:t>
                    </a:r>
                    <a:fld id="{0987E439-A70F-43E5-A3C0-86312FEE6099}"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9D0D-435D-8000-783A7CAB93E6}"/>
                </c:ext>
              </c:extLst>
            </c:dLbl>
            <c:dLbl>
              <c:idx val="1"/>
              <c:delete val="1"/>
              <c:extLst>
                <c:ext xmlns:c15="http://schemas.microsoft.com/office/drawing/2012/chart" uri="{CE6537A1-D6FC-4f65-9D91-7224C49458BB}"/>
                <c:ext xmlns:c16="http://schemas.microsoft.com/office/drawing/2014/chart" uri="{C3380CC4-5D6E-409C-BE32-E72D297353CC}">
                  <c16:uniqueId val="{00000007-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Sheet3!$G$4:$H$4</c:f>
              <c:numCache>
                <c:formatCode>General</c:formatCode>
                <c:ptCount val="2"/>
                <c:pt idx="0">
                  <c:v>80</c:v>
                </c:pt>
                <c:pt idx="1">
                  <c:v>0</c:v>
                </c:pt>
              </c:numCache>
            </c:numRef>
          </c:val>
          <c:extLst>
            <c:ext xmlns:c16="http://schemas.microsoft.com/office/drawing/2014/chart" uri="{C3380CC4-5D6E-409C-BE32-E72D297353CC}">
              <c16:uniqueId val="{00000008-9D0D-435D-8000-783A7CAB93E6}"/>
            </c:ext>
          </c:extLst>
        </c:ser>
        <c:ser>
          <c:idx val="3"/>
          <c:order val="3"/>
          <c:tx>
            <c:strRef>
              <c:f>Sheet3!$F$5</c:f>
              <c:strCache>
                <c:ptCount val="1"/>
                <c:pt idx="0">
                  <c:v>V</c:v>
                </c:pt>
              </c:strCache>
            </c:strRef>
          </c:tx>
          <c:spPr>
            <a:solidFill>
              <a:schemeClr val="accent4"/>
            </a:solidFill>
            <a:ln>
              <a:noFill/>
            </a:ln>
            <a:effectLst/>
            <a:sp3d/>
          </c:spPr>
          <c:invertIfNegative val="0"/>
          <c:dLbls>
            <c:dLbl>
              <c:idx val="0"/>
              <c:layout>
                <c:manualLayout>
                  <c:x val="9.9512594176660244E-5"/>
                  <c:y val="1.1185864590264863E-2"/>
                </c:manualLayout>
              </c:layout>
              <c:tx>
                <c:rich>
                  <a:bodyPr/>
                  <a:lstStyle/>
                  <a:p>
                    <a:fld id="{604DE70E-CF08-4C8F-8E07-75CCA8EC21B5}" type="SERIESNAME">
                      <a:rPr lang="en-US" altLang="ja-JP" baseline="0" smtClean="0"/>
                      <a:pPr/>
                      <a:t>[系列名]</a:t>
                    </a:fld>
                    <a:r>
                      <a:rPr lang="ja-JP" altLang="en-US" baseline="0" dirty="0"/>
                      <a:t>：</a:t>
                    </a:r>
                    <a:r>
                      <a:rPr lang="en-US" altLang="ja-JP" baseline="0" dirty="0"/>
                      <a:t> </a:t>
                    </a:r>
                    <a:fld id="{F34166AA-20D0-4404-B257-13E4B276181A}" type="VALUE">
                      <a:rPr lang="en-US" altLang="ja-JP" baseline="0"/>
                      <a:pPr/>
                      <a:t>[値]</a:t>
                    </a:fld>
                    <a:endParaRPr lang="en-US" altLang="ja-JP" baseline="0" dirty="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9D0D-435D-8000-783A7CAB93E6}"/>
                </c:ext>
              </c:extLst>
            </c:dLbl>
            <c:dLbl>
              <c:idx val="1"/>
              <c:tx>
                <c:rich>
                  <a:bodyPr/>
                  <a:lstStyle/>
                  <a:p>
                    <a:fld id="{90F3E0AD-A81B-414D-BAC8-E1F7F827F68B}" type="SERIESNAME">
                      <a:rPr lang="en-US" altLang="ja-JP" smtClean="0"/>
                      <a:pPr/>
                      <a:t>[系列名]</a:t>
                    </a:fld>
                    <a:r>
                      <a:rPr lang="ja-JP" altLang="en-US" baseline="0"/>
                      <a:t>：</a:t>
                    </a:r>
                    <a:r>
                      <a:rPr lang="en-US" altLang="ja-JP" baseline="0"/>
                      <a:t> </a:t>
                    </a:r>
                    <a:fld id="{8D70F2E3-6E5C-45A9-AFE0-EE215E2CD87E}"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Sheet3!$G$5:$H$5</c:f>
              <c:numCache>
                <c:formatCode>General</c:formatCode>
                <c:ptCount val="2"/>
                <c:pt idx="0">
                  <c:v>50</c:v>
                </c:pt>
                <c:pt idx="1">
                  <c:v>46</c:v>
                </c:pt>
              </c:numCache>
            </c:numRef>
          </c:val>
          <c:extLst>
            <c:ext xmlns:c16="http://schemas.microsoft.com/office/drawing/2014/chart" uri="{C3380CC4-5D6E-409C-BE32-E72D297353CC}">
              <c16:uniqueId val="{0000000B-9D0D-435D-8000-783A7CAB93E6}"/>
            </c:ext>
          </c:extLst>
        </c:ser>
        <c:ser>
          <c:idx val="4"/>
          <c:order val="4"/>
          <c:tx>
            <c:strRef>
              <c:f>Sheet3!$F$6</c:f>
              <c:strCache>
                <c:ptCount val="1"/>
                <c:pt idx="0">
                  <c:v>M</c:v>
                </c:pt>
              </c:strCache>
            </c:strRef>
          </c:tx>
          <c:spPr>
            <a:solidFill>
              <a:schemeClr val="accent5"/>
            </a:solidFill>
            <a:ln>
              <a:noFill/>
            </a:ln>
            <a:effectLst/>
            <a:sp3d/>
          </c:spPr>
          <c:invertIfNegative val="0"/>
          <c:dLbls>
            <c:dLbl>
              <c:idx val="0"/>
              <c:layout>
                <c:manualLayout>
                  <c:x val="1.1621240883159403E-2"/>
                  <c:y val="-2.7964661475662414E-3"/>
                </c:manualLayout>
              </c:layout>
              <c:tx>
                <c:rich>
                  <a:bodyPr/>
                  <a:lstStyle/>
                  <a:p>
                    <a:fld id="{E74326CC-C87C-4568-96FC-652722DDE475}" type="SERIESNAME">
                      <a:rPr lang="en-US" altLang="ja-JP" baseline="0" smtClean="0"/>
                      <a:pPr/>
                      <a:t>[系列名]</a:t>
                    </a:fld>
                    <a:r>
                      <a:rPr lang="ja-JP" altLang="en-US" baseline="0" dirty="0"/>
                      <a:t>：</a:t>
                    </a:r>
                    <a:r>
                      <a:rPr lang="en-US" altLang="ja-JP" baseline="0" dirty="0"/>
                      <a:t> </a:t>
                    </a:r>
                    <a:fld id="{C3DB3094-C95B-4EAB-A277-937C697A903B}" type="VALUE">
                      <a:rPr lang="en-US" altLang="ja-JP" baseline="0"/>
                      <a:pPr/>
                      <a:t>[値]</a:t>
                    </a:fld>
                    <a:endParaRPr lang="en-US" altLang="ja-JP" baseline="0" dirty="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9D0D-435D-8000-783A7CAB93E6}"/>
                </c:ext>
              </c:extLst>
            </c:dLbl>
            <c:dLbl>
              <c:idx val="1"/>
              <c:tx>
                <c:rich>
                  <a:bodyPr/>
                  <a:lstStyle/>
                  <a:p>
                    <a:fld id="{FCFDB0C2-228F-46CA-80C8-0E5BADF56B01}" type="SERIESNAME">
                      <a:rPr lang="en-US" altLang="ja-JP" smtClean="0"/>
                      <a:pPr/>
                      <a:t>[系列名]</a:t>
                    </a:fld>
                    <a:r>
                      <a:rPr lang="ja-JP" altLang="en-US" baseline="0"/>
                      <a:t>：</a:t>
                    </a:r>
                    <a:r>
                      <a:rPr lang="en-US" altLang="ja-JP" baseline="0"/>
                      <a:t> </a:t>
                    </a:r>
                    <a:fld id="{5B6077DC-D8E1-4B4E-923A-D4188219A9B0}"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Sheet3!$G$6:$H$6</c:f>
              <c:numCache>
                <c:formatCode>General</c:formatCode>
                <c:ptCount val="2"/>
                <c:pt idx="0">
                  <c:v>80</c:v>
                </c:pt>
                <c:pt idx="1">
                  <c:v>60</c:v>
                </c:pt>
              </c:numCache>
            </c:numRef>
          </c:val>
          <c:extLst>
            <c:ext xmlns:c16="http://schemas.microsoft.com/office/drawing/2014/chart" uri="{C3380CC4-5D6E-409C-BE32-E72D297353CC}">
              <c16:uniqueId val="{0000000E-9D0D-435D-8000-783A7CAB93E6}"/>
            </c:ext>
          </c:extLst>
        </c:ser>
        <c:dLbls>
          <c:showLegendKey val="0"/>
          <c:showVal val="1"/>
          <c:showCatName val="0"/>
          <c:showSerName val="0"/>
          <c:showPercent val="0"/>
          <c:showBubbleSize val="0"/>
        </c:dLbls>
        <c:gapWidth val="150"/>
        <c:shape val="box"/>
        <c:axId val="1608803296"/>
        <c:axId val="1608807648"/>
        <c:axId val="0"/>
      </c:bar3DChart>
      <c:catAx>
        <c:axId val="16088032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ja-JP"/>
          </a:p>
        </c:txPr>
        <c:crossAx val="1608807648"/>
        <c:crosses val="autoZero"/>
        <c:auto val="1"/>
        <c:lblAlgn val="ctr"/>
        <c:lblOffset val="100"/>
        <c:noMultiLvlLbl val="0"/>
      </c:catAx>
      <c:valAx>
        <c:axId val="16088076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6088032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3" name="日付プレースホルダー 2"/>
          <p:cNvSpPr>
            <a:spLocks noGrp="1"/>
          </p:cNvSpPr>
          <p:nvPr>
            <p:ph type="dt" sz="quarter"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algn="r" defTabSz="946150" eaLnBrk="1" hangingPunct="1">
              <a:defRPr sz="1200">
                <a:latin typeface="Calibri" pitchFamily="34" charset="0"/>
              </a:defRPr>
            </a:lvl1pPr>
          </a:lstStyle>
          <a:p>
            <a:pPr>
              <a:defRPr/>
            </a:pPr>
            <a:fld id="{21EEA4EC-110F-4EBE-8324-45D9533D5526}" type="datetimeFigureOut">
              <a:rPr lang="ja-JP" altLang="en-US"/>
              <a:pPr>
                <a:defRPr/>
              </a:pPr>
              <a:t>2026/1/16</a:t>
            </a:fld>
            <a:endParaRPr lang="en-US" altLang="ja-JP"/>
          </a:p>
        </p:txBody>
      </p:sp>
      <p:sp>
        <p:nvSpPr>
          <p:cNvPr id="4" name="フッター プレースホルダー 3"/>
          <p:cNvSpPr>
            <a:spLocks noGrp="1"/>
          </p:cNvSpPr>
          <p:nvPr>
            <p:ph type="ftr" sz="quarter" idx="2"/>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5" name="スライド番号プレースホルダー 4"/>
          <p:cNvSpPr>
            <a:spLocks noGrp="1"/>
          </p:cNvSpPr>
          <p:nvPr>
            <p:ph type="sldNum" sz="quarter" idx="3"/>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algn="r" defTabSz="946150" eaLnBrk="1" hangingPunct="1">
              <a:defRPr sz="1200">
                <a:latin typeface="Calibri" pitchFamily="34" charset="0"/>
              </a:defRPr>
            </a:lvl1pPr>
          </a:lstStyle>
          <a:p>
            <a:pPr>
              <a:defRPr/>
            </a:pPr>
            <a:fld id="{C68A9FDE-10FD-45DA-A1F0-F8F5C3264679}" type="slidenum">
              <a:rPr lang="ja-JP" altLang="en-US"/>
              <a:pPr>
                <a:defRPr/>
              </a:pPr>
              <a:t>‹#›</a:t>
            </a:fld>
            <a:endParaRPr lang="en-US" altLang="ja-JP"/>
          </a:p>
        </p:txBody>
      </p:sp>
    </p:spTree>
    <p:extLst>
      <p:ext uri="{BB962C8B-B14F-4D97-AF65-F5344CB8AC3E}">
        <p14:creationId xmlns:p14="http://schemas.microsoft.com/office/powerpoint/2010/main" val="11356126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3" name="日付プレースホルダー 2"/>
          <p:cNvSpPr>
            <a:spLocks noGrp="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algn="r" defTabSz="946150" eaLnBrk="1" hangingPunct="1">
              <a:defRPr sz="1200">
                <a:latin typeface="Calibri" pitchFamily="34" charset="0"/>
              </a:defRPr>
            </a:lvl1pPr>
          </a:lstStyle>
          <a:p>
            <a:pPr>
              <a:defRPr/>
            </a:pPr>
            <a:fld id="{905D0ECA-68A4-4E95-906C-2D1519606506}" type="datetimeFigureOut">
              <a:rPr lang="ja-JP" altLang="en-US"/>
              <a:pPr>
                <a:defRPr/>
              </a:pPr>
              <a:t>2026/1/16</a:t>
            </a:fld>
            <a:endParaRPr lang="en-US" altLang="ja-JP"/>
          </a:p>
        </p:txBody>
      </p:sp>
      <p:sp>
        <p:nvSpPr>
          <p:cNvPr id="4" name="スライド イメージ プレースホルダー 3"/>
          <p:cNvSpPr>
            <a:spLocks noGrp="1" noRot="1" noChangeAspect="1"/>
          </p:cNvSpPr>
          <p:nvPr>
            <p:ph type="sldImg" idx="2"/>
          </p:nvPr>
        </p:nvSpPr>
        <p:spPr>
          <a:xfrm>
            <a:off x="990600" y="768350"/>
            <a:ext cx="5118100" cy="3836988"/>
          </a:xfrm>
          <a:prstGeom prst="rect">
            <a:avLst/>
          </a:prstGeom>
          <a:noFill/>
          <a:ln w="12700">
            <a:solidFill>
              <a:prstClr val="black"/>
            </a:solidFill>
          </a:ln>
        </p:spPr>
        <p:txBody>
          <a:bodyPr vert="horz" lIns="91440" tIns="45720" rIns="91440" bIns="45720" rtlCol="0" anchor="ctr"/>
          <a:lstStyle/>
          <a:p>
            <a:pPr lvl="0"/>
            <a:endParaRPr lang="ja-JP" altLang="en-US" noProof="0" dirty="0"/>
          </a:p>
        </p:txBody>
      </p:sp>
      <p:sp>
        <p:nvSpPr>
          <p:cNvPr id="5" name="ノート プレースホルダー 4"/>
          <p:cNvSpPr>
            <a:spLocks noGrp="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7" name="スライド番号プレースホルダー 6"/>
          <p:cNvSpPr>
            <a:spLocks noGrp="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algn="r" defTabSz="946150" eaLnBrk="1" hangingPunct="1">
              <a:defRPr sz="1200">
                <a:latin typeface="Calibri" pitchFamily="34" charset="0"/>
              </a:defRPr>
            </a:lvl1pPr>
          </a:lstStyle>
          <a:p>
            <a:pPr>
              <a:defRPr/>
            </a:pPr>
            <a:fld id="{E411F456-129C-4679-AE79-8CAE1F5EB502}" type="slidenum">
              <a:rPr lang="ja-JP" altLang="en-US"/>
              <a:pPr>
                <a:defRPr/>
              </a:pPr>
              <a:t>‹#›</a:t>
            </a:fld>
            <a:endParaRPr lang="en-US" altLang="ja-JP"/>
          </a:p>
        </p:txBody>
      </p:sp>
    </p:spTree>
    <p:extLst>
      <p:ext uri="{BB962C8B-B14F-4D97-AF65-F5344CB8AC3E}">
        <p14:creationId xmlns:p14="http://schemas.microsoft.com/office/powerpoint/2010/main" val="36775072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ノート プレースホルダー 2"/>
          <p:cNvSpPr>
            <a:spLocks noGrp="1"/>
          </p:cNvSpPr>
          <p:nvPr>
            <p:ph type="body" idx="1"/>
          </p:nvPr>
        </p:nvSpPr>
        <p:spPr>
          <a:noFill/>
        </p:spPr>
        <p:txBody>
          <a:bodyPr/>
          <a:lstStyle/>
          <a:p>
            <a:pPr>
              <a:spcBef>
                <a:spcPct val="0"/>
              </a:spcBef>
            </a:pPr>
            <a:endParaRPr lang="ja-JP" altLang="en-US" sz="1800"/>
          </a:p>
        </p:txBody>
      </p:sp>
      <p:sp>
        <p:nvSpPr>
          <p:cNvPr id="13316"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91354DFD-A574-4020-9875-E8EE80E50137}" type="slidenum">
              <a:rPr lang="ja-JP" altLang="en-US"/>
              <a:pPr algn="r" eaLnBrk="1" hangingPunct="1">
                <a:spcBef>
                  <a:spcPct val="0"/>
                </a:spcBef>
              </a:pPr>
              <a:t>0</a:t>
            </a:fld>
            <a:endParaRPr lang="en-US" altLang="ja-JP"/>
          </a:p>
        </p:txBody>
      </p:sp>
    </p:spTree>
    <p:extLst>
      <p:ext uri="{BB962C8B-B14F-4D97-AF65-F5344CB8AC3E}">
        <p14:creationId xmlns:p14="http://schemas.microsoft.com/office/powerpoint/2010/main" val="2179519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a:t>
            </a:fld>
            <a:endParaRPr lang="en-US" altLang="ja-JP"/>
          </a:p>
        </p:txBody>
      </p:sp>
    </p:spTree>
    <p:extLst>
      <p:ext uri="{BB962C8B-B14F-4D97-AF65-F5344CB8AC3E}">
        <p14:creationId xmlns:p14="http://schemas.microsoft.com/office/powerpoint/2010/main" val="30771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2</a:t>
            </a:fld>
            <a:endParaRPr lang="en-US" altLang="ja-JP"/>
          </a:p>
        </p:txBody>
      </p:sp>
    </p:spTree>
    <p:extLst>
      <p:ext uri="{BB962C8B-B14F-4D97-AF65-F5344CB8AC3E}">
        <p14:creationId xmlns:p14="http://schemas.microsoft.com/office/powerpoint/2010/main" val="1308284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3</a:t>
            </a:fld>
            <a:endParaRPr lang="en-US" altLang="ja-JP"/>
          </a:p>
        </p:txBody>
      </p:sp>
    </p:spTree>
    <p:extLst>
      <p:ext uri="{BB962C8B-B14F-4D97-AF65-F5344CB8AC3E}">
        <p14:creationId xmlns:p14="http://schemas.microsoft.com/office/powerpoint/2010/main" val="1884964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4</a:t>
            </a:fld>
            <a:endParaRPr lang="en-US" altLang="ja-JP"/>
          </a:p>
        </p:txBody>
      </p:sp>
    </p:spTree>
    <p:extLst>
      <p:ext uri="{BB962C8B-B14F-4D97-AF65-F5344CB8AC3E}">
        <p14:creationId xmlns:p14="http://schemas.microsoft.com/office/powerpoint/2010/main" val="1884964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5</a:t>
            </a:fld>
            <a:endParaRPr lang="en-US" altLang="ja-JP"/>
          </a:p>
        </p:txBody>
      </p:sp>
    </p:spTree>
    <p:extLst>
      <p:ext uri="{BB962C8B-B14F-4D97-AF65-F5344CB8AC3E}">
        <p14:creationId xmlns:p14="http://schemas.microsoft.com/office/powerpoint/2010/main" val="123487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6</a:t>
            </a:fld>
            <a:endParaRPr lang="en-US" altLang="ja-JP"/>
          </a:p>
        </p:txBody>
      </p:sp>
    </p:spTree>
    <p:extLst>
      <p:ext uri="{BB962C8B-B14F-4D97-AF65-F5344CB8AC3E}">
        <p14:creationId xmlns:p14="http://schemas.microsoft.com/office/powerpoint/2010/main" val="724179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7</a:t>
            </a:fld>
            <a:endParaRPr lang="en-US" altLang="ja-JP"/>
          </a:p>
        </p:txBody>
      </p:sp>
    </p:spTree>
    <p:extLst>
      <p:ext uri="{BB962C8B-B14F-4D97-AF65-F5344CB8AC3E}">
        <p14:creationId xmlns:p14="http://schemas.microsoft.com/office/powerpoint/2010/main" val="896103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8</a:t>
            </a:fld>
            <a:endParaRPr lang="en-US" altLang="ja-JP"/>
          </a:p>
        </p:txBody>
      </p:sp>
    </p:spTree>
    <p:extLst>
      <p:ext uri="{BB962C8B-B14F-4D97-AF65-F5344CB8AC3E}">
        <p14:creationId xmlns:p14="http://schemas.microsoft.com/office/powerpoint/2010/main" val="724179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9</a:t>
            </a:fld>
            <a:endParaRPr lang="en-US" altLang="ja-JP"/>
          </a:p>
        </p:txBody>
      </p:sp>
    </p:spTree>
    <p:extLst>
      <p:ext uri="{BB962C8B-B14F-4D97-AF65-F5344CB8AC3E}">
        <p14:creationId xmlns:p14="http://schemas.microsoft.com/office/powerpoint/2010/main" val="2251619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スライド番号プレースホルダー 6"/>
          <p:cNvSpPr>
            <a:spLocks noGrp="1"/>
          </p:cNvSpPr>
          <p:nvPr>
            <p:ph type="sldNum" sz="quarter" idx="5"/>
          </p:nvPr>
        </p:nvSpPr>
        <p:spPr>
          <a:noFill/>
        </p:spPr>
        <p:txBody>
          <a:bodyPr/>
          <a:lstStyle>
            <a:lvl1pPr defTabSz="944394">
              <a:spcBef>
                <a:spcPct val="30000"/>
              </a:spcBef>
              <a:defRPr kumimoji="1" sz="1200">
                <a:solidFill>
                  <a:schemeClr val="tx1"/>
                </a:solidFill>
                <a:latin typeface="Calibri" pitchFamily="34" charset="0"/>
                <a:ea typeface="ＭＳ Ｐ明朝" pitchFamily="18" charset="-128"/>
              </a:defRPr>
            </a:lvl1pPr>
            <a:lvl2pPr marL="766703" indent="-292861" defTabSz="944394">
              <a:spcBef>
                <a:spcPct val="30000"/>
              </a:spcBef>
              <a:defRPr kumimoji="1" sz="1200">
                <a:solidFill>
                  <a:schemeClr val="tx1"/>
                </a:solidFill>
                <a:latin typeface="Calibri" pitchFamily="34" charset="0"/>
                <a:ea typeface="ＭＳ Ｐ明朝" pitchFamily="18" charset="-128"/>
              </a:defRPr>
            </a:lvl2pPr>
            <a:lvl3pPr marL="1179670" indent="-233630" defTabSz="944394">
              <a:spcBef>
                <a:spcPct val="30000"/>
              </a:spcBef>
              <a:defRPr kumimoji="1" sz="1200">
                <a:solidFill>
                  <a:schemeClr val="tx1"/>
                </a:solidFill>
                <a:latin typeface="Calibri" pitchFamily="34" charset="0"/>
                <a:ea typeface="ＭＳ Ｐ明朝" pitchFamily="18" charset="-128"/>
              </a:defRPr>
            </a:lvl3pPr>
            <a:lvl4pPr marL="1653512" indent="-233630" defTabSz="944394">
              <a:spcBef>
                <a:spcPct val="30000"/>
              </a:spcBef>
              <a:defRPr kumimoji="1" sz="1200">
                <a:solidFill>
                  <a:schemeClr val="tx1"/>
                </a:solidFill>
                <a:latin typeface="Calibri" pitchFamily="34" charset="0"/>
                <a:ea typeface="ＭＳ Ｐ明朝" pitchFamily="18" charset="-128"/>
              </a:defRPr>
            </a:lvl4pPr>
            <a:lvl5pPr marL="2127354" indent="-233630" defTabSz="944394">
              <a:spcBef>
                <a:spcPct val="30000"/>
              </a:spcBef>
              <a:defRPr kumimoji="1" sz="1200">
                <a:solidFill>
                  <a:schemeClr val="tx1"/>
                </a:solidFill>
                <a:latin typeface="Calibri" pitchFamily="34" charset="0"/>
                <a:ea typeface="ＭＳ Ｐ明朝" pitchFamily="18" charset="-128"/>
              </a:defRPr>
            </a:lvl5pPr>
            <a:lvl6pPr marL="2601196"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75038"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48880"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4022722"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spcBef>
                <a:spcPct val="0"/>
              </a:spcBef>
            </a:pPr>
            <a:fld id="{3A756C7E-D3CC-4435-A871-324BE166A66C}" type="slidenum">
              <a:rPr lang="ja-JP" altLang="en-US">
                <a:ea typeface="ＭＳ Ｐゴシック" pitchFamily="50" charset="-128"/>
              </a:rPr>
              <a:pPr>
                <a:spcBef>
                  <a:spcPct val="0"/>
                </a:spcBef>
              </a:pPr>
              <a:t>10</a:t>
            </a:fld>
            <a:endParaRPr lang="en-US" altLang="ja-JP">
              <a:ea typeface="ＭＳ Ｐゴシック" pitchFamily="50" charset="-128"/>
            </a:endParaRPr>
          </a:p>
        </p:txBody>
      </p:sp>
      <p:sp>
        <p:nvSpPr>
          <p:cNvPr id="35843"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ノート プレースホルダー 2"/>
          <p:cNvSpPr>
            <a:spLocks noGrp="1"/>
          </p:cNvSpPr>
          <p:nvPr>
            <p:ph type="body" idx="1"/>
          </p:nvPr>
        </p:nvSpPr>
        <p:spPr>
          <a:noFill/>
        </p:spPr>
        <p:txBody>
          <a:bodyPr/>
          <a:lstStyle/>
          <a:p>
            <a:pPr eaLnBrk="1" hangingPunct="1"/>
            <a:endParaRPr lang="ja-JP" altLang="en-US"/>
          </a:p>
        </p:txBody>
      </p:sp>
      <p:sp>
        <p:nvSpPr>
          <p:cNvPr id="35845" name="スライド番号プレースホルダー 3"/>
          <p:cNvSpPr txBox="1">
            <a:spLocks noGrp="1"/>
          </p:cNvSpPr>
          <p:nvPr/>
        </p:nvSpPr>
        <p:spPr bwMode="auto">
          <a:xfrm>
            <a:off x="4022163" y="9720673"/>
            <a:ext cx="3075480" cy="51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27" tIns="47314" rIns="94627" bIns="47314" anchor="b"/>
          <a:lstStyle>
            <a:lvl1pPr defTabSz="946150">
              <a:spcBef>
                <a:spcPct val="30000"/>
              </a:spcBef>
              <a:defRPr kumimoji="1" sz="1200">
                <a:solidFill>
                  <a:schemeClr val="tx1"/>
                </a:solidFill>
                <a:latin typeface="Calibri" pitchFamily="34" charset="0"/>
                <a:ea typeface="ＭＳ Ｐ明朝" pitchFamily="18" charset="-128"/>
              </a:defRPr>
            </a:lvl1pPr>
            <a:lvl2pPr marL="768350" indent="-295275" defTabSz="946150">
              <a:spcBef>
                <a:spcPct val="30000"/>
              </a:spcBef>
              <a:defRPr kumimoji="1" sz="1200">
                <a:solidFill>
                  <a:schemeClr val="tx1"/>
                </a:solidFill>
                <a:latin typeface="Calibri" pitchFamily="34" charset="0"/>
                <a:ea typeface="ＭＳ Ｐ明朝" pitchFamily="18" charset="-128"/>
              </a:defRPr>
            </a:lvl2pPr>
            <a:lvl3pPr marL="1182688" indent="-236538" defTabSz="946150">
              <a:spcBef>
                <a:spcPct val="30000"/>
              </a:spcBef>
              <a:defRPr kumimoji="1" sz="1200">
                <a:solidFill>
                  <a:schemeClr val="tx1"/>
                </a:solidFill>
                <a:latin typeface="Calibri" pitchFamily="34" charset="0"/>
                <a:ea typeface="ＭＳ Ｐ明朝" pitchFamily="18" charset="-128"/>
              </a:defRPr>
            </a:lvl3pPr>
            <a:lvl4pPr marL="1655763" indent="-236538" defTabSz="946150">
              <a:spcBef>
                <a:spcPct val="30000"/>
              </a:spcBef>
              <a:defRPr kumimoji="1" sz="1200">
                <a:solidFill>
                  <a:schemeClr val="tx1"/>
                </a:solidFill>
                <a:latin typeface="Calibri" pitchFamily="34" charset="0"/>
                <a:ea typeface="ＭＳ Ｐ明朝" pitchFamily="18" charset="-128"/>
              </a:defRPr>
            </a:lvl4pPr>
            <a:lvl5pPr marL="2128838" indent="-236538" defTabSz="946150">
              <a:spcBef>
                <a:spcPct val="30000"/>
              </a:spcBef>
              <a:defRPr kumimoji="1" sz="1200">
                <a:solidFill>
                  <a:schemeClr val="tx1"/>
                </a:solidFill>
                <a:latin typeface="Calibri" pitchFamily="34" charset="0"/>
                <a:ea typeface="ＭＳ Ｐ明朝" pitchFamily="18"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lgn="r" eaLnBrk="1" hangingPunct="1">
              <a:spcBef>
                <a:spcPct val="0"/>
              </a:spcBef>
            </a:pPr>
            <a:fld id="{9E56650F-526F-4FB6-AFCE-B64A35437C69}" type="slidenum">
              <a:rPr lang="ja-JP" altLang="en-US">
                <a:ea typeface="ＭＳ Ｐゴシック" pitchFamily="50" charset="-128"/>
              </a:rPr>
              <a:pPr algn="r" eaLnBrk="1" hangingPunct="1">
                <a:spcBef>
                  <a:spcPct val="0"/>
                </a:spcBef>
              </a:pPr>
              <a:t>10</a:t>
            </a:fld>
            <a:endParaRPr lang="en-US" altLang="ja-JP">
              <a:ea typeface="ＭＳ Ｐゴシック" pitchFamily="50" charset="-128"/>
            </a:endParaRPr>
          </a:p>
        </p:txBody>
      </p:sp>
    </p:spTree>
    <p:extLst>
      <p:ext uri="{BB962C8B-B14F-4D97-AF65-F5344CB8AC3E}">
        <p14:creationId xmlns:p14="http://schemas.microsoft.com/office/powerpoint/2010/main" val="3494271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スライド番号プレースホルダー 6"/>
          <p:cNvSpPr>
            <a:spLocks noGrp="1"/>
          </p:cNvSpPr>
          <p:nvPr>
            <p:ph type="sldNum" sz="quarter" idx="5"/>
          </p:nvPr>
        </p:nvSpPr>
        <p:spPr>
          <a:noFill/>
        </p:spPr>
        <p:txBody>
          <a:bodyPr/>
          <a:lstStyle>
            <a:lvl1pPr defTabSz="944394">
              <a:spcBef>
                <a:spcPct val="30000"/>
              </a:spcBef>
              <a:defRPr kumimoji="1" sz="1200">
                <a:solidFill>
                  <a:schemeClr val="tx1"/>
                </a:solidFill>
                <a:latin typeface="Calibri" pitchFamily="34" charset="0"/>
                <a:ea typeface="ＭＳ Ｐ明朝" pitchFamily="18" charset="-128"/>
              </a:defRPr>
            </a:lvl1pPr>
            <a:lvl2pPr marL="766703" indent="-292861" defTabSz="944394">
              <a:spcBef>
                <a:spcPct val="30000"/>
              </a:spcBef>
              <a:defRPr kumimoji="1" sz="1200">
                <a:solidFill>
                  <a:schemeClr val="tx1"/>
                </a:solidFill>
                <a:latin typeface="Calibri" pitchFamily="34" charset="0"/>
                <a:ea typeface="ＭＳ Ｐ明朝" pitchFamily="18" charset="-128"/>
              </a:defRPr>
            </a:lvl2pPr>
            <a:lvl3pPr marL="1179670" indent="-233630" defTabSz="944394">
              <a:spcBef>
                <a:spcPct val="30000"/>
              </a:spcBef>
              <a:defRPr kumimoji="1" sz="1200">
                <a:solidFill>
                  <a:schemeClr val="tx1"/>
                </a:solidFill>
                <a:latin typeface="Calibri" pitchFamily="34" charset="0"/>
                <a:ea typeface="ＭＳ Ｐ明朝" pitchFamily="18" charset="-128"/>
              </a:defRPr>
            </a:lvl3pPr>
            <a:lvl4pPr marL="1653512" indent="-233630" defTabSz="944394">
              <a:spcBef>
                <a:spcPct val="30000"/>
              </a:spcBef>
              <a:defRPr kumimoji="1" sz="1200">
                <a:solidFill>
                  <a:schemeClr val="tx1"/>
                </a:solidFill>
                <a:latin typeface="Calibri" pitchFamily="34" charset="0"/>
                <a:ea typeface="ＭＳ Ｐ明朝" pitchFamily="18" charset="-128"/>
              </a:defRPr>
            </a:lvl4pPr>
            <a:lvl5pPr marL="2127354" indent="-233630" defTabSz="944394">
              <a:spcBef>
                <a:spcPct val="30000"/>
              </a:spcBef>
              <a:defRPr kumimoji="1" sz="1200">
                <a:solidFill>
                  <a:schemeClr val="tx1"/>
                </a:solidFill>
                <a:latin typeface="Calibri" pitchFamily="34" charset="0"/>
                <a:ea typeface="ＭＳ Ｐ明朝" pitchFamily="18" charset="-128"/>
              </a:defRPr>
            </a:lvl5pPr>
            <a:lvl6pPr marL="2601196"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75038"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48880"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4022722"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spcBef>
                <a:spcPct val="0"/>
              </a:spcBef>
            </a:pPr>
            <a:fld id="{3A756C7E-D3CC-4435-A871-324BE166A66C}" type="slidenum">
              <a:rPr lang="ja-JP" altLang="en-US">
                <a:ea typeface="ＭＳ Ｐゴシック" pitchFamily="50" charset="-128"/>
              </a:rPr>
              <a:pPr>
                <a:spcBef>
                  <a:spcPct val="0"/>
                </a:spcBef>
              </a:pPr>
              <a:t>11</a:t>
            </a:fld>
            <a:endParaRPr lang="en-US" altLang="ja-JP">
              <a:ea typeface="ＭＳ Ｐゴシック" pitchFamily="50" charset="-128"/>
            </a:endParaRPr>
          </a:p>
        </p:txBody>
      </p:sp>
      <p:sp>
        <p:nvSpPr>
          <p:cNvPr id="35843"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ノート プレースホルダー 2"/>
          <p:cNvSpPr>
            <a:spLocks noGrp="1"/>
          </p:cNvSpPr>
          <p:nvPr>
            <p:ph type="body" idx="1"/>
          </p:nvPr>
        </p:nvSpPr>
        <p:spPr>
          <a:noFill/>
        </p:spPr>
        <p:txBody>
          <a:bodyPr/>
          <a:lstStyle/>
          <a:p>
            <a:pPr eaLnBrk="1" hangingPunct="1"/>
            <a:endParaRPr lang="ja-JP" altLang="en-US"/>
          </a:p>
        </p:txBody>
      </p:sp>
      <p:sp>
        <p:nvSpPr>
          <p:cNvPr id="35845" name="スライド番号プレースホルダー 3"/>
          <p:cNvSpPr txBox="1">
            <a:spLocks noGrp="1"/>
          </p:cNvSpPr>
          <p:nvPr/>
        </p:nvSpPr>
        <p:spPr bwMode="auto">
          <a:xfrm>
            <a:off x="4022163" y="9720673"/>
            <a:ext cx="3075480" cy="51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27" tIns="47314" rIns="94627" bIns="47314" anchor="b"/>
          <a:lstStyle>
            <a:lvl1pPr defTabSz="946150">
              <a:spcBef>
                <a:spcPct val="30000"/>
              </a:spcBef>
              <a:defRPr kumimoji="1" sz="1200">
                <a:solidFill>
                  <a:schemeClr val="tx1"/>
                </a:solidFill>
                <a:latin typeface="Calibri" pitchFamily="34" charset="0"/>
                <a:ea typeface="ＭＳ Ｐ明朝" pitchFamily="18" charset="-128"/>
              </a:defRPr>
            </a:lvl1pPr>
            <a:lvl2pPr marL="768350" indent="-295275" defTabSz="946150">
              <a:spcBef>
                <a:spcPct val="30000"/>
              </a:spcBef>
              <a:defRPr kumimoji="1" sz="1200">
                <a:solidFill>
                  <a:schemeClr val="tx1"/>
                </a:solidFill>
                <a:latin typeface="Calibri" pitchFamily="34" charset="0"/>
                <a:ea typeface="ＭＳ Ｐ明朝" pitchFamily="18" charset="-128"/>
              </a:defRPr>
            </a:lvl2pPr>
            <a:lvl3pPr marL="1182688" indent="-236538" defTabSz="946150">
              <a:spcBef>
                <a:spcPct val="30000"/>
              </a:spcBef>
              <a:defRPr kumimoji="1" sz="1200">
                <a:solidFill>
                  <a:schemeClr val="tx1"/>
                </a:solidFill>
                <a:latin typeface="Calibri" pitchFamily="34" charset="0"/>
                <a:ea typeface="ＭＳ Ｐ明朝" pitchFamily="18" charset="-128"/>
              </a:defRPr>
            </a:lvl3pPr>
            <a:lvl4pPr marL="1655763" indent="-236538" defTabSz="946150">
              <a:spcBef>
                <a:spcPct val="30000"/>
              </a:spcBef>
              <a:defRPr kumimoji="1" sz="1200">
                <a:solidFill>
                  <a:schemeClr val="tx1"/>
                </a:solidFill>
                <a:latin typeface="Calibri" pitchFamily="34" charset="0"/>
                <a:ea typeface="ＭＳ Ｐ明朝" pitchFamily="18" charset="-128"/>
              </a:defRPr>
            </a:lvl4pPr>
            <a:lvl5pPr marL="2128838" indent="-236538" defTabSz="946150">
              <a:spcBef>
                <a:spcPct val="30000"/>
              </a:spcBef>
              <a:defRPr kumimoji="1" sz="1200">
                <a:solidFill>
                  <a:schemeClr val="tx1"/>
                </a:solidFill>
                <a:latin typeface="Calibri" pitchFamily="34" charset="0"/>
                <a:ea typeface="ＭＳ Ｐ明朝" pitchFamily="18"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lgn="r" eaLnBrk="1" hangingPunct="1">
              <a:spcBef>
                <a:spcPct val="0"/>
              </a:spcBef>
            </a:pPr>
            <a:fld id="{9E56650F-526F-4FB6-AFCE-B64A35437C69}" type="slidenum">
              <a:rPr lang="ja-JP" altLang="en-US">
                <a:ea typeface="ＭＳ Ｐゴシック" pitchFamily="50" charset="-128"/>
              </a:rPr>
              <a:pPr algn="r" eaLnBrk="1" hangingPunct="1">
                <a:spcBef>
                  <a:spcPct val="0"/>
                </a:spcBef>
              </a:pPr>
              <a:t>11</a:t>
            </a:fld>
            <a:endParaRPr lang="en-US" altLang="ja-JP">
              <a:ea typeface="ＭＳ Ｐゴシック" pitchFamily="50" charset="-128"/>
            </a:endParaRPr>
          </a:p>
        </p:txBody>
      </p:sp>
    </p:spTree>
    <p:extLst>
      <p:ext uri="{BB962C8B-B14F-4D97-AF65-F5344CB8AC3E}">
        <p14:creationId xmlns:p14="http://schemas.microsoft.com/office/powerpoint/2010/main" val="2422572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12</a:t>
            </a:fld>
            <a:endParaRPr lang="en-US" altLang="ja-JP"/>
          </a:p>
        </p:txBody>
      </p:sp>
    </p:spTree>
    <p:extLst>
      <p:ext uri="{BB962C8B-B14F-4D97-AF65-F5344CB8AC3E}">
        <p14:creationId xmlns:p14="http://schemas.microsoft.com/office/powerpoint/2010/main" val="2215432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13</a:t>
            </a:fld>
            <a:endParaRPr lang="en-US" altLang="ja-JP"/>
          </a:p>
        </p:txBody>
      </p:sp>
    </p:spTree>
    <p:extLst>
      <p:ext uri="{BB962C8B-B14F-4D97-AF65-F5344CB8AC3E}">
        <p14:creationId xmlns:p14="http://schemas.microsoft.com/office/powerpoint/2010/main" val="541953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14</a:t>
            </a:fld>
            <a:endParaRPr lang="en-US" altLang="ja-JP"/>
          </a:p>
        </p:txBody>
      </p:sp>
    </p:spTree>
    <p:extLst>
      <p:ext uri="{BB962C8B-B14F-4D97-AF65-F5344CB8AC3E}">
        <p14:creationId xmlns:p14="http://schemas.microsoft.com/office/powerpoint/2010/main" val="2054107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15</a:t>
            </a:fld>
            <a:endParaRPr lang="en-US" altLang="ja-JP"/>
          </a:p>
        </p:txBody>
      </p:sp>
    </p:spTree>
    <p:extLst>
      <p:ext uri="{BB962C8B-B14F-4D97-AF65-F5344CB8AC3E}">
        <p14:creationId xmlns:p14="http://schemas.microsoft.com/office/powerpoint/2010/main" val="2572265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16</a:t>
            </a:fld>
            <a:endParaRPr lang="en-US" altLang="ja-JP"/>
          </a:p>
        </p:txBody>
      </p:sp>
    </p:spTree>
    <p:extLst>
      <p:ext uri="{BB962C8B-B14F-4D97-AF65-F5344CB8AC3E}">
        <p14:creationId xmlns:p14="http://schemas.microsoft.com/office/powerpoint/2010/main" val="1645714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17</a:t>
            </a:fld>
            <a:endParaRPr lang="en-US" altLang="ja-JP"/>
          </a:p>
        </p:txBody>
      </p:sp>
    </p:spTree>
    <p:extLst>
      <p:ext uri="{BB962C8B-B14F-4D97-AF65-F5344CB8AC3E}">
        <p14:creationId xmlns:p14="http://schemas.microsoft.com/office/powerpoint/2010/main" val="37375342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4" name="角丸四角形 3"/>
          <p:cNvSpPr/>
          <p:nvPr/>
        </p:nvSpPr>
        <p:spPr>
          <a:xfrm>
            <a:off x="251520" y="863001"/>
            <a:ext cx="8712968" cy="45719"/>
          </a:xfrm>
          <a:prstGeom prst="roundRect">
            <a:avLst/>
          </a:prstGeom>
          <a:ln/>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ja-JP" altLang="en-US" dirty="0"/>
          </a:p>
        </p:txBody>
      </p:sp>
      <p:sp>
        <p:nvSpPr>
          <p:cNvPr id="6" name="テキスト ボックス 9"/>
          <p:cNvSpPr txBox="1">
            <a:spLocks noChangeArrowheads="1"/>
          </p:cNvSpPr>
          <p:nvPr/>
        </p:nvSpPr>
        <p:spPr bwMode="auto">
          <a:xfrm>
            <a:off x="-36000" y="-46800"/>
            <a:ext cx="3240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defRPr/>
            </a:pPr>
            <a:r>
              <a:rPr lang="en-US" altLang="ja-JP" sz="1400" b="1" dirty="0">
                <a:solidFill>
                  <a:srgbClr val="C00000"/>
                </a:solidFill>
              </a:rPr>
              <a:t>EFW MAKE IT EASY</a:t>
            </a:r>
            <a:endParaRPr lang="ja-JP" altLang="en-US" sz="1400" b="1" dirty="0">
              <a:solidFill>
                <a:srgbClr val="C00000"/>
              </a:solidFill>
            </a:endParaRPr>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89288" y="6519863"/>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title"/>
          </p:nvPr>
        </p:nvSpPr>
        <p:spPr>
          <a:xfrm>
            <a:off x="457200" y="274638"/>
            <a:ext cx="8229600" cy="562074"/>
          </a:xfrm>
        </p:spPr>
        <p:txBody>
          <a:bodyPr anchor="t">
            <a:normAutofit/>
          </a:bodyPr>
          <a:lstStyle>
            <a:lvl1pPr algn="l">
              <a:defRPr sz="2800">
                <a:solidFill>
                  <a:schemeClr val="tx2"/>
                </a:solidFill>
                <a:latin typeface="MS UI Gothic" pitchFamily="50" charset="-128"/>
                <a:ea typeface="MS UI Gothic" pitchFamily="50" charset="-128"/>
              </a:defRPr>
            </a:lvl1pPr>
          </a:lstStyle>
          <a:p>
            <a:r>
              <a:rPr lang="ja-JP" altLang="en-US"/>
              <a:t>マスター タイトルの書式設定</a:t>
            </a:r>
          </a:p>
        </p:txBody>
      </p:sp>
      <p:sp>
        <p:nvSpPr>
          <p:cNvPr id="3" name="コンテンツ プレースホルダー 2"/>
          <p:cNvSpPr>
            <a:spLocks noGrp="1"/>
          </p:cNvSpPr>
          <p:nvPr>
            <p:ph idx="1"/>
          </p:nvPr>
        </p:nvSpPr>
        <p:spPr>
          <a:xfrm>
            <a:off x="457200" y="991269"/>
            <a:ext cx="8229600" cy="5246043"/>
          </a:xfrm>
        </p:spPr>
        <p:txBody>
          <a:bodyPr>
            <a:normAutofit/>
          </a:bodyPr>
          <a:lstStyle>
            <a:lvl1pPr>
              <a:defRPr sz="1800">
                <a:latin typeface="MS UI Gothic" pitchFamily="50" charset="-128"/>
                <a:ea typeface="MS UI Gothic" pitchFamily="50" charset="-128"/>
              </a:defRPr>
            </a:lvl1pPr>
            <a:lvl2pPr>
              <a:defRPr sz="1800">
                <a:latin typeface="MS UI Gothic" pitchFamily="50" charset="-128"/>
                <a:ea typeface="MS UI Gothic" pitchFamily="50" charset="-128"/>
              </a:defRPr>
            </a:lvl2pPr>
            <a:lvl3pPr>
              <a:defRPr sz="1800">
                <a:latin typeface="MS UI Gothic" pitchFamily="50" charset="-128"/>
                <a:ea typeface="MS UI Gothic" pitchFamily="50" charset="-128"/>
              </a:defRPr>
            </a:lvl3pPr>
            <a:lvl4pPr>
              <a:defRPr sz="1800">
                <a:latin typeface="MS UI Gothic" pitchFamily="50" charset="-128"/>
                <a:ea typeface="MS UI Gothic" pitchFamily="50" charset="-128"/>
              </a:defRPr>
            </a:lvl4pPr>
            <a:lvl5pPr>
              <a:defRPr sz="1800">
                <a:latin typeface="MS UI Gothic" pitchFamily="50" charset="-128"/>
                <a:ea typeface="MS UI Gothic"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 name="スライド番号プレースホルダー 15"/>
          <p:cNvSpPr>
            <a:spLocks noGrp="1"/>
          </p:cNvSpPr>
          <p:nvPr>
            <p:ph type="sldNum" sz="quarter" idx="10"/>
          </p:nvPr>
        </p:nvSpPr>
        <p:spPr/>
        <p:txBody>
          <a:bodyPr/>
          <a:lstStyle>
            <a:lvl1pPr>
              <a:defRPr/>
            </a:lvl1pPr>
          </a:lstStyle>
          <a:p>
            <a:pPr>
              <a:defRPr/>
            </a:pPr>
            <a:fld id="{E7B2CBF0-9F56-4157-9FC0-529FA0A011B6}" type="slidenum">
              <a:rPr lang="ja-JP" altLang="en-US"/>
              <a:pPr>
                <a:defRPr/>
              </a:pPr>
              <a:t>‹#›</a:t>
            </a:fld>
            <a:endParaRPr lang="ja-JP" altLang="en-US"/>
          </a:p>
        </p:txBody>
      </p:sp>
    </p:spTree>
    <p:extLst>
      <p:ext uri="{BB962C8B-B14F-4D97-AF65-F5344CB8AC3E}">
        <p14:creationId xmlns:p14="http://schemas.microsoft.com/office/powerpoint/2010/main" val="74837584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ー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マスター タイトルの書式設定</a:t>
            </a:r>
          </a:p>
        </p:txBody>
      </p:sp>
      <p:sp>
        <p:nvSpPr>
          <p:cNvPr id="1027" name="テキスト プレースホルダー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1" name="スライド番号プレースホルダー 1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Arial" charset="0"/>
              </a:defRPr>
            </a:lvl1pPr>
          </a:lstStyle>
          <a:p>
            <a:pPr>
              <a:defRPr/>
            </a:pPr>
            <a:fld id="{E5AA8DC3-14C1-4C98-A520-5519C9F789F6}"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814" r:id="rId1"/>
  </p:sldLayoutIdLst>
  <p:hf hdr="0" ftr="0" dt="0"/>
  <p:txStyles>
    <p:title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charset="0"/>
        <a:buChar char="•"/>
        <a:defRPr kumimoji="1"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kumimoji="1"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kumimoji="1"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kumimoji="1"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kumimoji="1"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8" Type="http://schemas.openxmlformats.org/officeDocument/2006/relationships/hyperlink" Target="https://efwgrp.github.io/efw4.X/j/analysis.security.html" TargetMode="External"/><Relationship Id="rId3" Type="http://schemas.openxmlformats.org/officeDocument/2006/relationships/notesSlide" Target="../notesSlides/notesSlide10.xml"/><Relationship Id="rId7" Type="http://schemas.openxmlformats.org/officeDocument/2006/relationships/hyperlink" Target="https://efwgrp.github.io/efw4.X/j/analysis.html" TargetMode="Externa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hyperlink" Target="https://efwgrp.github.io/efw4.X/j/api.html" TargetMode="External"/><Relationship Id="rId5" Type="http://schemas.openxmlformats.org/officeDocument/2006/relationships/hyperlink" Target="https://efwgrp.github.io/efw4.X/j/examples.html" TargetMode="External"/><Relationship Id="rId10" Type="http://schemas.openxmlformats.org/officeDocument/2006/relationships/hyperlink" Target="https://qiita.com/changkejun/items/2c7071c1468b24e7683e" TargetMode="External"/><Relationship Id="rId4" Type="http://schemas.openxmlformats.org/officeDocument/2006/relationships/hyperlink" Target="https://github.com/efwGrp/efw4.X" TargetMode="External"/><Relationship Id="rId9" Type="http://schemas.openxmlformats.org/officeDocument/2006/relationships/hyperlink" Target="http://id.nii.ac.jp/1001/0014755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p:cNvSpPr txBox="1">
            <a:spLocks/>
          </p:cNvSpPr>
          <p:nvPr/>
        </p:nvSpPr>
        <p:spPr bwMode="auto">
          <a:xfrm>
            <a:off x="698500" y="2422525"/>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a:lstStyle>
          <a:p>
            <a:r>
              <a:rPr lang="en-US" altLang="ja-JP" sz="3600" dirty="0">
                <a:latin typeface="Meiryo UI" pitchFamily="50" charset="-128"/>
                <a:ea typeface="Meiryo UI" pitchFamily="50" charset="-128"/>
                <a:cs typeface="Meiryo UI" pitchFamily="50" charset="-128"/>
              </a:rPr>
              <a:t>EFW</a:t>
            </a:r>
            <a:r>
              <a:rPr lang="ja-JP" altLang="en-US" sz="3600" dirty="0">
                <a:latin typeface="Meiryo UI" pitchFamily="50" charset="-128"/>
                <a:ea typeface="Meiryo UI" pitchFamily="50" charset="-128"/>
                <a:cs typeface="Meiryo UI" pitchFamily="50" charset="-128"/>
              </a:rPr>
              <a:t>のご紹介</a:t>
            </a:r>
            <a:endParaRPr lang="en-US" altLang="ja-JP" sz="3600" dirty="0">
              <a:latin typeface="Meiryo UI" pitchFamily="50" charset="-128"/>
              <a:ea typeface="Meiryo UI" pitchFamily="50" charset="-128"/>
              <a:cs typeface="Meiryo UI" pitchFamily="50" charset="-128"/>
            </a:endParaRPr>
          </a:p>
          <a:p>
            <a:r>
              <a:rPr lang="en-US" altLang="ja-JP" sz="1400" dirty="0">
                <a:latin typeface="Meiryo UI" pitchFamily="50" charset="-128"/>
                <a:ea typeface="Meiryo UI" pitchFamily="50" charset="-128"/>
                <a:cs typeface="Meiryo UI" pitchFamily="50" charset="-128"/>
              </a:rPr>
              <a:t>V2.3</a:t>
            </a:r>
          </a:p>
        </p:txBody>
      </p:sp>
      <p:sp>
        <p:nvSpPr>
          <p:cNvPr id="8" name="タイトル 1"/>
          <p:cNvSpPr txBox="1">
            <a:spLocks/>
          </p:cNvSpPr>
          <p:nvPr/>
        </p:nvSpPr>
        <p:spPr bwMode="auto">
          <a:xfrm>
            <a:off x="0" y="4365625"/>
            <a:ext cx="91440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0"/>
              </a:spcBef>
              <a:buFontTx/>
              <a:buNone/>
            </a:pPr>
            <a:r>
              <a:rPr lang="ja-JP" altLang="en-US" sz="2400" dirty="0">
                <a:latin typeface="Meiryo UI" panose="020B0604030504040204" pitchFamily="50" charset="-128"/>
                <a:ea typeface="Meiryo UI" panose="020B0604030504040204" pitchFamily="50" charset="-128"/>
                <a:cs typeface="Meiryo UI" panose="020B0604030504040204" pitchFamily="50" charset="-128"/>
              </a:rPr>
              <a:t>エスコ・ジャパン株式会社</a:t>
            </a:r>
            <a:endParaRPr lang="en-US" altLang="ja-JP" sz="2400" dirty="0">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Font typeface="Arial" panose="020B0604020202020204" pitchFamily="34" charset="0"/>
              <a:buNone/>
            </a:pPr>
            <a:r>
              <a:rPr lang="en-US" altLang="ja-JP" sz="2400">
                <a:latin typeface="Meiryo UI" panose="020B0604030504040204" pitchFamily="50" charset="-128"/>
                <a:ea typeface="Meiryo UI" panose="020B0604030504040204" pitchFamily="50" charset="-128"/>
                <a:cs typeface="Meiryo UI" panose="020B0604030504040204" pitchFamily="50" charset="-128"/>
              </a:rPr>
              <a:t>2026.01.16</a:t>
            </a:r>
            <a:endParaRPr lang="ja-JP" altLang="en-US"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D9A0E334-FEBE-4784-AB91-42D60AF332BF}"/>
              </a:ext>
            </a:extLst>
          </p:cNvPr>
          <p:cNvSpPr/>
          <p:nvPr/>
        </p:nvSpPr>
        <p:spPr>
          <a:xfrm>
            <a:off x="179616" y="468771"/>
            <a:ext cx="6564086" cy="369332"/>
          </a:xfrm>
          <a:prstGeom prst="rect">
            <a:avLst/>
          </a:prstGeom>
        </p:spPr>
        <p:txBody>
          <a:bodyPr wrap="square">
            <a:spAutoFit/>
          </a:bodyPr>
          <a:lstStyle/>
          <a:p>
            <a:r>
              <a:rPr lang="ja-JP" altLang="en-US" dirty="0"/>
              <a:t>An </a:t>
            </a:r>
            <a:r>
              <a:rPr lang="ja-JP" altLang="en-US" dirty="0">
                <a:solidFill>
                  <a:schemeClr val="accent2"/>
                </a:solidFill>
              </a:rPr>
              <a:t>E</a:t>
            </a:r>
            <a:r>
              <a:rPr lang="ja-JP" altLang="en-US" dirty="0"/>
              <a:t>nterprise </a:t>
            </a:r>
            <a:r>
              <a:rPr lang="ja-JP" altLang="en-US" dirty="0">
                <a:solidFill>
                  <a:schemeClr val="accent2"/>
                </a:solidFill>
              </a:rPr>
              <a:t>F</a:t>
            </a:r>
            <a:r>
              <a:rPr lang="ja-JP" altLang="en-US" dirty="0"/>
              <a:t>ramework for </a:t>
            </a:r>
            <a:r>
              <a:rPr lang="ja-JP" altLang="en-US" dirty="0">
                <a:solidFill>
                  <a:schemeClr val="accent2"/>
                </a:solidFill>
              </a:rPr>
              <a:t>W</a:t>
            </a:r>
            <a:r>
              <a:rPr lang="ja-JP" altLang="en-US" dirty="0"/>
              <a:t>eb provided by ESCCO.</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76894" y="27731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目次</a:t>
            </a:r>
          </a:p>
        </p:txBody>
      </p:sp>
      <p:sp>
        <p:nvSpPr>
          <p:cNvPr id="4099" name="スライド番号プレースホルダー 3"/>
          <p:cNvSpPr txBox="1">
            <a:spLocks/>
          </p:cNvSpPr>
          <p:nvPr/>
        </p:nvSpPr>
        <p:spPr bwMode="auto">
          <a:xfrm>
            <a:off x="6948488" y="6494463"/>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9" name="タイトル 1"/>
          <p:cNvSpPr txBox="1">
            <a:spLocks/>
          </p:cNvSpPr>
          <p:nvPr/>
        </p:nvSpPr>
        <p:spPr bwMode="auto">
          <a:xfrm>
            <a:off x="315531" y="996043"/>
            <a:ext cx="8622407" cy="526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a:lstStyle>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１、</a:t>
            </a:r>
            <a:r>
              <a:rPr lang="en-US" altLang="ja-JP" sz="2400" dirty="0">
                <a:latin typeface="Meiryo UI" pitchFamily="50" charset="-128"/>
                <a:ea typeface="Meiryo UI" pitchFamily="50" charset="-128"/>
                <a:cs typeface="Meiryo UI" pitchFamily="50" charset="-128"/>
              </a:rPr>
              <a:t>EFW</a:t>
            </a:r>
            <a:r>
              <a:rPr lang="ja-JP" altLang="en-US" sz="2400" dirty="0">
                <a:latin typeface="Meiryo UI" pitchFamily="50" charset="-128"/>
                <a:ea typeface="Meiryo UI" pitchFamily="50" charset="-128"/>
                <a:cs typeface="Meiryo UI" pitchFamily="50" charset="-128"/>
              </a:rPr>
              <a:t>とは</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２、生産性とコスト削減効果</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３、プログラムの可読性</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４、従来</a:t>
            </a:r>
            <a:r>
              <a:rPr lang="en-US" altLang="ja-JP" sz="2400" dirty="0">
                <a:latin typeface="Meiryo UI" pitchFamily="50" charset="-128"/>
                <a:ea typeface="Meiryo UI" pitchFamily="50" charset="-128"/>
                <a:cs typeface="Meiryo UI" pitchFamily="50" charset="-128"/>
              </a:rPr>
              <a:t>WEB</a:t>
            </a:r>
            <a:r>
              <a:rPr lang="ja-JP" altLang="en-US" sz="2400" dirty="0">
                <a:latin typeface="Meiryo UI" pitchFamily="50" charset="-128"/>
                <a:ea typeface="Meiryo UI" pitchFamily="50" charset="-128"/>
                <a:cs typeface="Meiryo UI" pitchFamily="50" charset="-128"/>
              </a:rPr>
              <a:t>開発の問題</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５、従来問題の解決</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６、</a:t>
            </a:r>
            <a:r>
              <a:rPr lang="en-US" altLang="ja-JP" sz="2400" dirty="0">
                <a:latin typeface="Meiryo UI" pitchFamily="50" charset="-128"/>
                <a:ea typeface="Meiryo UI" pitchFamily="50" charset="-128"/>
                <a:cs typeface="Meiryo UI" pitchFamily="50" charset="-128"/>
              </a:rPr>
              <a:t>EFW</a:t>
            </a:r>
            <a:r>
              <a:rPr lang="ja-JP" altLang="en-US" sz="2400" dirty="0">
                <a:latin typeface="Meiryo UI" pitchFamily="50" charset="-128"/>
                <a:ea typeface="Meiryo UI" pitchFamily="50" charset="-128"/>
                <a:cs typeface="Meiryo UI" pitchFamily="50" charset="-128"/>
              </a:rPr>
              <a:t>の資材</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７、実績一覧</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８、</a:t>
            </a:r>
            <a:r>
              <a:rPr lang="en-US" altLang="ja-JP" sz="2400" dirty="0">
                <a:latin typeface="Meiryo UI" pitchFamily="50" charset="-128"/>
                <a:ea typeface="Meiryo UI" pitchFamily="50" charset="-128"/>
                <a:cs typeface="Meiryo UI" pitchFamily="50" charset="-128"/>
              </a:rPr>
              <a:t>EFW</a:t>
            </a:r>
            <a:r>
              <a:rPr lang="ja-JP" altLang="en-US" sz="2400" dirty="0">
                <a:latin typeface="Meiryo UI" pitchFamily="50" charset="-128"/>
                <a:ea typeface="Meiryo UI" pitchFamily="50" charset="-128"/>
                <a:cs typeface="Meiryo UI" pitchFamily="50" charset="-128"/>
              </a:rPr>
              <a:t>導入の効果</a:t>
            </a:r>
            <a:endParaRPr lang="en-US" altLang="ja-JP" sz="2400" dirty="0">
              <a:latin typeface="Meiryo UI" pitchFamily="50" charset="-128"/>
              <a:ea typeface="Meiryo UI" pitchFamily="50" charset="-128"/>
              <a:cs typeface="Meiryo UI" pitchFamily="50" charset="-128"/>
            </a:endParaRPr>
          </a:p>
        </p:txBody>
      </p:sp>
    </p:spTree>
    <p:custDataLst>
      <p:tags r:id="rId1"/>
    </p:custDataLst>
    <p:extLst>
      <p:ext uri="{BB962C8B-B14F-4D97-AF65-F5344CB8AC3E}">
        <p14:creationId xmlns:p14="http://schemas.microsoft.com/office/powerpoint/2010/main" val="973071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fw Client">
            <a:extLst>
              <a:ext uri="{FF2B5EF4-FFF2-40B4-BE49-F238E27FC236}">
                <a16:creationId xmlns:a16="http://schemas.microsoft.com/office/drawing/2014/main" id="{A41D988C-50C2-43A2-8E60-2963849B73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904" y="2799124"/>
            <a:ext cx="3048157" cy="1698712"/>
          </a:xfrm>
          <a:prstGeom prst="rect">
            <a:avLst/>
          </a:prstGeom>
          <a:noFill/>
          <a:extLst>
            <a:ext uri="{909E8E84-426E-40DD-AFC4-6F175D3DCCD1}">
              <a14:hiddenFill xmlns:a14="http://schemas.microsoft.com/office/drawing/2010/main">
                <a:solidFill>
                  <a:srgbClr val="FFFFFF"/>
                </a:solidFill>
              </a14:hiddenFill>
            </a:ext>
          </a:extLst>
        </p:spPr>
      </p:pic>
      <p:pic>
        <p:nvPicPr>
          <p:cNvPr id="10" name="図 9">
            <a:extLst>
              <a:ext uri="{FF2B5EF4-FFF2-40B4-BE49-F238E27FC236}">
                <a16:creationId xmlns:a16="http://schemas.microsoft.com/office/drawing/2014/main" id="{8FB5680A-7AF2-4529-AB09-49902B933F75}"/>
              </a:ext>
            </a:extLst>
          </p:cNvPr>
          <p:cNvPicPr>
            <a:picLocks noChangeAspect="1"/>
          </p:cNvPicPr>
          <p:nvPr/>
        </p:nvPicPr>
        <p:blipFill>
          <a:blip r:embed="rId5"/>
          <a:stretch>
            <a:fillRect/>
          </a:stretch>
        </p:blipFill>
        <p:spPr>
          <a:xfrm>
            <a:off x="6033062" y="2799124"/>
            <a:ext cx="3048157" cy="1698712"/>
          </a:xfrm>
          <a:prstGeom prst="rect">
            <a:avLst/>
          </a:prstGeom>
        </p:spPr>
      </p:pic>
      <p:sp>
        <p:nvSpPr>
          <p:cNvPr id="4098"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１．</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とは</a:t>
            </a: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2</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9" name="テキスト ボックス 5"/>
          <p:cNvSpPr txBox="1">
            <a:spLocks noChangeArrowheads="1"/>
          </p:cNvSpPr>
          <p:nvPr/>
        </p:nvSpPr>
        <p:spPr bwMode="auto">
          <a:xfrm>
            <a:off x="246850" y="1041935"/>
            <a:ext cx="480684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ja-JP"/>
            </a:defPPr>
            <a:lvl1pPr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en-US" altLang="ja-JP" sz="2000" dirty="0">
                <a:latin typeface="Meiryo UI" pitchFamily="50" charset="-128"/>
                <a:ea typeface="Meiryo UI" pitchFamily="50" charset="-128"/>
                <a:cs typeface="Meiryo UI" pitchFamily="50" charset="-128"/>
              </a:rPr>
              <a:t>ESCCO </a:t>
            </a:r>
            <a:r>
              <a:rPr lang="ja-JP" altLang="en-US" sz="2000" dirty="0">
                <a:latin typeface="Meiryo UI" pitchFamily="50" charset="-128"/>
                <a:ea typeface="Meiryo UI" pitchFamily="50" charset="-128"/>
                <a:cs typeface="Meiryo UI" pitchFamily="50" charset="-128"/>
              </a:rPr>
              <a:t>から提供する、</a:t>
            </a:r>
            <a:endParaRPr lang="en-US" altLang="ja-JP" sz="2000" dirty="0">
              <a:latin typeface="Meiryo UI" pitchFamily="50" charset="-128"/>
              <a:ea typeface="Meiryo UI" pitchFamily="50" charset="-128"/>
              <a:cs typeface="Meiryo UI" pitchFamily="50" charset="-128"/>
            </a:endParaRPr>
          </a:p>
          <a:p>
            <a:pPr eaLnBrk="1" hangingPunct="1"/>
            <a:r>
              <a:rPr lang="en-US" altLang="ja-JP" sz="2000" b="1" dirty="0">
                <a:solidFill>
                  <a:schemeClr val="accent2"/>
                </a:solidFill>
                <a:latin typeface="Meiryo UI" pitchFamily="50" charset="-128"/>
                <a:ea typeface="Meiryo UI" pitchFamily="50" charset="-128"/>
                <a:cs typeface="Meiryo UI" pitchFamily="50" charset="-128"/>
              </a:rPr>
              <a:t>Ajax</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と</a:t>
            </a:r>
            <a:r>
              <a:rPr lang="ja-JP" altLang="en-US" sz="2000" b="1" dirty="0">
                <a:solidFill>
                  <a:schemeClr val="accent2"/>
                </a:solidFill>
                <a:latin typeface="Meiryo UI" pitchFamily="50" charset="-128"/>
                <a:ea typeface="Meiryo UI" pitchFamily="50" charset="-128"/>
                <a:cs typeface="Meiryo UI" pitchFamily="50" charset="-128"/>
              </a:rPr>
              <a:t>サーバーサイト </a:t>
            </a:r>
            <a:r>
              <a:rPr lang="en-US" altLang="ja-JP" sz="2000" b="1" dirty="0">
                <a:solidFill>
                  <a:schemeClr val="accent2"/>
                </a:solidFill>
                <a:latin typeface="Meiryo UI" pitchFamily="50" charset="-128"/>
                <a:ea typeface="Meiryo UI" pitchFamily="50" charset="-128"/>
                <a:cs typeface="Meiryo UI" pitchFamily="50" charset="-128"/>
              </a:rPr>
              <a:t>JavaScript</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を</a:t>
            </a:r>
            <a:endParaRPr lang="en-US" altLang="ja-JP" sz="2000" dirty="0">
              <a:latin typeface="Meiryo UI" pitchFamily="50" charset="-128"/>
              <a:ea typeface="Meiryo UI" pitchFamily="50" charset="-128"/>
              <a:cs typeface="Meiryo UI" pitchFamily="50" charset="-128"/>
            </a:endParaRPr>
          </a:p>
          <a:p>
            <a:pPr eaLnBrk="1" hangingPunct="1"/>
            <a:r>
              <a:rPr lang="ja-JP" altLang="en-US" sz="2000" dirty="0">
                <a:latin typeface="Meiryo UI" pitchFamily="50" charset="-128"/>
                <a:ea typeface="Meiryo UI" pitchFamily="50" charset="-128"/>
                <a:cs typeface="Meiryo UI" pitchFamily="50" charset="-128"/>
              </a:rPr>
              <a:t>使用して</a:t>
            </a:r>
            <a:r>
              <a:rPr lang="en-US" altLang="ja-JP" sz="2000" dirty="0">
                <a:latin typeface="Meiryo UI" pitchFamily="50" charset="-128"/>
                <a:ea typeface="Meiryo UI" pitchFamily="50" charset="-128"/>
                <a:cs typeface="Meiryo UI" pitchFamily="50" charset="-128"/>
              </a:rPr>
              <a:t>Web </a:t>
            </a:r>
            <a:r>
              <a:rPr lang="ja-JP" altLang="en-US" sz="2000" dirty="0">
                <a:latin typeface="Meiryo UI" pitchFamily="50" charset="-128"/>
                <a:ea typeface="Meiryo UI" pitchFamily="50" charset="-128"/>
                <a:cs typeface="Meiryo UI" pitchFamily="50" charset="-128"/>
              </a:rPr>
              <a:t>システムを高速に構築する</a:t>
            </a:r>
            <a:endParaRPr lang="en-US" altLang="ja-JP" sz="2000" dirty="0">
              <a:latin typeface="Meiryo UI" pitchFamily="50" charset="-128"/>
              <a:ea typeface="Meiryo UI" pitchFamily="50" charset="-128"/>
              <a:cs typeface="Meiryo UI" pitchFamily="50" charset="-128"/>
            </a:endParaRPr>
          </a:p>
          <a:p>
            <a:pPr eaLnBrk="1" hangingPunct="1"/>
            <a:r>
              <a:rPr lang="ja-JP" altLang="en-US" sz="2000" dirty="0">
                <a:latin typeface="Meiryo UI" pitchFamily="50" charset="-128"/>
                <a:ea typeface="Meiryo UI" pitchFamily="50" charset="-128"/>
                <a:cs typeface="Meiryo UI" pitchFamily="50" charset="-128"/>
              </a:rPr>
              <a:t>ための</a:t>
            </a:r>
            <a:r>
              <a:rPr lang="ja-JP" altLang="en-US" sz="2000" b="1" dirty="0">
                <a:solidFill>
                  <a:schemeClr val="accent2"/>
                </a:solidFill>
                <a:latin typeface="Meiryo UI" pitchFamily="50" charset="-128"/>
                <a:ea typeface="Meiryo UI" pitchFamily="50" charset="-128"/>
                <a:cs typeface="Meiryo UI" pitchFamily="50" charset="-128"/>
              </a:rPr>
              <a:t>目標指向</a:t>
            </a:r>
            <a:r>
              <a:rPr lang="ja-JP" altLang="en-US" sz="2000" dirty="0">
                <a:latin typeface="Meiryo UI" pitchFamily="50" charset="-128"/>
                <a:ea typeface="Meiryo UI" pitchFamily="50" charset="-128"/>
                <a:cs typeface="Meiryo UI" pitchFamily="50" charset="-128"/>
              </a:rPr>
              <a:t>アプローチを採用した </a:t>
            </a:r>
            <a:endParaRPr lang="en-US" altLang="ja-JP" sz="2000" dirty="0">
              <a:latin typeface="Meiryo UI" pitchFamily="50" charset="-128"/>
              <a:ea typeface="Meiryo UI" pitchFamily="50" charset="-128"/>
              <a:cs typeface="Meiryo UI" pitchFamily="50" charset="-128"/>
            </a:endParaRPr>
          </a:p>
          <a:p>
            <a:pPr eaLnBrk="1" hangingPunct="1"/>
            <a:r>
              <a:rPr lang="en-US" altLang="ja-JP" sz="2000" dirty="0">
                <a:latin typeface="Meiryo UI" pitchFamily="50" charset="-128"/>
                <a:ea typeface="Meiryo UI" pitchFamily="50" charset="-128"/>
                <a:cs typeface="Meiryo UI" pitchFamily="50" charset="-128"/>
              </a:rPr>
              <a:t>Web </a:t>
            </a:r>
            <a:r>
              <a:rPr lang="ja-JP" altLang="en-US" sz="2000" dirty="0">
                <a:latin typeface="Meiryo UI" pitchFamily="50" charset="-128"/>
                <a:ea typeface="Meiryo UI" pitchFamily="50" charset="-128"/>
                <a:cs typeface="Meiryo UI" pitchFamily="50" charset="-128"/>
              </a:rPr>
              <a:t>向けエンタープライズ フレームワークです。</a:t>
            </a:r>
            <a:endParaRPr lang="en-US" altLang="ja-JP" sz="2000" dirty="0">
              <a:latin typeface="Meiryo UI" pitchFamily="50" charset="-128"/>
              <a:ea typeface="Meiryo UI" pitchFamily="50" charset="-128"/>
              <a:cs typeface="Meiryo UI" pitchFamily="50" charset="-128"/>
            </a:endParaRPr>
          </a:p>
        </p:txBody>
      </p:sp>
      <p:pic>
        <p:nvPicPr>
          <p:cNvPr id="8" name="図 7">
            <a:extLst>
              <a:ext uri="{FF2B5EF4-FFF2-40B4-BE49-F238E27FC236}">
                <a16:creationId xmlns:a16="http://schemas.microsoft.com/office/drawing/2014/main" id="{37E58912-C144-48D9-AF9E-49A969728C75}"/>
              </a:ext>
            </a:extLst>
          </p:cNvPr>
          <p:cNvPicPr>
            <a:picLocks noChangeAspect="1"/>
          </p:cNvPicPr>
          <p:nvPr/>
        </p:nvPicPr>
        <p:blipFill>
          <a:blip r:embed="rId6"/>
          <a:stretch>
            <a:fillRect/>
          </a:stretch>
        </p:blipFill>
        <p:spPr>
          <a:xfrm>
            <a:off x="5244380" y="1029679"/>
            <a:ext cx="3048157" cy="1698712"/>
          </a:xfrm>
          <a:prstGeom prst="rect">
            <a:avLst/>
          </a:prstGeom>
        </p:spPr>
      </p:pic>
      <p:sp>
        <p:nvSpPr>
          <p:cNvPr id="12" name="ホームベース 7">
            <a:extLst>
              <a:ext uri="{FF2B5EF4-FFF2-40B4-BE49-F238E27FC236}">
                <a16:creationId xmlns:a16="http://schemas.microsoft.com/office/drawing/2014/main" id="{20F36E98-3D40-4275-85D0-F9A0B7E4AD49}"/>
              </a:ext>
            </a:extLst>
          </p:cNvPr>
          <p:cNvSpPr/>
          <p:nvPr/>
        </p:nvSpPr>
        <p:spPr>
          <a:xfrm>
            <a:off x="246852" y="5074606"/>
            <a:ext cx="1773717" cy="432099"/>
          </a:xfrm>
          <a:prstGeom prst="homePlate">
            <a:avLst/>
          </a:prstGeom>
          <a:solidFill>
            <a:schemeClr val="accent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Ajax</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ホームベース 8">
            <a:extLst>
              <a:ext uri="{FF2B5EF4-FFF2-40B4-BE49-F238E27FC236}">
                <a16:creationId xmlns:a16="http://schemas.microsoft.com/office/drawing/2014/main" id="{051E436D-57EE-4D89-A794-28BA44AC7A40}"/>
              </a:ext>
            </a:extLst>
          </p:cNvPr>
          <p:cNvSpPr/>
          <p:nvPr/>
        </p:nvSpPr>
        <p:spPr>
          <a:xfrm>
            <a:off x="246851" y="5577614"/>
            <a:ext cx="1773717" cy="432099"/>
          </a:xfrm>
          <a:prstGeom prst="homePlate">
            <a:avLst/>
          </a:prstGeom>
          <a:solidFill>
            <a:schemeClr val="accent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サーバサイト</a:t>
            </a:r>
            <a:r>
              <a:rPr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JavaScript</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ホームベース 9">
            <a:extLst>
              <a:ext uri="{FF2B5EF4-FFF2-40B4-BE49-F238E27FC236}">
                <a16:creationId xmlns:a16="http://schemas.microsoft.com/office/drawing/2014/main" id="{813F04B0-C59C-4DBE-ACA6-1AFCEC1860D9}"/>
              </a:ext>
            </a:extLst>
          </p:cNvPr>
          <p:cNvSpPr/>
          <p:nvPr/>
        </p:nvSpPr>
        <p:spPr>
          <a:xfrm>
            <a:off x="2670565" y="5074606"/>
            <a:ext cx="1773717" cy="432099"/>
          </a:xfrm>
          <a:prstGeom prst="homePlate">
            <a:avLst/>
          </a:prstGeom>
          <a:solidFill>
            <a:schemeClr val="accent3"/>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可読性向上</a:t>
            </a:r>
          </a:p>
        </p:txBody>
      </p:sp>
      <p:sp>
        <p:nvSpPr>
          <p:cNvPr id="15" name="ホームベース 13">
            <a:extLst>
              <a:ext uri="{FF2B5EF4-FFF2-40B4-BE49-F238E27FC236}">
                <a16:creationId xmlns:a16="http://schemas.microsoft.com/office/drawing/2014/main" id="{45B9ED30-DD44-4565-A2A6-A2F1CB5CCFF2}"/>
              </a:ext>
            </a:extLst>
          </p:cNvPr>
          <p:cNvSpPr/>
          <p:nvPr/>
        </p:nvSpPr>
        <p:spPr>
          <a:xfrm>
            <a:off x="5146205" y="5074606"/>
            <a:ext cx="1773717" cy="432099"/>
          </a:xfrm>
          <a:prstGeom prst="homePlate">
            <a:avLst/>
          </a:prstGeom>
          <a:solidFill>
            <a:schemeClr val="accent2"/>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基本設計で</a:t>
            </a:r>
            <a:endParaRPr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開発可能</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ホームベース 16">
            <a:extLst>
              <a:ext uri="{FF2B5EF4-FFF2-40B4-BE49-F238E27FC236}">
                <a16:creationId xmlns:a16="http://schemas.microsoft.com/office/drawing/2014/main" id="{C1BD6D31-AAE0-473E-B670-5C2CC01EE6BD}"/>
              </a:ext>
            </a:extLst>
          </p:cNvPr>
          <p:cNvSpPr/>
          <p:nvPr/>
        </p:nvSpPr>
        <p:spPr>
          <a:xfrm>
            <a:off x="7341719" y="5579102"/>
            <a:ext cx="1773717" cy="432099"/>
          </a:xfrm>
          <a:prstGeom prst="homePlate">
            <a:avLst/>
          </a:prstGeom>
          <a:solidFill>
            <a:schemeClr val="accent6"/>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プロジェクトのコスト削減に貢献する</a:t>
            </a:r>
            <a:endParaRPr kumimoji="1"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ホームベース 6">
            <a:extLst>
              <a:ext uri="{FF2B5EF4-FFF2-40B4-BE49-F238E27FC236}">
                <a16:creationId xmlns:a16="http://schemas.microsoft.com/office/drawing/2014/main" id="{78330F22-4889-4395-A326-D8FE53909D08}"/>
              </a:ext>
            </a:extLst>
          </p:cNvPr>
          <p:cNvSpPr/>
          <p:nvPr/>
        </p:nvSpPr>
        <p:spPr>
          <a:xfrm>
            <a:off x="246850" y="6088436"/>
            <a:ext cx="1773717" cy="432099"/>
          </a:xfrm>
          <a:prstGeom prst="homePlate">
            <a:avLst/>
          </a:prstGeom>
          <a:solidFill>
            <a:schemeClr val="accent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目標指向</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ホームベース 10">
            <a:extLst>
              <a:ext uri="{FF2B5EF4-FFF2-40B4-BE49-F238E27FC236}">
                <a16:creationId xmlns:a16="http://schemas.microsoft.com/office/drawing/2014/main" id="{24D24231-009C-435B-83D5-50A68E7A1902}"/>
              </a:ext>
            </a:extLst>
          </p:cNvPr>
          <p:cNvSpPr/>
          <p:nvPr/>
        </p:nvSpPr>
        <p:spPr>
          <a:xfrm>
            <a:off x="2670564" y="5579102"/>
            <a:ext cx="1773717" cy="432099"/>
          </a:xfrm>
          <a:prstGeom prst="homePlate">
            <a:avLst/>
          </a:prstGeom>
          <a:solidFill>
            <a:schemeClr val="accent3"/>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ソース量削減</a:t>
            </a:r>
          </a:p>
        </p:txBody>
      </p:sp>
      <p:sp>
        <p:nvSpPr>
          <p:cNvPr id="19" name="ホームベース 18">
            <a:extLst>
              <a:ext uri="{FF2B5EF4-FFF2-40B4-BE49-F238E27FC236}">
                <a16:creationId xmlns:a16="http://schemas.microsoft.com/office/drawing/2014/main" id="{FDAC0ECA-3192-427D-BFA0-783221069C9D}"/>
              </a:ext>
            </a:extLst>
          </p:cNvPr>
          <p:cNvSpPr/>
          <p:nvPr/>
        </p:nvSpPr>
        <p:spPr>
          <a:xfrm>
            <a:off x="2670563" y="6082576"/>
            <a:ext cx="1773717" cy="432099"/>
          </a:xfrm>
          <a:prstGeom prst="homePlate">
            <a:avLst/>
          </a:prstGeom>
          <a:solidFill>
            <a:schemeClr val="accent3"/>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勉強しやすい</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0" name="直線矢印コネクタ 19">
            <a:extLst>
              <a:ext uri="{FF2B5EF4-FFF2-40B4-BE49-F238E27FC236}">
                <a16:creationId xmlns:a16="http://schemas.microsoft.com/office/drawing/2014/main" id="{B5DF1301-DDF8-4A10-9D55-15F0532FB76C}"/>
              </a:ext>
            </a:extLst>
          </p:cNvPr>
          <p:cNvCxnSpPr>
            <a:stCxn id="12" idx="3"/>
            <a:endCxn id="14" idx="1"/>
          </p:cNvCxnSpPr>
          <p:nvPr/>
        </p:nvCxnSpPr>
        <p:spPr>
          <a:xfrm>
            <a:off x="2020569" y="5290656"/>
            <a:ext cx="6499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46DA0E26-6693-42A0-805C-7DD65048140A}"/>
              </a:ext>
            </a:extLst>
          </p:cNvPr>
          <p:cNvCxnSpPr>
            <a:stCxn id="17" idx="3"/>
            <a:endCxn id="14" idx="1"/>
          </p:cNvCxnSpPr>
          <p:nvPr/>
        </p:nvCxnSpPr>
        <p:spPr>
          <a:xfrm flipV="1">
            <a:off x="2020567" y="5290656"/>
            <a:ext cx="649998" cy="10138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41734031-84A5-4038-A59D-0A21085F7223}"/>
              </a:ext>
            </a:extLst>
          </p:cNvPr>
          <p:cNvCxnSpPr>
            <a:stCxn id="13" idx="3"/>
            <a:endCxn id="18" idx="1"/>
          </p:cNvCxnSpPr>
          <p:nvPr/>
        </p:nvCxnSpPr>
        <p:spPr>
          <a:xfrm>
            <a:off x="2020568" y="5793664"/>
            <a:ext cx="649996" cy="14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6DEDEC13-9E5C-46D2-9E4C-32BE86547D61}"/>
              </a:ext>
            </a:extLst>
          </p:cNvPr>
          <p:cNvCxnSpPr>
            <a:stCxn id="13" idx="3"/>
            <a:endCxn id="19" idx="1"/>
          </p:cNvCxnSpPr>
          <p:nvPr/>
        </p:nvCxnSpPr>
        <p:spPr>
          <a:xfrm>
            <a:off x="2020568" y="5793664"/>
            <a:ext cx="649995" cy="5049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99A63087-FC1E-44FC-A417-D89A2D90D187}"/>
              </a:ext>
            </a:extLst>
          </p:cNvPr>
          <p:cNvCxnSpPr>
            <a:stCxn id="17" idx="3"/>
            <a:endCxn id="19" idx="1"/>
          </p:cNvCxnSpPr>
          <p:nvPr/>
        </p:nvCxnSpPr>
        <p:spPr>
          <a:xfrm flipV="1">
            <a:off x="2020567" y="6298626"/>
            <a:ext cx="649996" cy="58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F79F1EA-B934-4C06-B86D-165D10973DFF}"/>
              </a:ext>
            </a:extLst>
          </p:cNvPr>
          <p:cNvCxnSpPr>
            <a:stCxn id="17" idx="3"/>
            <a:endCxn id="18" idx="1"/>
          </p:cNvCxnSpPr>
          <p:nvPr/>
        </p:nvCxnSpPr>
        <p:spPr>
          <a:xfrm flipV="1">
            <a:off x="2020567" y="5795152"/>
            <a:ext cx="649997" cy="509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ホームベース 11">
            <a:extLst>
              <a:ext uri="{FF2B5EF4-FFF2-40B4-BE49-F238E27FC236}">
                <a16:creationId xmlns:a16="http://schemas.microsoft.com/office/drawing/2014/main" id="{F8863C61-64F5-4AB2-AC4A-1F40CB9E3AFE}"/>
              </a:ext>
            </a:extLst>
          </p:cNvPr>
          <p:cNvSpPr/>
          <p:nvPr/>
        </p:nvSpPr>
        <p:spPr>
          <a:xfrm>
            <a:off x="5146207" y="5577438"/>
            <a:ext cx="1773717" cy="432099"/>
          </a:xfrm>
          <a:prstGeom prst="homePlate">
            <a:avLst/>
          </a:prstGeom>
          <a:solidFill>
            <a:schemeClr val="accent2"/>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開発工数削減</a:t>
            </a:r>
          </a:p>
        </p:txBody>
      </p:sp>
      <p:cxnSp>
        <p:nvCxnSpPr>
          <p:cNvPr id="27" name="直線矢印コネクタ 26">
            <a:extLst>
              <a:ext uri="{FF2B5EF4-FFF2-40B4-BE49-F238E27FC236}">
                <a16:creationId xmlns:a16="http://schemas.microsoft.com/office/drawing/2014/main" id="{5DE715FB-DCDD-48E8-9458-9EC15D397134}"/>
              </a:ext>
            </a:extLst>
          </p:cNvPr>
          <p:cNvCxnSpPr>
            <a:stCxn id="14" idx="3"/>
            <a:endCxn id="15" idx="1"/>
          </p:cNvCxnSpPr>
          <p:nvPr/>
        </p:nvCxnSpPr>
        <p:spPr>
          <a:xfrm>
            <a:off x="4444282" y="5290656"/>
            <a:ext cx="70192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107DF370-0BB3-4148-862F-7122B0D690F5}"/>
              </a:ext>
            </a:extLst>
          </p:cNvPr>
          <p:cNvCxnSpPr>
            <a:stCxn id="18" idx="3"/>
            <a:endCxn id="26" idx="1"/>
          </p:cNvCxnSpPr>
          <p:nvPr/>
        </p:nvCxnSpPr>
        <p:spPr>
          <a:xfrm flipV="1">
            <a:off x="4444281" y="5793488"/>
            <a:ext cx="701926" cy="16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C1631DA1-4D4E-4E82-9901-5ECDFC37A454}"/>
              </a:ext>
            </a:extLst>
          </p:cNvPr>
          <p:cNvCxnSpPr>
            <a:stCxn id="19" idx="3"/>
            <a:endCxn id="26" idx="1"/>
          </p:cNvCxnSpPr>
          <p:nvPr/>
        </p:nvCxnSpPr>
        <p:spPr>
          <a:xfrm flipV="1">
            <a:off x="4444280" y="5793488"/>
            <a:ext cx="701927" cy="5051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ホームベース 15">
            <a:extLst>
              <a:ext uri="{FF2B5EF4-FFF2-40B4-BE49-F238E27FC236}">
                <a16:creationId xmlns:a16="http://schemas.microsoft.com/office/drawing/2014/main" id="{9D3B8C1F-4208-404F-87AA-FE10F6CEC9E2}"/>
              </a:ext>
            </a:extLst>
          </p:cNvPr>
          <p:cNvSpPr/>
          <p:nvPr/>
        </p:nvSpPr>
        <p:spPr>
          <a:xfrm>
            <a:off x="5146204" y="6082576"/>
            <a:ext cx="1773717" cy="432099"/>
          </a:xfrm>
          <a:prstGeom prst="homePlate">
            <a:avLst/>
          </a:prstGeom>
          <a:solidFill>
            <a:schemeClr val="accent2"/>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保守しやすい</a:t>
            </a:r>
          </a:p>
        </p:txBody>
      </p:sp>
      <p:cxnSp>
        <p:nvCxnSpPr>
          <p:cNvPr id="31" name="直線矢印コネクタ 30">
            <a:extLst>
              <a:ext uri="{FF2B5EF4-FFF2-40B4-BE49-F238E27FC236}">
                <a16:creationId xmlns:a16="http://schemas.microsoft.com/office/drawing/2014/main" id="{904BC434-35DE-42AB-A1D2-104F92FA7100}"/>
              </a:ext>
            </a:extLst>
          </p:cNvPr>
          <p:cNvCxnSpPr>
            <a:stCxn id="19" idx="3"/>
            <a:endCxn id="30" idx="1"/>
          </p:cNvCxnSpPr>
          <p:nvPr/>
        </p:nvCxnSpPr>
        <p:spPr>
          <a:xfrm>
            <a:off x="4444280" y="6298626"/>
            <a:ext cx="7019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6AAE4E41-427D-4B4B-B4FF-5994C0EF4B61}"/>
              </a:ext>
            </a:extLst>
          </p:cNvPr>
          <p:cNvCxnSpPr>
            <a:stCxn id="14" idx="3"/>
            <a:endCxn id="30" idx="1"/>
          </p:cNvCxnSpPr>
          <p:nvPr/>
        </p:nvCxnSpPr>
        <p:spPr>
          <a:xfrm>
            <a:off x="4444282" y="5290656"/>
            <a:ext cx="701922" cy="1007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1BBC4389-5D0C-480D-94C4-8C141AC30193}"/>
              </a:ext>
            </a:extLst>
          </p:cNvPr>
          <p:cNvCxnSpPr>
            <a:stCxn id="18" idx="3"/>
            <a:endCxn id="30" idx="1"/>
          </p:cNvCxnSpPr>
          <p:nvPr/>
        </p:nvCxnSpPr>
        <p:spPr>
          <a:xfrm>
            <a:off x="4444281" y="5795152"/>
            <a:ext cx="701923" cy="5034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B92D50B2-1575-4FD6-B583-1A427282A6FC}"/>
              </a:ext>
            </a:extLst>
          </p:cNvPr>
          <p:cNvCxnSpPr>
            <a:stCxn id="15" idx="3"/>
            <a:endCxn id="16" idx="1"/>
          </p:cNvCxnSpPr>
          <p:nvPr/>
        </p:nvCxnSpPr>
        <p:spPr>
          <a:xfrm>
            <a:off x="6919922" y="5290656"/>
            <a:ext cx="421797" cy="5044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E097E88-D127-476B-A971-AAE1A4CC74F7}"/>
              </a:ext>
            </a:extLst>
          </p:cNvPr>
          <p:cNvCxnSpPr>
            <a:stCxn id="26" idx="3"/>
            <a:endCxn id="16" idx="1"/>
          </p:cNvCxnSpPr>
          <p:nvPr/>
        </p:nvCxnSpPr>
        <p:spPr>
          <a:xfrm>
            <a:off x="6919924" y="5793488"/>
            <a:ext cx="421795" cy="16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A7291D75-53C0-4938-8A40-0770D3052985}"/>
              </a:ext>
            </a:extLst>
          </p:cNvPr>
          <p:cNvCxnSpPr>
            <a:stCxn id="30" idx="3"/>
            <a:endCxn id="16" idx="1"/>
          </p:cNvCxnSpPr>
          <p:nvPr/>
        </p:nvCxnSpPr>
        <p:spPr>
          <a:xfrm flipV="1">
            <a:off x="6919921" y="5795152"/>
            <a:ext cx="421798" cy="5034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2220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6"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76894"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２．</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の生産性とコスト削減効果</a:t>
            </a:r>
            <a:endParaRPr lang="ja-JP" altLang="en-US" sz="16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3</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3" name="AutoShape 6" descr="「我反正信了。」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0" name="Rectangle 3">
            <a:extLst>
              <a:ext uri="{FF2B5EF4-FFF2-40B4-BE49-F238E27FC236}">
                <a16:creationId xmlns:a16="http://schemas.microsoft.com/office/drawing/2014/main" id="{37553C6E-16E7-493F-9359-42FA66FBE416}"/>
              </a:ext>
            </a:extLst>
          </p:cNvPr>
          <p:cNvSpPr>
            <a:spLocks noChangeArrowheads="1"/>
          </p:cNvSpPr>
          <p:nvPr/>
        </p:nvSpPr>
        <p:spPr bwMode="auto">
          <a:xfrm>
            <a:off x="210343" y="1048186"/>
            <a:ext cx="8723313" cy="167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5pPr>
            <a:lvl6pPr marL="2286000" algn="l" defTabSz="914400" rtl="0" eaLnBrk="1" latinLnBrk="0" hangingPunct="1">
              <a:defRPr kumimoji="1" sz="1100" kern="1200">
                <a:solidFill>
                  <a:schemeClr val="tx1"/>
                </a:solidFill>
                <a:latin typeface="Arial" charset="0"/>
                <a:ea typeface="ＭＳ Ｐゴシック" pitchFamily="50" charset="-128"/>
                <a:cs typeface="+mn-cs"/>
              </a:defRPr>
            </a:lvl6pPr>
            <a:lvl7pPr marL="2743200" algn="l" defTabSz="914400" rtl="0" eaLnBrk="1" latinLnBrk="0" hangingPunct="1">
              <a:defRPr kumimoji="1" sz="1100" kern="1200">
                <a:solidFill>
                  <a:schemeClr val="tx1"/>
                </a:solidFill>
                <a:latin typeface="Arial" charset="0"/>
                <a:ea typeface="ＭＳ Ｐゴシック" pitchFamily="50" charset="-128"/>
                <a:cs typeface="+mn-cs"/>
              </a:defRPr>
            </a:lvl7pPr>
            <a:lvl8pPr marL="3200400" algn="l" defTabSz="914400" rtl="0" eaLnBrk="1" latinLnBrk="0" hangingPunct="1">
              <a:defRPr kumimoji="1" sz="1100" kern="1200">
                <a:solidFill>
                  <a:schemeClr val="tx1"/>
                </a:solidFill>
                <a:latin typeface="Arial" charset="0"/>
                <a:ea typeface="ＭＳ Ｐゴシック" pitchFamily="50" charset="-128"/>
                <a:cs typeface="+mn-cs"/>
              </a:defRPr>
            </a:lvl8pPr>
            <a:lvl9pPr marL="3657600" algn="l" defTabSz="914400" rtl="0" eaLnBrk="1" latinLnBrk="0" hangingPunct="1">
              <a:defRPr kumimoji="1" sz="1100" kern="1200">
                <a:solidFill>
                  <a:schemeClr val="tx1"/>
                </a:solidFill>
                <a:latin typeface="Arial" charset="0"/>
                <a:ea typeface="ＭＳ Ｐゴシック" pitchFamily="50" charset="-128"/>
                <a:cs typeface="+mn-cs"/>
              </a:defRPr>
            </a:lvl9pPr>
          </a:lstStyle>
          <a:p>
            <a:pPr eaLnBrk="1" latinLnBrk="1" hangingPunct="1">
              <a:lnSpc>
                <a:spcPct val="150000"/>
              </a:lnSpc>
              <a:spcBef>
                <a:spcPct val="25000"/>
              </a:spcBef>
            </a:pPr>
            <a:r>
              <a:rPr lang="en-US" altLang="ja-JP" sz="1600" b="1" dirty="0">
                <a:latin typeface="Meiryo UI" pitchFamily="50" charset="-128"/>
                <a:ea typeface="Meiryo UI" pitchFamily="50" charset="-128"/>
                <a:cs typeface="Meiryo UI" pitchFamily="50" charset="-128"/>
              </a:rPr>
              <a:t>EFW</a:t>
            </a:r>
            <a:r>
              <a:rPr lang="ja-JP" altLang="en-US" sz="1600" b="1" dirty="0">
                <a:latin typeface="Meiryo UI" pitchFamily="50" charset="-128"/>
                <a:ea typeface="Meiryo UI" pitchFamily="50" charset="-128"/>
                <a:cs typeface="Meiryo UI" pitchFamily="50" charset="-128"/>
              </a:rPr>
              <a:t>ソース量</a:t>
            </a:r>
            <a:r>
              <a:rPr lang="en-US" altLang="ja-JP" sz="1600" b="1" dirty="0">
                <a:latin typeface="Meiryo UI" pitchFamily="50" charset="-128"/>
                <a:ea typeface="Meiryo UI" pitchFamily="50" charset="-128"/>
                <a:cs typeface="Meiryo UI" pitchFamily="50" charset="-128"/>
              </a:rPr>
              <a:t>=(MVC</a:t>
            </a:r>
            <a:r>
              <a:rPr lang="ja-JP" altLang="en-US" sz="1600" b="1">
                <a:latin typeface="Meiryo UI" pitchFamily="50" charset="-128"/>
                <a:ea typeface="Meiryo UI" pitchFamily="50" charset="-128"/>
                <a:cs typeface="Meiryo UI" pitchFamily="50" charset="-128"/>
              </a:rPr>
              <a:t>全ソース</a:t>
            </a:r>
            <a:r>
              <a:rPr lang="en-US" altLang="ja-JP" sz="1600" b="1" dirty="0">
                <a:latin typeface="Meiryo UI" pitchFamily="50" charset="-128"/>
                <a:ea typeface="Meiryo UI" pitchFamily="50" charset="-128"/>
                <a:cs typeface="Meiryo UI" pitchFamily="50" charset="-128"/>
              </a:rPr>
              <a:t>-Entity</a:t>
            </a:r>
            <a:r>
              <a:rPr lang="ja-JP" altLang="en-US" sz="1600" b="1" dirty="0">
                <a:latin typeface="Meiryo UI" pitchFamily="50" charset="-128"/>
                <a:ea typeface="Meiryo UI" pitchFamily="50" charset="-128"/>
                <a:cs typeface="Meiryo UI" pitchFamily="50" charset="-128"/>
              </a:rPr>
              <a:t>と</a:t>
            </a:r>
            <a:r>
              <a:rPr lang="en-US" altLang="ja-JP" sz="1600" b="1" dirty="0">
                <a:latin typeface="Meiryo UI" pitchFamily="50" charset="-128"/>
                <a:ea typeface="Meiryo UI" pitchFamily="50" charset="-128"/>
                <a:cs typeface="Meiryo UI" pitchFamily="50" charset="-128"/>
              </a:rPr>
              <a:t>Bean</a:t>
            </a:r>
            <a:r>
              <a:rPr lang="ja-JP" altLang="en-US" sz="1600" b="1" dirty="0">
                <a:latin typeface="Meiryo UI" pitchFamily="50" charset="-128"/>
                <a:ea typeface="Meiryo UI" pitchFamily="50" charset="-128"/>
                <a:cs typeface="Meiryo UI" pitchFamily="50" charset="-128"/>
              </a:rPr>
              <a:t>のソース</a:t>
            </a:r>
            <a:r>
              <a:rPr lang="en-US" altLang="ja-JP" sz="1600" b="1" dirty="0">
                <a:latin typeface="Meiryo UI" pitchFamily="50" charset="-128"/>
                <a:ea typeface="Meiryo UI" pitchFamily="50" charset="-128"/>
                <a:cs typeface="Meiryo UI" pitchFamily="50" charset="-128"/>
              </a:rPr>
              <a:t>)  * </a:t>
            </a:r>
            <a:r>
              <a:rPr lang="en-US" altLang="ja-JP" sz="1600" b="1" dirty="0">
                <a:solidFill>
                  <a:schemeClr val="accent2"/>
                </a:solidFill>
                <a:latin typeface="Meiryo UI" pitchFamily="50" charset="-128"/>
                <a:ea typeface="Meiryo UI" pitchFamily="50" charset="-128"/>
                <a:cs typeface="Meiryo UI" pitchFamily="50" charset="-128"/>
              </a:rPr>
              <a:t>50%</a:t>
            </a:r>
            <a:r>
              <a:rPr lang="en-US" altLang="ja-JP" sz="1600" b="1" dirty="0">
                <a:latin typeface="Meiryo UI" pitchFamily="50" charset="-128"/>
                <a:ea typeface="Meiryo UI" pitchFamily="50" charset="-128"/>
                <a:cs typeface="Meiryo UI" pitchFamily="50" charset="-128"/>
              </a:rPr>
              <a:t>  </a:t>
            </a:r>
          </a:p>
          <a:p>
            <a:pPr eaLnBrk="1" latinLnBrk="1" hangingPunct="1">
              <a:lnSpc>
                <a:spcPct val="150000"/>
              </a:lnSpc>
              <a:spcBef>
                <a:spcPct val="25000"/>
              </a:spcBef>
            </a:pPr>
            <a:r>
              <a:rPr lang="en-US" altLang="ja-JP" sz="1600" b="1" dirty="0">
                <a:latin typeface="Meiryo UI" pitchFamily="50" charset="-128"/>
                <a:ea typeface="Meiryo UI" pitchFamily="50" charset="-128"/>
                <a:cs typeface="Meiryo UI" pitchFamily="50" charset="-128"/>
              </a:rPr>
              <a:t>EFW</a:t>
            </a:r>
            <a:r>
              <a:rPr lang="ja-JP" altLang="en-US" sz="1600" b="1" dirty="0">
                <a:latin typeface="Meiryo UI" pitchFamily="50" charset="-128"/>
                <a:ea typeface="Meiryo UI" pitchFamily="50" charset="-128"/>
                <a:cs typeface="Meiryo UI" pitchFamily="50" charset="-128"/>
              </a:rPr>
              <a:t>開発単体工数</a:t>
            </a:r>
            <a:r>
              <a:rPr lang="en-US" altLang="ja-JP" sz="1600" b="1" dirty="0">
                <a:latin typeface="Meiryo UI" pitchFamily="50" charset="-128"/>
                <a:ea typeface="Meiryo UI" pitchFamily="50" charset="-128"/>
                <a:cs typeface="Meiryo UI" pitchFamily="50" charset="-128"/>
              </a:rPr>
              <a:t>= EFW</a:t>
            </a:r>
            <a:r>
              <a:rPr lang="ja-JP" altLang="en-US" sz="1600" b="1" dirty="0">
                <a:latin typeface="Meiryo UI" pitchFamily="50" charset="-128"/>
                <a:ea typeface="Meiryo UI" pitchFamily="50" charset="-128"/>
                <a:cs typeface="Meiryo UI" pitchFamily="50" charset="-128"/>
              </a:rPr>
              <a:t>ソース量</a:t>
            </a:r>
            <a:r>
              <a:rPr lang="en-US" altLang="ja-JP" sz="1600" b="1" dirty="0">
                <a:latin typeface="Meiryo UI" pitchFamily="50" charset="-128"/>
                <a:ea typeface="Meiryo UI" pitchFamily="50" charset="-128"/>
                <a:cs typeface="Meiryo UI" pitchFamily="50" charset="-128"/>
              </a:rPr>
              <a:t>/ EFW</a:t>
            </a:r>
            <a:r>
              <a:rPr lang="ja-JP" altLang="en-US" sz="1600" b="1" dirty="0">
                <a:latin typeface="Meiryo UI" pitchFamily="50" charset="-128"/>
                <a:ea typeface="Meiryo UI" pitchFamily="50" charset="-128"/>
                <a:cs typeface="Meiryo UI" pitchFamily="50" charset="-128"/>
              </a:rPr>
              <a:t>生産性</a:t>
            </a:r>
            <a:r>
              <a:rPr lang="en-US" altLang="ja-JP" sz="1600" b="1" dirty="0">
                <a:latin typeface="Meiryo UI" pitchFamily="50" charset="-128"/>
                <a:ea typeface="Meiryo UI" pitchFamily="50" charset="-128"/>
                <a:cs typeface="Meiryo UI" pitchFamily="50" charset="-128"/>
              </a:rPr>
              <a:t>(</a:t>
            </a:r>
            <a:r>
              <a:rPr lang="en-US" altLang="ja-JP" sz="1600" b="1" dirty="0">
                <a:solidFill>
                  <a:schemeClr val="accent2"/>
                </a:solidFill>
                <a:latin typeface="Meiryo UI" pitchFamily="50" charset="-128"/>
                <a:ea typeface="Meiryo UI" pitchFamily="50" charset="-128"/>
                <a:cs typeface="Meiryo UI" pitchFamily="50" charset="-128"/>
              </a:rPr>
              <a:t>142</a:t>
            </a:r>
            <a:r>
              <a:rPr lang="ja-JP" altLang="en-US" sz="1600" b="1" dirty="0">
                <a:solidFill>
                  <a:schemeClr val="accent2"/>
                </a:solidFill>
                <a:latin typeface="Meiryo UI" pitchFamily="50" charset="-128"/>
                <a:ea typeface="Meiryo UI" pitchFamily="50" charset="-128"/>
                <a:cs typeface="Meiryo UI" pitchFamily="50" charset="-128"/>
              </a:rPr>
              <a:t>行</a:t>
            </a:r>
            <a:r>
              <a:rPr lang="en-US" altLang="ja-JP" sz="1600" b="1" dirty="0">
                <a:latin typeface="Meiryo UI" pitchFamily="50" charset="-128"/>
                <a:ea typeface="Meiryo UI" pitchFamily="50" charset="-128"/>
                <a:cs typeface="Meiryo UI" pitchFamily="50" charset="-128"/>
              </a:rPr>
              <a:t>/</a:t>
            </a:r>
            <a:r>
              <a:rPr lang="ja-JP" altLang="en-US" sz="1600" b="1" dirty="0">
                <a:latin typeface="Meiryo UI" pitchFamily="50" charset="-128"/>
                <a:ea typeface="Meiryo UI" pitchFamily="50" charset="-128"/>
                <a:cs typeface="Meiryo UI" pitchFamily="50" charset="-128"/>
              </a:rPr>
              <a:t>人日</a:t>
            </a:r>
            <a:r>
              <a:rPr lang="en-US" altLang="ja-JP" sz="1600" b="1" dirty="0">
                <a:latin typeface="Meiryo UI" pitchFamily="50" charset="-128"/>
                <a:ea typeface="Meiryo UI" pitchFamily="50" charset="-128"/>
                <a:cs typeface="Meiryo UI" pitchFamily="50" charset="-128"/>
              </a:rPr>
              <a:t>)</a:t>
            </a:r>
          </a:p>
          <a:p>
            <a:pPr eaLnBrk="1" latinLnBrk="1" hangingPunct="1">
              <a:lnSpc>
                <a:spcPct val="150000"/>
              </a:lnSpc>
              <a:spcBef>
                <a:spcPct val="25000"/>
              </a:spcBef>
            </a:pPr>
            <a:endParaRPr lang="en-US" altLang="ja-JP" sz="1500" dirty="0">
              <a:latin typeface="Meiryo UI" pitchFamily="50" charset="-128"/>
              <a:ea typeface="Meiryo UI" pitchFamily="50" charset="-128"/>
              <a:cs typeface="Meiryo UI" pitchFamily="50" charset="-128"/>
            </a:endParaRPr>
          </a:p>
          <a:p>
            <a:pPr eaLnBrk="1" latinLnBrk="1" hangingPunct="1">
              <a:lnSpc>
                <a:spcPct val="150000"/>
              </a:lnSpc>
              <a:spcBef>
                <a:spcPct val="25000"/>
              </a:spcBef>
            </a:pPr>
            <a:r>
              <a:rPr lang="ja-JP" altLang="en-US" sz="1600" dirty="0">
                <a:solidFill>
                  <a:schemeClr val="bg1">
                    <a:lumMod val="75000"/>
                  </a:schemeClr>
                </a:solidFill>
                <a:latin typeface="Meiryo UI" pitchFamily="50" charset="-128"/>
                <a:ea typeface="Meiryo UI" pitchFamily="50" charset="-128"/>
                <a:cs typeface="Meiryo UI" pitchFamily="50" charset="-128"/>
              </a:rPr>
              <a:t>コスト削減の割合について、要件定義と基本設計の割合により変わるが、以下の数字はご参考まで。</a:t>
            </a:r>
            <a:endParaRPr lang="en-US" altLang="ja-JP" sz="1600" dirty="0">
              <a:solidFill>
                <a:schemeClr val="bg1">
                  <a:lumMod val="75000"/>
                </a:schemeClr>
              </a:solidFill>
              <a:latin typeface="Meiryo UI" pitchFamily="50" charset="-128"/>
              <a:ea typeface="Meiryo UI" pitchFamily="50" charset="-128"/>
              <a:cs typeface="Meiryo UI" pitchFamily="50" charset="-128"/>
            </a:endParaRPr>
          </a:p>
        </p:txBody>
      </p:sp>
      <p:sp>
        <p:nvSpPr>
          <p:cNvPr id="2" name="正方形/長方形 1">
            <a:extLst>
              <a:ext uri="{FF2B5EF4-FFF2-40B4-BE49-F238E27FC236}">
                <a16:creationId xmlns:a16="http://schemas.microsoft.com/office/drawing/2014/main" id="{BDC42302-AEF8-4E0E-9271-3BD7CBFB5D90}"/>
              </a:ext>
            </a:extLst>
          </p:cNvPr>
          <p:cNvSpPr/>
          <p:nvPr/>
        </p:nvSpPr>
        <p:spPr>
          <a:xfrm>
            <a:off x="1121395" y="3190473"/>
            <a:ext cx="6540597" cy="477054"/>
          </a:xfrm>
          <a:prstGeom prst="rect">
            <a:avLst/>
          </a:prstGeom>
        </p:spPr>
        <p:txBody>
          <a:bodyPr wrap="square">
            <a:spAutoFit/>
          </a:bodyPr>
          <a:lstStyle/>
          <a:p>
            <a:r>
              <a:rPr lang="ja-JP" altLang="en-US" sz="2500" b="1" dirty="0">
                <a:latin typeface="Meiryo UI" pitchFamily="50" charset="-128"/>
                <a:ea typeface="Meiryo UI" pitchFamily="50" charset="-128"/>
                <a:cs typeface="Meiryo UI" pitchFamily="50" charset="-128"/>
              </a:rPr>
              <a:t>新規：</a:t>
            </a:r>
            <a:r>
              <a:rPr lang="en-US" altLang="ja-JP" sz="2500" b="1" dirty="0">
                <a:solidFill>
                  <a:srgbClr val="FF0000"/>
                </a:solidFill>
                <a:latin typeface="Meiryo UI" pitchFamily="50" charset="-128"/>
                <a:ea typeface="Meiryo UI" pitchFamily="50" charset="-128"/>
                <a:cs typeface="Meiryo UI" pitchFamily="50" charset="-128"/>
              </a:rPr>
              <a:t>30%</a:t>
            </a:r>
            <a:r>
              <a:rPr lang="ja-JP" altLang="en-US" sz="2500" b="1" dirty="0">
                <a:latin typeface="Meiryo UI" pitchFamily="50" charset="-128"/>
                <a:ea typeface="Meiryo UI" pitchFamily="50" charset="-128"/>
                <a:cs typeface="Meiryo UI" pitchFamily="50" charset="-128"/>
              </a:rPr>
              <a:t>削減</a:t>
            </a:r>
            <a:r>
              <a:rPr lang="ja-JP" altLang="en-US" sz="2500" b="1" dirty="0">
                <a:solidFill>
                  <a:srgbClr val="FF0000"/>
                </a:solidFill>
                <a:latin typeface="Meiryo UI" pitchFamily="50" charset="-128"/>
                <a:ea typeface="Meiryo UI" pitchFamily="50" charset="-128"/>
                <a:cs typeface="Meiryo UI" pitchFamily="50" charset="-128"/>
              </a:rPr>
              <a:t>　　</a:t>
            </a:r>
            <a:r>
              <a:rPr lang="ja-JP" altLang="en-US" sz="2500" b="1" dirty="0">
                <a:latin typeface="Meiryo UI" pitchFamily="50" charset="-128"/>
                <a:ea typeface="Meiryo UI" pitchFamily="50" charset="-128"/>
                <a:cs typeface="Meiryo UI" pitchFamily="50" charset="-128"/>
              </a:rPr>
              <a:t>コンバージョン：</a:t>
            </a:r>
            <a:r>
              <a:rPr lang="en-US" altLang="ja-JP" sz="2500" b="1" dirty="0">
                <a:solidFill>
                  <a:srgbClr val="FF0000"/>
                </a:solidFill>
                <a:latin typeface="Meiryo UI" pitchFamily="50" charset="-128"/>
                <a:ea typeface="Meiryo UI" pitchFamily="50" charset="-128"/>
                <a:cs typeface="Meiryo UI" pitchFamily="50" charset="-128"/>
              </a:rPr>
              <a:t>50%</a:t>
            </a:r>
            <a:r>
              <a:rPr lang="ja-JP" altLang="en-US" sz="2500" b="1" dirty="0">
                <a:latin typeface="Meiryo UI" pitchFamily="50" charset="-128"/>
                <a:ea typeface="Meiryo UI" pitchFamily="50" charset="-128"/>
                <a:cs typeface="Meiryo UI" pitchFamily="50" charset="-128"/>
              </a:rPr>
              <a:t>削減</a:t>
            </a:r>
            <a:endParaRPr lang="ja-JP" altLang="en-US" sz="2500" dirty="0"/>
          </a:p>
        </p:txBody>
      </p:sp>
    </p:spTree>
    <p:custDataLst>
      <p:tags r:id="rId1"/>
    </p:custDataLst>
    <p:extLst>
      <p:ext uri="{BB962C8B-B14F-4D97-AF65-F5344CB8AC3E}">
        <p14:creationId xmlns:p14="http://schemas.microsoft.com/office/powerpoint/2010/main" val="340684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5"/>
          <p:cNvSpPr txBox="1">
            <a:spLocks noChangeArrowheads="1"/>
          </p:cNvSpPr>
          <p:nvPr/>
        </p:nvSpPr>
        <p:spPr bwMode="auto">
          <a:xfrm>
            <a:off x="215211" y="4127164"/>
            <a:ext cx="8579385"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ja-JP" altLang="en-US" sz="1600" dirty="0">
                <a:solidFill>
                  <a:schemeClr val="bg1">
                    <a:lumMod val="50000"/>
                  </a:schemeClr>
                </a:solidFill>
                <a:latin typeface="Meiryo UI" pitchFamily="50" charset="-128"/>
                <a:ea typeface="Meiryo UI" pitchFamily="50" charset="-128"/>
                <a:cs typeface="Meiryo UI" pitchFamily="50" charset="-128"/>
              </a:rPr>
              <a:t>そして、従来の</a:t>
            </a:r>
            <a:r>
              <a:rPr lang="en-US" altLang="ja-JP" sz="1600" dirty="0">
                <a:solidFill>
                  <a:schemeClr val="bg1">
                    <a:lumMod val="50000"/>
                  </a:schemeClr>
                </a:solidFill>
                <a:latin typeface="Meiryo UI" pitchFamily="50" charset="-128"/>
                <a:ea typeface="Meiryo UI" pitchFamily="50" charset="-128"/>
                <a:cs typeface="Meiryo UI" pitchFamily="50" charset="-128"/>
              </a:rPr>
              <a:t>WEB</a:t>
            </a:r>
            <a:r>
              <a:rPr lang="ja-JP" altLang="en-US" sz="1600" dirty="0">
                <a:solidFill>
                  <a:schemeClr val="bg1">
                    <a:lumMod val="50000"/>
                  </a:schemeClr>
                </a:solidFill>
                <a:latin typeface="Meiryo UI" pitchFamily="50" charset="-128"/>
                <a:ea typeface="Meiryo UI" pitchFamily="50" charset="-128"/>
                <a:cs typeface="Meiryo UI" pitchFamily="50" charset="-128"/>
              </a:rPr>
              <a:t>開発において、よく存在する以下の現象は問題と見なせます。</a:t>
            </a:r>
            <a:endParaRPr lang="en-US" altLang="ja-JP" sz="1600" dirty="0">
              <a:solidFill>
                <a:schemeClr val="bg1">
                  <a:lumMod val="50000"/>
                </a:schemeClr>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endParaRPr lang="en-US" altLang="ja-JP" sz="1600" dirty="0">
              <a:solidFill>
                <a:schemeClr val="bg1">
                  <a:lumMod val="50000"/>
                </a:schemeClr>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FF0000"/>
                </a:solidFill>
                <a:latin typeface="Meiryo UI" pitchFamily="50" charset="-128"/>
                <a:ea typeface="Meiryo UI" pitchFamily="50" charset="-128"/>
                <a:cs typeface="Meiryo UI" pitchFamily="50" charset="-128"/>
              </a:rPr>
              <a:t>問題</a:t>
            </a:r>
            <a:r>
              <a:rPr lang="ja-JP" altLang="en-US" sz="2000" dirty="0">
                <a:solidFill>
                  <a:schemeClr val="accent2"/>
                </a:solidFill>
                <a:latin typeface="Meiryo UI" pitchFamily="50" charset="-128"/>
                <a:ea typeface="Meiryo UI" pitchFamily="50" charset="-128"/>
                <a:cs typeface="Meiryo UI" pitchFamily="50" charset="-128"/>
              </a:rPr>
              <a:t>１、</a:t>
            </a:r>
            <a:r>
              <a:rPr lang="ja-JP" altLang="en-US" sz="2000" dirty="0">
                <a:latin typeface="Meiryo UI" pitchFamily="50" charset="-128"/>
                <a:ea typeface="Meiryo UI" pitchFamily="50" charset="-128"/>
                <a:cs typeface="Meiryo UI" pitchFamily="50" charset="-128"/>
              </a:rPr>
              <a:t>仕様書の１行に対して、プログラムは数十行で組まないといけない。</a:t>
            </a:r>
            <a:endParaRPr lang="en-US" altLang="ja-JP" sz="20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endParaRPr lang="en-US" altLang="ja-JP" sz="16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FF0000"/>
                </a:solidFill>
                <a:latin typeface="Meiryo UI" pitchFamily="50" charset="-128"/>
                <a:ea typeface="Meiryo UI" pitchFamily="50" charset="-128"/>
                <a:cs typeface="Meiryo UI" pitchFamily="50" charset="-128"/>
              </a:rPr>
              <a:t>問題</a:t>
            </a:r>
            <a:r>
              <a:rPr lang="ja-JP" altLang="en-US" sz="2000" dirty="0">
                <a:solidFill>
                  <a:schemeClr val="accent2"/>
                </a:solidFill>
                <a:latin typeface="Meiryo UI" pitchFamily="50" charset="-128"/>
                <a:ea typeface="Meiryo UI" pitchFamily="50" charset="-128"/>
                <a:cs typeface="Meiryo UI" pitchFamily="50" charset="-128"/>
              </a:rPr>
              <a:t>２、</a:t>
            </a:r>
            <a:r>
              <a:rPr lang="ja-JP" altLang="en-US" sz="2000" dirty="0">
                <a:latin typeface="Meiryo UI" pitchFamily="50" charset="-128"/>
                <a:ea typeface="Meiryo UI" pitchFamily="50" charset="-128"/>
                <a:cs typeface="Meiryo UI" pitchFamily="50" charset="-128"/>
              </a:rPr>
              <a:t>仕様書の明瞭な処理順番に対して、プログラムはあちこちに遷移し、</a:t>
            </a:r>
            <a:endParaRPr lang="en-US" altLang="ja-JP" sz="20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latin typeface="Meiryo UI" pitchFamily="50" charset="-128"/>
                <a:ea typeface="Meiryo UI" pitchFamily="50" charset="-128"/>
                <a:cs typeface="Meiryo UI" pitchFamily="50" charset="-128"/>
              </a:rPr>
              <a:t>　　 　　　プロではないと処理順番をはっきり読み取れない。</a:t>
            </a:r>
            <a:endParaRPr lang="en-US" altLang="ja-JP" sz="2000" dirty="0">
              <a:latin typeface="Meiryo UI" pitchFamily="50" charset="-128"/>
              <a:ea typeface="Meiryo UI" pitchFamily="50" charset="-128"/>
              <a:cs typeface="Meiryo UI" pitchFamily="50" charset="-128"/>
            </a:endParaRPr>
          </a:p>
        </p:txBody>
      </p:sp>
      <p:sp>
        <p:nvSpPr>
          <p:cNvPr id="4098" name="タイトル 1"/>
          <p:cNvSpPr>
            <a:spLocks noGrp="1"/>
          </p:cNvSpPr>
          <p:nvPr>
            <p:ph type="title" idx="4294967295"/>
          </p:nvPr>
        </p:nvSpPr>
        <p:spPr>
          <a:xfrm>
            <a:off x="276894"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３．プログラムの可読性</a:t>
            </a: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4</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137" name="テキスト ボックス 5"/>
          <p:cNvSpPr txBox="1">
            <a:spLocks noChangeArrowheads="1"/>
          </p:cNvSpPr>
          <p:nvPr/>
        </p:nvSpPr>
        <p:spPr bwMode="auto">
          <a:xfrm>
            <a:off x="223092" y="1005408"/>
            <a:ext cx="85793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ja-JP" altLang="en-US" sz="2000" dirty="0">
                <a:latin typeface="Meiryo UI" pitchFamily="50" charset="-128"/>
                <a:ea typeface="Meiryo UI" pitchFamily="50" charset="-128"/>
                <a:cs typeface="Meiryo UI" pitchFamily="50" charset="-128"/>
              </a:rPr>
              <a:t>プログラムの可読性とは、プログラムの</a:t>
            </a:r>
            <a:r>
              <a:rPr lang="ja-JP" altLang="en-US" sz="2000" b="1" dirty="0">
                <a:solidFill>
                  <a:schemeClr val="accent2"/>
                </a:solidFill>
                <a:latin typeface="Meiryo UI" pitchFamily="50" charset="-128"/>
                <a:ea typeface="Meiryo UI" pitchFamily="50" charset="-128"/>
                <a:cs typeface="Meiryo UI" pitchFamily="50" charset="-128"/>
              </a:rPr>
              <a:t>目的</a:t>
            </a:r>
            <a:r>
              <a:rPr lang="ja-JP" altLang="en-US" sz="2000" dirty="0">
                <a:latin typeface="Meiryo UI" pitchFamily="50" charset="-128"/>
                <a:ea typeface="Meiryo UI" pitchFamily="50" charset="-128"/>
                <a:cs typeface="Meiryo UI" pitchFamily="50" charset="-128"/>
              </a:rPr>
              <a:t>や</a:t>
            </a:r>
            <a:r>
              <a:rPr lang="ja-JP" altLang="en-US" sz="2000" b="1" dirty="0">
                <a:solidFill>
                  <a:schemeClr val="accent2"/>
                </a:solidFill>
                <a:latin typeface="Meiryo UI" pitchFamily="50" charset="-128"/>
                <a:ea typeface="Meiryo UI" pitchFamily="50" charset="-128"/>
                <a:cs typeface="Meiryo UI" pitchFamily="50" charset="-128"/>
              </a:rPr>
              <a:t>処理の流れ</a:t>
            </a:r>
            <a:r>
              <a:rPr lang="ja-JP" altLang="en-US" sz="2000" dirty="0">
                <a:latin typeface="Meiryo UI" pitchFamily="50" charset="-128"/>
                <a:ea typeface="Meiryo UI" pitchFamily="50" charset="-128"/>
                <a:cs typeface="Meiryo UI" pitchFamily="50" charset="-128"/>
              </a:rPr>
              <a:t>の理解しやすさを指している。　　</a:t>
            </a:r>
            <a:r>
              <a:rPr lang="en-US" altLang="ja-JP" sz="1600" dirty="0">
                <a:solidFill>
                  <a:schemeClr val="bg1">
                    <a:lumMod val="65000"/>
                  </a:schemeClr>
                </a:solidFill>
                <a:latin typeface="Meiryo UI" pitchFamily="50" charset="-128"/>
                <a:ea typeface="Meiryo UI" pitchFamily="50" charset="-128"/>
                <a:cs typeface="Meiryo UI" pitchFamily="50" charset="-128"/>
              </a:rPr>
              <a:t>(From : wiki/</a:t>
            </a:r>
            <a:r>
              <a:rPr lang="ja-JP" altLang="en-US" sz="1600" dirty="0">
                <a:solidFill>
                  <a:schemeClr val="bg1">
                    <a:lumMod val="65000"/>
                  </a:schemeClr>
                </a:solidFill>
                <a:latin typeface="Meiryo UI" pitchFamily="50" charset="-128"/>
                <a:ea typeface="Meiryo UI" pitchFamily="50" charset="-128"/>
                <a:cs typeface="Meiryo UI" pitchFamily="50" charset="-128"/>
              </a:rPr>
              <a:t>可読性</a:t>
            </a:r>
            <a:r>
              <a:rPr lang="en-US" altLang="ja-JP" sz="1600" dirty="0">
                <a:solidFill>
                  <a:schemeClr val="bg1">
                    <a:lumMod val="65000"/>
                  </a:schemeClr>
                </a:solidFill>
                <a:latin typeface="Meiryo UI" pitchFamily="50" charset="-128"/>
                <a:ea typeface="Meiryo UI" pitchFamily="50" charset="-128"/>
                <a:cs typeface="Meiryo UI" pitchFamily="50" charset="-128"/>
              </a:rPr>
              <a:t>)</a:t>
            </a:r>
          </a:p>
        </p:txBody>
      </p:sp>
      <p:sp>
        <p:nvSpPr>
          <p:cNvPr id="3" name="AutoShape 6" descr="「我反正信了。」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026" name="Picture 2" descr="「BUG」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251" y="4705502"/>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UG」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503" y="5414537"/>
            <a:ext cx="540000" cy="540000"/>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5"/>
          <p:cNvSpPr txBox="1">
            <a:spLocks noChangeArrowheads="1"/>
          </p:cNvSpPr>
          <p:nvPr/>
        </p:nvSpPr>
        <p:spPr bwMode="auto">
          <a:xfrm>
            <a:off x="215210" y="1841892"/>
            <a:ext cx="8579385"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ja-JP" altLang="en-US" sz="1600" dirty="0">
                <a:solidFill>
                  <a:schemeClr val="bg1">
                    <a:lumMod val="65000"/>
                  </a:schemeClr>
                </a:solidFill>
                <a:latin typeface="Meiryo UI" pitchFamily="50" charset="-128"/>
                <a:ea typeface="Meiryo UI" pitchFamily="50" charset="-128"/>
                <a:cs typeface="Meiryo UI" pitchFamily="50" charset="-128"/>
              </a:rPr>
              <a:t>その「理解しやすさ」は、以下のように考えられます。</a:t>
            </a:r>
            <a:endParaRPr lang="en-US" altLang="ja-JP" sz="1600" dirty="0">
              <a:solidFill>
                <a:schemeClr val="bg1">
                  <a:lumMod val="65000"/>
                </a:schemeClr>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b="1" dirty="0">
                <a:solidFill>
                  <a:schemeClr val="accent2"/>
                </a:solidFill>
                <a:latin typeface="Meiryo UI" pitchFamily="50" charset="-128"/>
                <a:ea typeface="Meiryo UI" pitchFamily="50" charset="-128"/>
                <a:cs typeface="Meiryo UI" pitchFamily="50" charset="-128"/>
              </a:rPr>
              <a:t>・目的の理解しやすさ</a:t>
            </a:r>
            <a:endParaRPr lang="en-US" altLang="ja-JP" sz="2000" b="1" dirty="0">
              <a:solidFill>
                <a:schemeClr val="accent2"/>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0000FF"/>
                </a:solidFill>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プログラムの粒度は、設計書の粒度とマッピングしやすいか否か</a:t>
            </a:r>
            <a:endParaRPr lang="en-US" altLang="ja-JP" sz="20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b="1" dirty="0">
                <a:solidFill>
                  <a:schemeClr val="accent2"/>
                </a:solidFill>
                <a:latin typeface="Meiryo UI" pitchFamily="50" charset="-128"/>
                <a:ea typeface="Meiryo UI" pitchFamily="50" charset="-128"/>
                <a:cs typeface="Meiryo UI" pitchFamily="50" charset="-128"/>
              </a:rPr>
              <a:t>・処理流れの理解しやすさ</a:t>
            </a:r>
            <a:endParaRPr lang="en-US" altLang="ja-JP" sz="2000" b="1" dirty="0">
              <a:solidFill>
                <a:schemeClr val="accent2"/>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0000FF"/>
                </a:solidFill>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プログラムの記載順番は、設計書の記載順番とマッピングしやすいか否か</a:t>
            </a:r>
          </a:p>
        </p:txBody>
      </p:sp>
    </p:spTree>
    <p:custDataLst>
      <p:tags r:id="rId1"/>
    </p:custDataLst>
    <p:extLst>
      <p:ext uri="{BB962C8B-B14F-4D97-AF65-F5344CB8AC3E}">
        <p14:creationId xmlns:p14="http://schemas.microsoft.com/office/powerpoint/2010/main" val="201235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53" presetClass="entr" presetSubtype="16"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p:cTn id="15" dur="500" fill="hold"/>
                                        <p:tgtEl>
                                          <p:spTgt spid="1026"/>
                                        </p:tgtEl>
                                        <p:attrNameLst>
                                          <p:attrName>ppt_w</p:attrName>
                                        </p:attrNameLst>
                                      </p:cBhvr>
                                      <p:tavLst>
                                        <p:tav tm="0">
                                          <p:val>
                                            <p:fltVal val="0"/>
                                          </p:val>
                                        </p:tav>
                                        <p:tav tm="100000">
                                          <p:val>
                                            <p:strVal val="#ppt_w"/>
                                          </p:val>
                                        </p:tav>
                                      </p:tavLst>
                                    </p:anim>
                                    <p:anim calcmode="lin" valueType="num">
                                      <p:cBhvr>
                                        <p:cTn id="16" dur="500" fill="hold"/>
                                        <p:tgtEl>
                                          <p:spTgt spid="1026"/>
                                        </p:tgtEl>
                                        <p:attrNameLst>
                                          <p:attrName>ppt_h</p:attrName>
                                        </p:attrNameLst>
                                      </p:cBhvr>
                                      <p:tavLst>
                                        <p:tav tm="0">
                                          <p:val>
                                            <p:fltVal val="0"/>
                                          </p:val>
                                        </p:tav>
                                        <p:tav tm="100000">
                                          <p:val>
                                            <p:strVal val="#ppt_h"/>
                                          </p:val>
                                        </p:tav>
                                      </p:tavLst>
                                    </p:anim>
                                    <p:animEffect transition="in" filter="fade">
                                      <p:cBhvr>
                                        <p:cTn id="17" dur="500"/>
                                        <p:tgtEl>
                                          <p:spTgt spid="1026"/>
                                        </p:tgtEl>
                                      </p:cBhvr>
                                    </p:animEffect>
                                  </p:childTnLst>
                                </p:cTn>
                              </p:par>
                              <p:par>
                                <p:cTn id="18" presetID="53" presetClass="entr" presetSubtype="16"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51136"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４－１．従来の</a:t>
            </a:r>
            <a:r>
              <a:rPr lang="en-US" altLang="ja-JP" sz="2800" dirty="0">
                <a:solidFill>
                  <a:schemeClr val="tx2"/>
                </a:solidFill>
                <a:latin typeface="Meiryo UI" pitchFamily="50" charset="-128"/>
                <a:ea typeface="Meiryo UI" pitchFamily="50" charset="-128"/>
                <a:cs typeface="Meiryo UI" pitchFamily="50" charset="-128"/>
              </a:rPr>
              <a:t>WEB</a:t>
            </a:r>
            <a:r>
              <a:rPr lang="ja-JP" altLang="en-US" sz="2800" dirty="0">
                <a:solidFill>
                  <a:schemeClr val="tx2"/>
                </a:solidFill>
                <a:latin typeface="Meiryo UI" pitchFamily="50" charset="-128"/>
                <a:ea typeface="Meiryo UI" pitchFamily="50" charset="-128"/>
                <a:cs typeface="Meiryo UI" pitchFamily="50" charset="-128"/>
              </a:rPr>
              <a:t>開発における問題</a:t>
            </a:r>
            <a:r>
              <a:rPr lang="en-US" altLang="ja-JP" sz="2800" dirty="0">
                <a:solidFill>
                  <a:schemeClr val="tx2"/>
                </a:solidFill>
                <a:latin typeface="Meiryo UI" pitchFamily="50" charset="-128"/>
                <a:ea typeface="Meiryo UI" pitchFamily="50" charset="-128"/>
                <a:cs typeface="Meiryo UI" pitchFamily="50" charset="-128"/>
              </a:rPr>
              <a:t>1</a:t>
            </a:r>
            <a:endParaRPr lang="ja-JP" altLang="en-US" sz="28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5</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 name="AutoShape 4" descr="「暴走」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5" name="AutoShape 6" descr="「暴走」の画像検索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6" name="正方形/長方形 5"/>
          <p:cNvSpPr/>
          <p:nvPr/>
        </p:nvSpPr>
        <p:spPr>
          <a:xfrm>
            <a:off x="251136" y="1380019"/>
            <a:ext cx="3105416" cy="5204059"/>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ユーザマスタから以下の条件で以下項目を取得し画面の対応項目に表示する。</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条件：</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ログインアカウント</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取得項目：</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ユーザ名</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パスワード</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メールアドレス</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前回ログイン日時</a:t>
            </a: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テキスト ボックス 6"/>
          <p:cNvSpPr txBox="1"/>
          <p:nvPr/>
        </p:nvSpPr>
        <p:spPr>
          <a:xfrm>
            <a:off x="307973"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基本設計</a:t>
            </a:r>
          </a:p>
        </p:txBody>
      </p:sp>
      <p:grpSp>
        <p:nvGrpSpPr>
          <p:cNvPr id="8" name="グループ化 7"/>
          <p:cNvGrpSpPr/>
          <p:nvPr/>
        </p:nvGrpSpPr>
        <p:grpSpPr>
          <a:xfrm>
            <a:off x="782106" y="1040827"/>
            <a:ext cx="8145434" cy="5529322"/>
            <a:chOff x="782106" y="1040827"/>
            <a:chExt cx="8145434" cy="5529322"/>
          </a:xfrm>
        </p:grpSpPr>
        <p:sp>
          <p:nvSpPr>
            <p:cNvPr id="18" name="テキスト ボックス 17"/>
            <p:cNvSpPr txBox="1"/>
            <p:nvPr/>
          </p:nvSpPr>
          <p:spPr>
            <a:xfrm>
              <a:off x="3460568"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sp>
          <p:nvSpPr>
            <p:cNvPr id="21" name="正方形/長方形 20"/>
            <p:cNvSpPr/>
            <p:nvPr/>
          </p:nvSpPr>
          <p:spPr>
            <a:xfrm>
              <a:off x="3460568" y="1366089"/>
              <a:ext cx="3877765" cy="3291215"/>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User.xml</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 id=“getUserByAccount”&gt;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select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username,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password,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mailaddress,</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lastlogindate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from </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m_user</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where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userid=:account</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&lt;/sql&gt;</a:t>
              </a:r>
            </a:p>
          </p:txBody>
        </p:sp>
        <p:sp>
          <p:nvSpPr>
            <p:cNvPr id="19" name="正方形/長方形 18"/>
            <p:cNvSpPr/>
            <p:nvPr/>
          </p:nvSpPr>
          <p:spPr>
            <a:xfrm>
              <a:off x="5355655" y="2088818"/>
              <a:ext cx="3571885" cy="2716541"/>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UserBean.java</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Public class UserBean{</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private 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public String getUserId(){</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userId;</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public void setUserId(String value){</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userId=value;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p:cNvSpPr/>
            <p:nvPr/>
          </p:nvSpPr>
          <p:spPr>
            <a:xfrm>
              <a:off x="5026021" y="4265348"/>
              <a:ext cx="2951403" cy="1995988"/>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UserDAO.java</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正方形/長方形 23"/>
            <p:cNvSpPr/>
            <p:nvPr/>
          </p:nvSpPr>
          <p:spPr>
            <a:xfrm>
              <a:off x="3591631" y="4734578"/>
              <a:ext cx="3197963" cy="1835571"/>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UserModel.java</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正方形/長方形 21"/>
            <p:cNvSpPr/>
            <p:nvPr/>
          </p:nvSpPr>
          <p:spPr>
            <a:xfrm>
              <a:off x="2226541" y="5064558"/>
              <a:ext cx="3197963" cy="1505591"/>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UserControl.java</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正方形/長方形 24"/>
            <p:cNvSpPr/>
            <p:nvPr/>
          </p:nvSpPr>
          <p:spPr>
            <a:xfrm>
              <a:off x="782106" y="5377979"/>
              <a:ext cx="3197963" cy="1192170"/>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userInput.jsp</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grpSp>
    </p:spTree>
    <p:custDataLst>
      <p:tags r:id="rId1"/>
    </p:custDataLst>
    <p:extLst>
      <p:ext uri="{BB962C8B-B14F-4D97-AF65-F5344CB8AC3E}">
        <p14:creationId xmlns:p14="http://schemas.microsoft.com/office/powerpoint/2010/main" val="214681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78" y="1168221"/>
            <a:ext cx="5296359" cy="51531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グループ化 1"/>
          <p:cNvGrpSpPr/>
          <p:nvPr/>
        </p:nvGrpSpPr>
        <p:grpSpPr>
          <a:xfrm>
            <a:off x="146650" y="898951"/>
            <a:ext cx="3658729" cy="5645068"/>
            <a:chOff x="146650" y="898951"/>
            <a:chExt cx="3658729" cy="5645068"/>
          </a:xfrm>
        </p:grpSpPr>
        <p:sp>
          <p:nvSpPr>
            <p:cNvPr id="9" name="正方形/長方形 8"/>
            <p:cNvSpPr/>
            <p:nvPr/>
          </p:nvSpPr>
          <p:spPr>
            <a:xfrm>
              <a:off x="194452" y="1159423"/>
              <a:ext cx="3610927" cy="5384596"/>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 name="直線コネクタ 10"/>
            <p:cNvCxnSpPr/>
            <p:nvPr/>
          </p:nvCxnSpPr>
          <p:spPr>
            <a:xfrm>
              <a:off x="30092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12947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正方形/長方形 12"/>
            <p:cNvSpPr/>
            <p:nvPr/>
          </p:nvSpPr>
          <p:spPr>
            <a:xfrm>
              <a:off x="2537503" y="1241412"/>
              <a:ext cx="971550"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サーバ</a:t>
              </a:r>
            </a:p>
          </p:txBody>
        </p:sp>
        <p:sp>
          <p:nvSpPr>
            <p:cNvPr id="14" name="正方形/長方形 13"/>
            <p:cNvSpPr/>
            <p:nvPr/>
          </p:nvSpPr>
          <p:spPr>
            <a:xfrm>
              <a:off x="1175428" y="1755762"/>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15" name="直線矢印コネクタ 14"/>
            <p:cNvCxnSpPr/>
            <p:nvPr/>
          </p:nvCxnSpPr>
          <p:spPr>
            <a:xfrm>
              <a:off x="1384978" y="193673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p:cNvSpPr/>
            <p:nvPr/>
          </p:nvSpPr>
          <p:spPr>
            <a:xfrm>
              <a:off x="1527852" y="1723087"/>
              <a:ext cx="1419226" cy="236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顧客重複チェック</a:t>
              </a:r>
            </a:p>
          </p:txBody>
        </p:sp>
        <p:sp>
          <p:nvSpPr>
            <p:cNvPr id="17" name="正方形/長方形 16"/>
            <p:cNvSpPr/>
            <p:nvPr/>
          </p:nvSpPr>
          <p:spPr>
            <a:xfrm>
              <a:off x="1560451" y="1955789"/>
              <a:ext cx="1312338" cy="323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チェック結果返却</a:t>
              </a:r>
            </a:p>
          </p:txBody>
        </p:sp>
        <p:sp>
          <p:nvSpPr>
            <p:cNvPr id="18" name="正方形/長方形 17"/>
            <p:cNvSpPr/>
            <p:nvPr/>
          </p:nvSpPr>
          <p:spPr>
            <a:xfrm>
              <a:off x="1708828" y="2412987"/>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顧客情報登録</a:t>
              </a:r>
            </a:p>
          </p:txBody>
        </p:sp>
        <p:cxnSp>
          <p:nvCxnSpPr>
            <p:cNvPr id="19" name="直線矢印コネクタ 18"/>
            <p:cNvCxnSpPr/>
            <p:nvPr/>
          </p:nvCxnSpPr>
          <p:spPr>
            <a:xfrm flipH="1">
              <a:off x="1375453" y="307973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p:cNvSpPr/>
            <p:nvPr/>
          </p:nvSpPr>
          <p:spPr>
            <a:xfrm>
              <a:off x="1708828" y="2651781"/>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21" name="正方形/長方形 20"/>
            <p:cNvSpPr/>
            <p:nvPr/>
          </p:nvSpPr>
          <p:spPr>
            <a:xfrm>
              <a:off x="1175428" y="2813037"/>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2" name="正方形/長方形 21"/>
            <p:cNvSpPr/>
            <p:nvPr/>
          </p:nvSpPr>
          <p:spPr>
            <a:xfrm>
              <a:off x="832528" y="1231887"/>
              <a:ext cx="1062339"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クライアント</a:t>
              </a:r>
            </a:p>
          </p:txBody>
        </p:sp>
        <p:sp>
          <p:nvSpPr>
            <p:cNvPr id="23" name="正方形/長方形 22"/>
            <p:cNvSpPr/>
            <p:nvPr/>
          </p:nvSpPr>
          <p:spPr>
            <a:xfrm>
              <a:off x="1184953" y="3917937"/>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4" name="正方形/長方形 23"/>
            <p:cNvSpPr/>
            <p:nvPr/>
          </p:nvSpPr>
          <p:spPr>
            <a:xfrm>
              <a:off x="2908978" y="3917937"/>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25" name="直線矢印コネクタ 24"/>
            <p:cNvCxnSpPr/>
            <p:nvPr/>
          </p:nvCxnSpPr>
          <p:spPr>
            <a:xfrm>
              <a:off x="1394503" y="409891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1651678" y="3789350"/>
              <a:ext cx="1068872" cy="333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dirty="0">
                  <a:solidFill>
                    <a:schemeClr val="tx1"/>
                  </a:solidFill>
                </a:rPr>
                <a:t>他人操作有無</a:t>
              </a:r>
              <a:r>
                <a:rPr kumimoji="1" lang="ja-JP" altLang="en-US" sz="1100" dirty="0">
                  <a:solidFill>
                    <a:schemeClr val="tx1"/>
                  </a:solidFill>
                </a:rPr>
                <a:t>チェック</a:t>
              </a:r>
            </a:p>
          </p:txBody>
        </p:sp>
        <p:cxnSp>
          <p:nvCxnSpPr>
            <p:cNvPr id="27" name="直線矢印コネクタ 26"/>
            <p:cNvCxnSpPr/>
            <p:nvPr/>
          </p:nvCxnSpPr>
          <p:spPr>
            <a:xfrm flipH="1">
              <a:off x="1384978" y="44418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1552000" y="4194162"/>
              <a:ext cx="1304925" cy="234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latin typeface="+mn-lt"/>
                  <a:ea typeface="+mn-ea"/>
                  <a:cs typeface="+mn-cs"/>
                </a:rPr>
                <a:t>チェック結果</a:t>
              </a:r>
              <a:r>
                <a:rPr kumimoji="1" lang="ja-JP" altLang="en-US" sz="1100" dirty="0">
                  <a:solidFill>
                    <a:schemeClr val="tx1"/>
                  </a:solidFill>
                </a:rPr>
                <a:t>返却</a:t>
              </a:r>
            </a:p>
          </p:txBody>
        </p:sp>
        <p:sp>
          <p:nvSpPr>
            <p:cNvPr id="29" name="正方形/長方形 28"/>
            <p:cNvSpPr/>
            <p:nvPr/>
          </p:nvSpPr>
          <p:spPr>
            <a:xfrm>
              <a:off x="2908978" y="4689462"/>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30" name="直線矢印コネクタ 29"/>
            <p:cNvCxnSpPr/>
            <p:nvPr/>
          </p:nvCxnSpPr>
          <p:spPr>
            <a:xfrm>
              <a:off x="1384978" y="480376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1642153" y="4575162"/>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顧客情報更新</a:t>
              </a:r>
            </a:p>
          </p:txBody>
        </p:sp>
        <p:cxnSp>
          <p:nvCxnSpPr>
            <p:cNvPr id="32" name="直線矢印コネクタ 31"/>
            <p:cNvCxnSpPr/>
            <p:nvPr/>
          </p:nvCxnSpPr>
          <p:spPr>
            <a:xfrm flipH="1">
              <a:off x="1384978" y="52419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p:cNvSpPr/>
            <p:nvPr/>
          </p:nvSpPr>
          <p:spPr>
            <a:xfrm>
              <a:off x="1718353" y="4826835"/>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34" name="正方形/長方形 33"/>
            <p:cNvSpPr/>
            <p:nvPr/>
          </p:nvSpPr>
          <p:spPr>
            <a:xfrm>
              <a:off x="1184953" y="4975212"/>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5" name="正方形/長方形 34"/>
            <p:cNvSpPr/>
            <p:nvPr/>
          </p:nvSpPr>
          <p:spPr>
            <a:xfrm>
              <a:off x="2908978" y="1774812"/>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6" name="正方形/長方形 35"/>
            <p:cNvSpPr/>
            <p:nvPr/>
          </p:nvSpPr>
          <p:spPr>
            <a:xfrm>
              <a:off x="2908978" y="2546337"/>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7" name="正方形/長方形 36"/>
            <p:cNvSpPr/>
            <p:nvPr/>
          </p:nvSpPr>
          <p:spPr>
            <a:xfrm>
              <a:off x="289603" y="1656840"/>
              <a:ext cx="3362325"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8" name="正方形/長方形 37"/>
            <p:cNvSpPr/>
            <p:nvPr/>
          </p:nvSpPr>
          <p:spPr>
            <a:xfrm>
              <a:off x="289603" y="3723765"/>
              <a:ext cx="3362325" cy="273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9" name="正方形/長方形 38"/>
            <p:cNvSpPr/>
            <p:nvPr/>
          </p:nvSpPr>
          <p:spPr>
            <a:xfrm>
              <a:off x="270553" y="1679562"/>
              <a:ext cx="90487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新規モード</a:t>
              </a:r>
              <a:endParaRPr kumimoji="1" lang="ja-JP" altLang="en-US" sz="1100" dirty="0">
                <a:solidFill>
                  <a:schemeClr val="tx1"/>
                </a:solidFill>
              </a:endParaRPr>
            </a:p>
          </p:txBody>
        </p:sp>
        <p:sp>
          <p:nvSpPr>
            <p:cNvPr id="40" name="正方形/長方形 39"/>
            <p:cNvSpPr/>
            <p:nvPr/>
          </p:nvSpPr>
          <p:spPr>
            <a:xfrm>
              <a:off x="266534" y="3705872"/>
              <a:ext cx="942767" cy="219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更新モード</a:t>
              </a:r>
              <a:endParaRPr kumimoji="1" lang="ja-JP" altLang="en-US" sz="1100" dirty="0">
                <a:solidFill>
                  <a:schemeClr val="tx1"/>
                </a:solidFill>
              </a:endParaRPr>
            </a:p>
          </p:txBody>
        </p:sp>
        <p:sp>
          <p:nvSpPr>
            <p:cNvPr id="41" name="テキスト ボックス 40"/>
            <p:cNvSpPr txBox="1"/>
            <p:nvPr/>
          </p:nvSpPr>
          <p:spPr>
            <a:xfrm>
              <a:off x="146650" y="898951"/>
              <a:ext cx="1978027" cy="338554"/>
            </a:xfrm>
            <a:prstGeom prst="rect">
              <a:avLst/>
            </a:prstGeom>
            <a:noFill/>
          </p:spPr>
          <p:txBody>
            <a:bodyPr wrap="square" rtlCol="0">
              <a:spAutoFit/>
            </a:bodyPr>
            <a:lstStyle/>
            <a:p>
              <a:r>
                <a:rPr lang="ja-JP" altLang="en-US" sz="1600" dirty="0">
                  <a:latin typeface="Meiryo UI" panose="020B0604030504040204" pitchFamily="50" charset="-128"/>
                  <a:ea typeface="Meiryo UI" panose="020B0604030504040204" pitchFamily="50" charset="-128"/>
                  <a:cs typeface="Meiryo UI" panose="020B0604030504040204" pitchFamily="50" charset="-128"/>
                </a:rPr>
                <a:t>基本</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設計</a:t>
              </a:r>
            </a:p>
          </p:txBody>
        </p:sp>
        <p:cxnSp>
          <p:nvCxnSpPr>
            <p:cNvPr id="42" name="直線矢印コネクタ 41"/>
            <p:cNvCxnSpPr/>
            <p:nvPr/>
          </p:nvCxnSpPr>
          <p:spPr>
            <a:xfrm flipH="1">
              <a:off x="1369114" y="228882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a:off x="1369114" y="265077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グループ化 2"/>
          <p:cNvGrpSpPr/>
          <p:nvPr/>
        </p:nvGrpSpPr>
        <p:grpSpPr>
          <a:xfrm>
            <a:off x="3739278" y="897854"/>
            <a:ext cx="5228451" cy="5614921"/>
            <a:chOff x="3739278" y="897854"/>
            <a:chExt cx="5228451" cy="5614921"/>
          </a:xfrm>
        </p:grpSpPr>
        <p:sp>
          <p:nvSpPr>
            <p:cNvPr id="10" name="正方形/長方形 9"/>
            <p:cNvSpPr/>
            <p:nvPr/>
          </p:nvSpPr>
          <p:spPr>
            <a:xfrm>
              <a:off x="3805379" y="1128179"/>
              <a:ext cx="5162350" cy="5384596"/>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テキスト ボックス 43"/>
            <p:cNvSpPr txBox="1"/>
            <p:nvPr/>
          </p:nvSpPr>
          <p:spPr>
            <a:xfrm>
              <a:off x="3739278" y="897854"/>
              <a:ext cx="1978027"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sp>
          <p:nvSpPr>
            <p:cNvPr id="45" name="正方形/長方形 44"/>
            <p:cNvSpPr/>
            <p:nvPr/>
          </p:nvSpPr>
          <p:spPr>
            <a:xfrm>
              <a:off x="6572136" y="1218690"/>
              <a:ext cx="971550" cy="333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chemeClr val="tx1"/>
                  </a:solidFill>
                </a:rPr>
                <a:t>サーバ</a:t>
              </a:r>
            </a:p>
          </p:txBody>
        </p:sp>
        <p:sp>
          <p:nvSpPr>
            <p:cNvPr id="46" name="正方形/長方形 45"/>
            <p:cNvSpPr/>
            <p:nvPr/>
          </p:nvSpPr>
          <p:spPr>
            <a:xfrm>
              <a:off x="4702287" y="1717344"/>
              <a:ext cx="1126766" cy="466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保存ボタン押下（新規モード）</a:t>
              </a:r>
            </a:p>
          </p:txBody>
        </p:sp>
        <p:cxnSp>
          <p:nvCxnSpPr>
            <p:cNvPr id="47" name="直線矢印コネクタ 46"/>
            <p:cNvCxnSpPr>
              <a:stCxn id="46" idx="3"/>
              <a:endCxn id="51" idx="1"/>
            </p:cNvCxnSpPr>
            <p:nvPr/>
          </p:nvCxnSpPr>
          <p:spPr>
            <a:xfrm>
              <a:off x="5829053" y="1950707"/>
              <a:ext cx="692509" cy="140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p:cNvSpPr/>
            <p:nvPr/>
          </p:nvSpPr>
          <p:spPr>
            <a:xfrm>
              <a:off x="4723617" y="1209165"/>
              <a:ext cx="1072233"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クライアント</a:t>
              </a:r>
            </a:p>
          </p:txBody>
        </p:sp>
        <p:sp>
          <p:nvSpPr>
            <p:cNvPr id="49" name="正方形/長方形 48"/>
            <p:cNvSpPr/>
            <p:nvPr/>
          </p:nvSpPr>
          <p:spPr>
            <a:xfrm>
              <a:off x="7683612" y="251409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50" name="正方形/長方形 49"/>
            <p:cNvSpPr/>
            <p:nvPr/>
          </p:nvSpPr>
          <p:spPr>
            <a:xfrm>
              <a:off x="3902187" y="1656840"/>
              <a:ext cx="4933950"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51" name="フローチャート: 判断 49"/>
            <p:cNvSpPr/>
            <p:nvPr/>
          </p:nvSpPr>
          <p:spPr>
            <a:xfrm>
              <a:off x="6521562" y="1656840"/>
              <a:ext cx="1123950" cy="590550"/>
            </a:xfrm>
            <a:prstGeom prst="flowChartDecisi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ysClr val="windowText" lastClr="000000"/>
                </a:solidFill>
              </a:endParaRPr>
            </a:p>
          </p:txBody>
        </p:sp>
        <p:sp>
          <p:nvSpPr>
            <p:cNvPr id="52" name="正方形/長方形 51"/>
            <p:cNvSpPr/>
            <p:nvPr/>
          </p:nvSpPr>
          <p:spPr>
            <a:xfrm>
              <a:off x="6750162" y="1742565"/>
              <a:ext cx="714375"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rPr>
                <a:t>顧客重複チェック</a:t>
              </a:r>
            </a:p>
          </p:txBody>
        </p:sp>
        <p:sp>
          <p:nvSpPr>
            <p:cNvPr id="53" name="正方形/長方形 52"/>
            <p:cNvSpPr/>
            <p:nvPr/>
          </p:nvSpPr>
          <p:spPr>
            <a:xfrm flipH="1">
              <a:off x="7664562" y="2463111"/>
              <a:ext cx="1038225"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ysClr val="windowText" lastClr="000000"/>
                  </a:solidFill>
                </a:rPr>
                <a:t>顧客情報登録</a:t>
              </a:r>
            </a:p>
          </p:txBody>
        </p:sp>
        <p:cxnSp>
          <p:nvCxnSpPr>
            <p:cNvPr id="54" name="直線矢印コネクタ 119"/>
            <p:cNvCxnSpPr/>
            <p:nvPr/>
          </p:nvCxnSpPr>
          <p:spPr>
            <a:xfrm>
              <a:off x="7645512" y="1942590"/>
              <a:ext cx="528638" cy="571500"/>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p:cNvSpPr/>
            <p:nvPr/>
          </p:nvSpPr>
          <p:spPr>
            <a:xfrm>
              <a:off x="7683612" y="3209415"/>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56" name="直線矢印コネクタ 55"/>
            <p:cNvCxnSpPr/>
            <p:nvPr/>
          </p:nvCxnSpPr>
          <p:spPr>
            <a:xfrm flipH="1">
              <a:off x="8174150" y="2876040"/>
              <a:ext cx="0" cy="3333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7" name="正方形/長方形 56"/>
            <p:cNvSpPr/>
            <p:nvPr/>
          </p:nvSpPr>
          <p:spPr>
            <a:xfrm flipH="1">
              <a:off x="7727883" y="3145557"/>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ysClr val="windowText" lastClr="000000"/>
                  </a:solidFill>
                  <a:latin typeface="+mn-ea"/>
                  <a:ea typeface="+mn-ea"/>
                </a:rPr>
                <a:t>画面再表示用</a:t>
              </a:r>
              <a:endParaRPr kumimoji="1" lang="en-US" altLang="ja-JP" sz="1000" dirty="0">
                <a:solidFill>
                  <a:sysClr val="windowText" lastClr="000000"/>
                </a:solidFill>
                <a:latin typeface="+mn-ea"/>
                <a:ea typeface="+mn-ea"/>
              </a:endParaRPr>
            </a:p>
            <a:p>
              <a:pPr algn="ctr"/>
              <a:r>
                <a:rPr kumimoji="1" lang="ja-JP" altLang="en-US" sz="1000" dirty="0">
                  <a:solidFill>
                    <a:sysClr val="windowText" lastClr="000000"/>
                  </a:solidFill>
                  <a:latin typeface="+mn-ea"/>
                  <a:ea typeface="+mn-ea"/>
                </a:rPr>
                <a:t>データ取得</a:t>
              </a:r>
            </a:p>
          </p:txBody>
        </p:sp>
        <p:sp>
          <p:nvSpPr>
            <p:cNvPr id="58" name="正方形/長方形 57"/>
            <p:cNvSpPr/>
            <p:nvPr/>
          </p:nvSpPr>
          <p:spPr>
            <a:xfrm>
              <a:off x="4730862" y="3780915"/>
              <a:ext cx="1129383"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（新規保存完了モード）</a:t>
              </a:r>
            </a:p>
          </p:txBody>
        </p:sp>
        <p:cxnSp>
          <p:nvCxnSpPr>
            <p:cNvPr id="59" name="直線矢印コネクタ 127"/>
            <p:cNvCxnSpPr>
              <a:endCxn id="58" idx="3"/>
            </p:cNvCxnSpPr>
            <p:nvPr/>
          </p:nvCxnSpPr>
          <p:spPr>
            <a:xfrm rot="10800000" flipV="1">
              <a:off x="5860246" y="3570571"/>
              <a:ext cx="2314699" cy="457993"/>
            </a:xfrm>
            <a:prstGeom prst="bentConnector3">
              <a:avLst>
                <a:gd name="adj1" fmla="val -63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p:cNvCxnSpPr/>
            <p:nvPr/>
          </p:nvCxnSpPr>
          <p:spPr>
            <a:xfrm>
              <a:off x="5226162" y="4276215"/>
              <a:ext cx="4763" cy="2762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p:cNvSpPr/>
            <p:nvPr/>
          </p:nvSpPr>
          <p:spPr>
            <a:xfrm>
              <a:off x="4721337" y="4552440"/>
              <a:ext cx="1138908" cy="466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a:solidFill>
                    <a:sysClr val="windowText" lastClr="000000"/>
                  </a:solidFill>
                </a:rPr>
                <a:t>保存ボタン押下（更新モード）</a:t>
              </a:r>
            </a:p>
          </p:txBody>
        </p:sp>
        <p:cxnSp>
          <p:nvCxnSpPr>
            <p:cNvPr id="62" name="直線矢印コネクタ 61"/>
            <p:cNvCxnSpPr>
              <a:stCxn id="61" idx="3"/>
            </p:cNvCxnSpPr>
            <p:nvPr/>
          </p:nvCxnSpPr>
          <p:spPr>
            <a:xfrm flipV="1">
              <a:off x="5860245" y="4781040"/>
              <a:ext cx="689892" cy="47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3" name="正方形/長方形 62"/>
            <p:cNvSpPr/>
            <p:nvPr/>
          </p:nvSpPr>
          <p:spPr>
            <a:xfrm>
              <a:off x="7712187" y="535254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4" name="フローチャート: 判断 62"/>
            <p:cNvSpPr/>
            <p:nvPr/>
          </p:nvSpPr>
          <p:spPr>
            <a:xfrm>
              <a:off x="6550137" y="4485765"/>
              <a:ext cx="1123950" cy="590550"/>
            </a:xfrm>
            <a:prstGeom prst="flowChartDecisi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ysClr val="windowText" lastClr="000000"/>
                </a:solidFill>
              </a:endParaRPr>
            </a:p>
          </p:txBody>
        </p:sp>
        <p:sp>
          <p:nvSpPr>
            <p:cNvPr id="65" name="正方形/長方形 64"/>
            <p:cNvSpPr/>
            <p:nvPr/>
          </p:nvSpPr>
          <p:spPr>
            <a:xfrm>
              <a:off x="7712187" y="600024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66" name="直線矢印コネクタ 65"/>
            <p:cNvCxnSpPr/>
            <p:nvPr/>
          </p:nvCxnSpPr>
          <p:spPr>
            <a:xfrm flipH="1">
              <a:off x="8202725" y="5714490"/>
              <a:ext cx="0" cy="2857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7" name="正方形/長方形 66"/>
            <p:cNvSpPr/>
            <p:nvPr/>
          </p:nvSpPr>
          <p:spPr>
            <a:xfrm>
              <a:off x="4759437" y="5933565"/>
              <a:ext cx="1072232"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（更新保存完了モード）</a:t>
              </a:r>
            </a:p>
          </p:txBody>
        </p:sp>
        <p:cxnSp>
          <p:nvCxnSpPr>
            <p:cNvPr id="68" name="直線矢印コネクタ 67"/>
            <p:cNvCxnSpPr/>
            <p:nvPr/>
          </p:nvCxnSpPr>
          <p:spPr>
            <a:xfrm flipH="1">
              <a:off x="5860245" y="6181215"/>
              <a:ext cx="1851942" cy="6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9" name="正方形/長方形 68"/>
            <p:cNvSpPr/>
            <p:nvPr/>
          </p:nvSpPr>
          <p:spPr>
            <a:xfrm>
              <a:off x="6712062" y="4577661"/>
              <a:ext cx="838200"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ysClr val="windowText" lastClr="000000"/>
                  </a:solidFill>
                </a:rPr>
                <a:t>他人更新有無チェック</a:t>
              </a:r>
            </a:p>
          </p:txBody>
        </p:sp>
        <p:sp>
          <p:nvSpPr>
            <p:cNvPr id="70" name="正方形/長方形 69"/>
            <p:cNvSpPr/>
            <p:nvPr/>
          </p:nvSpPr>
          <p:spPr>
            <a:xfrm flipH="1">
              <a:off x="7635987" y="5314440"/>
              <a:ext cx="1038225"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rPr>
                <a:t>顧客情報更新</a:t>
              </a:r>
            </a:p>
          </p:txBody>
        </p:sp>
        <p:sp>
          <p:nvSpPr>
            <p:cNvPr id="71" name="正方形/長方形 70"/>
            <p:cNvSpPr/>
            <p:nvPr/>
          </p:nvSpPr>
          <p:spPr>
            <a:xfrm flipH="1">
              <a:off x="7683612" y="5943090"/>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latin typeface="+mn-ea"/>
                  <a:ea typeface="+mn-ea"/>
                </a:rPr>
                <a:t>画面再表示用</a:t>
              </a:r>
              <a:endParaRPr kumimoji="1" lang="en-US" altLang="ja-JP" sz="1000">
                <a:solidFill>
                  <a:sysClr val="windowText" lastClr="000000"/>
                </a:solidFill>
                <a:latin typeface="+mn-ea"/>
                <a:ea typeface="+mn-ea"/>
              </a:endParaRPr>
            </a:p>
            <a:p>
              <a:pPr algn="ctr"/>
              <a:r>
                <a:rPr kumimoji="1" lang="ja-JP" altLang="en-US" sz="1000">
                  <a:solidFill>
                    <a:sysClr val="windowText" lastClr="000000"/>
                  </a:solidFill>
                  <a:latin typeface="+mn-ea"/>
                  <a:ea typeface="+mn-ea"/>
                </a:rPr>
                <a:t>データ取得</a:t>
              </a:r>
            </a:p>
          </p:txBody>
        </p:sp>
        <p:sp>
          <p:nvSpPr>
            <p:cNvPr id="72" name="正方形/長方形 71"/>
            <p:cNvSpPr/>
            <p:nvPr/>
          </p:nvSpPr>
          <p:spPr>
            <a:xfrm>
              <a:off x="6588237" y="251409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73" name="直線矢印コネクタ 72"/>
            <p:cNvCxnSpPr/>
            <p:nvPr/>
          </p:nvCxnSpPr>
          <p:spPr>
            <a:xfrm>
              <a:off x="7074012" y="2237865"/>
              <a:ext cx="4763" cy="2762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4" name="正方形/長方形 73"/>
            <p:cNvSpPr/>
            <p:nvPr/>
          </p:nvSpPr>
          <p:spPr>
            <a:xfrm flipH="1">
              <a:off x="6607287" y="2466465"/>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latin typeface="+mn-ea"/>
                  <a:ea typeface="+mn-ea"/>
                </a:rPr>
                <a:t>画面再表示用</a:t>
              </a:r>
              <a:endParaRPr kumimoji="1" lang="en-US" altLang="ja-JP" sz="1000">
                <a:solidFill>
                  <a:sysClr val="windowText" lastClr="000000"/>
                </a:solidFill>
                <a:latin typeface="+mn-ea"/>
                <a:ea typeface="+mn-ea"/>
              </a:endParaRPr>
            </a:p>
            <a:p>
              <a:pPr algn="ctr"/>
              <a:r>
                <a:rPr kumimoji="1" lang="ja-JP" altLang="en-US" sz="1000">
                  <a:solidFill>
                    <a:sysClr val="windowText" lastClr="000000"/>
                  </a:solidFill>
                  <a:latin typeface="+mn-ea"/>
                  <a:ea typeface="+mn-ea"/>
                </a:rPr>
                <a:t>データセット</a:t>
              </a:r>
            </a:p>
          </p:txBody>
        </p:sp>
        <p:sp>
          <p:nvSpPr>
            <p:cNvPr id="75" name="正方形/長方形 74"/>
            <p:cNvSpPr/>
            <p:nvPr/>
          </p:nvSpPr>
          <p:spPr>
            <a:xfrm>
              <a:off x="4721337" y="2421657"/>
              <a:ext cx="1107716" cy="5653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（新規エラー</a:t>
              </a:r>
              <a:endParaRPr kumimoji="1" lang="en-US" altLang="ja-JP" sz="1000" dirty="0">
                <a:solidFill>
                  <a:sysClr val="windowText" lastClr="000000"/>
                </a:solidFill>
              </a:endParaRPr>
            </a:p>
            <a:p>
              <a:pPr algn="l"/>
              <a:r>
                <a:rPr kumimoji="1" lang="ja-JP" altLang="en-US" sz="1000" dirty="0">
                  <a:solidFill>
                    <a:sysClr val="windowText" lastClr="000000"/>
                  </a:solidFill>
                </a:rPr>
                <a:t>モード）</a:t>
              </a:r>
            </a:p>
          </p:txBody>
        </p:sp>
        <p:cxnSp>
          <p:nvCxnSpPr>
            <p:cNvPr id="76" name="直線矢印コネクタ 75"/>
            <p:cNvCxnSpPr>
              <a:stCxn id="72" idx="1"/>
              <a:endCxn id="75" idx="3"/>
            </p:cNvCxnSpPr>
            <p:nvPr/>
          </p:nvCxnSpPr>
          <p:spPr>
            <a:xfrm flipH="1">
              <a:off x="5829053" y="2695065"/>
              <a:ext cx="759184" cy="924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119"/>
            <p:cNvCxnSpPr/>
            <p:nvPr/>
          </p:nvCxnSpPr>
          <p:spPr>
            <a:xfrm rot="16200000" flipH="1">
              <a:off x="7648687" y="4796915"/>
              <a:ext cx="569913" cy="539750"/>
            </a:xfrm>
            <a:prstGeom prst="bentConnector3">
              <a:avLst>
                <a:gd name="adj1" fmla="val -1667"/>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8" name="正方形/長方形 77"/>
            <p:cNvSpPr/>
            <p:nvPr/>
          </p:nvSpPr>
          <p:spPr>
            <a:xfrm>
              <a:off x="3902187" y="3723765"/>
              <a:ext cx="4953000" cy="273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79" name="正方形/長方形 78"/>
            <p:cNvSpPr/>
            <p:nvPr/>
          </p:nvSpPr>
          <p:spPr>
            <a:xfrm>
              <a:off x="6626337" y="5362065"/>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80" name="直線矢印コネクタ 79"/>
            <p:cNvCxnSpPr/>
            <p:nvPr/>
          </p:nvCxnSpPr>
          <p:spPr>
            <a:xfrm>
              <a:off x="7112112" y="5085840"/>
              <a:ext cx="4763" cy="2762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1" name="正方形/長方形 80"/>
            <p:cNvSpPr/>
            <p:nvPr/>
          </p:nvSpPr>
          <p:spPr>
            <a:xfrm>
              <a:off x="4752304" y="5274033"/>
              <a:ext cx="1103674" cy="5424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（更新エラー</a:t>
              </a:r>
              <a:endParaRPr kumimoji="1" lang="en-US" altLang="ja-JP" sz="1000" dirty="0">
                <a:solidFill>
                  <a:sysClr val="windowText" lastClr="000000"/>
                </a:solidFill>
              </a:endParaRPr>
            </a:p>
            <a:p>
              <a:pPr algn="l"/>
              <a:r>
                <a:rPr kumimoji="1" lang="ja-JP" altLang="en-US" sz="1000" dirty="0">
                  <a:solidFill>
                    <a:sysClr val="windowText" lastClr="000000"/>
                  </a:solidFill>
                </a:rPr>
                <a:t>モード）</a:t>
              </a:r>
            </a:p>
          </p:txBody>
        </p:sp>
        <p:cxnSp>
          <p:nvCxnSpPr>
            <p:cNvPr id="82" name="直線矢印コネクタ 81"/>
            <p:cNvCxnSpPr>
              <a:stCxn id="79" idx="1"/>
              <a:endCxn id="81" idx="3"/>
            </p:cNvCxnSpPr>
            <p:nvPr/>
          </p:nvCxnSpPr>
          <p:spPr>
            <a:xfrm flipH="1">
              <a:off x="5855978" y="5543040"/>
              <a:ext cx="770359" cy="220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p:cNvSpPr/>
            <p:nvPr/>
          </p:nvSpPr>
          <p:spPr>
            <a:xfrm flipH="1">
              <a:off x="6654912" y="5304915"/>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latin typeface="+mn-ea"/>
                  <a:ea typeface="+mn-ea"/>
                </a:rPr>
                <a:t>画面再表示用</a:t>
              </a:r>
              <a:endParaRPr kumimoji="1" lang="en-US" altLang="ja-JP" sz="1000">
                <a:solidFill>
                  <a:sysClr val="windowText" lastClr="000000"/>
                </a:solidFill>
                <a:latin typeface="+mn-ea"/>
                <a:ea typeface="+mn-ea"/>
              </a:endParaRPr>
            </a:p>
            <a:p>
              <a:pPr algn="ctr"/>
              <a:r>
                <a:rPr kumimoji="1" lang="ja-JP" altLang="en-US" sz="1000">
                  <a:solidFill>
                    <a:sysClr val="windowText" lastClr="000000"/>
                  </a:solidFill>
                  <a:latin typeface="+mn-ea"/>
                  <a:ea typeface="+mn-ea"/>
                </a:rPr>
                <a:t>データセット</a:t>
              </a:r>
            </a:p>
          </p:txBody>
        </p:sp>
        <p:sp>
          <p:nvSpPr>
            <p:cNvPr id="84" name="正方形/長方形 83"/>
            <p:cNvSpPr/>
            <p:nvPr/>
          </p:nvSpPr>
          <p:spPr>
            <a:xfrm>
              <a:off x="7083537" y="2209291"/>
              <a:ext cx="447293"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dirty="0">
                  <a:solidFill>
                    <a:schemeClr val="tx1"/>
                  </a:solidFill>
                </a:rPr>
                <a:t>Yes</a:t>
              </a:r>
              <a:endParaRPr kumimoji="1" lang="ja-JP" altLang="en-US" sz="1000" dirty="0">
                <a:solidFill>
                  <a:schemeClr val="tx1"/>
                </a:solidFill>
              </a:endParaRPr>
            </a:p>
          </p:txBody>
        </p:sp>
        <p:sp>
          <p:nvSpPr>
            <p:cNvPr id="85" name="正方形/長方形 84"/>
            <p:cNvSpPr/>
            <p:nvPr/>
          </p:nvSpPr>
          <p:spPr>
            <a:xfrm>
              <a:off x="7683612" y="1694940"/>
              <a:ext cx="371475" cy="257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dirty="0">
                  <a:solidFill>
                    <a:schemeClr val="tx1"/>
                  </a:solidFill>
                </a:rPr>
                <a:t>No</a:t>
              </a:r>
              <a:endParaRPr kumimoji="1" lang="ja-JP" altLang="en-US" sz="1000" dirty="0">
                <a:solidFill>
                  <a:schemeClr val="tx1"/>
                </a:solidFill>
              </a:endParaRPr>
            </a:p>
          </p:txBody>
        </p:sp>
        <p:sp>
          <p:nvSpPr>
            <p:cNvPr id="86" name="正方形/長方形 85"/>
            <p:cNvSpPr/>
            <p:nvPr/>
          </p:nvSpPr>
          <p:spPr>
            <a:xfrm>
              <a:off x="7093062" y="5019166"/>
              <a:ext cx="463662" cy="2476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dirty="0">
                  <a:solidFill>
                    <a:schemeClr val="tx1"/>
                  </a:solidFill>
                </a:rPr>
                <a:t>Yes</a:t>
              </a:r>
              <a:endParaRPr kumimoji="1" lang="ja-JP" altLang="en-US" sz="1000" dirty="0">
                <a:solidFill>
                  <a:schemeClr val="tx1"/>
                </a:solidFill>
              </a:endParaRPr>
            </a:p>
          </p:txBody>
        </p:sp>
        <p:sp>
          <p:nvSpPr>
            <p:cNvPr id="87" name="正方形/長方形 86"/>
            <p:cNvSpPr/>
            <p:nvPr/>
          </p:nvSpPr>
          <p:spPr>
            <a:xfrm>
              <a:off x="7693137" y="4504815"/>
              <a:ext cx="371475" cy="257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a:solidFill>
                    <a:schemeClr val="tx1"/>
                  </a:solidFill>
                </a:rPr>
                <a:t>No</a:t>
              </a:r>
              <a:endParaRPr kumimoji="1" lang="ja-JP" altLang="en-US" sz="1000">
                <a:solidFill>
                  <a:schemeClr val="tx1"/>
                </a:solidFill>
              </a:endParaRPr>
            </a:p>
          </p:txBody>
        </p:sp>
        <p:sp>
          <p:nvSpPr>
            <p:cNvPr id="88" name="正方形/長方形 87"/>
            <p:cNvSpPr/>
            <p:nvPr/>
          </p:nvSpPr>
          <p:spPr>
            <a:xfrm>
              <a:off x="3819278" y="1643962"/>
              <a:ext cx="885825" cy="23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chemeClr val="tx1"/>
                  </a:solidFill>
                  <a:effectLst/>
                </a:rPr>
                <a:t>新規モード</a:t>
              </a:r>
              <a:endParaRPr kumimoji="1" lang="ja-JP" altLang="en-US" sz="1000" dirty="0">
                <a:solidFill>
                  <a:schemeClr val="tx1"/>
                </a:solidFill>
              </a:endParaRPr>
            </a:p>
          </p:txBody>
        </p:sp>
        <p:sp>
          <p:nvSpPr>
            <p:cNvPr id="89" name="正方形/長方形 88"/>
            <p:cNvSpPr/>
            <p:nvPr/>
          </p:nvSpPr>
          <p:spPr>
            <a:xfrm>
              <a:off x="3828803" y="3691836"/>
              <a:ext cx="847725" cy="279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chemeClr val="tx1"/>
                  </a:solidFill>
                  <a:effectLst/>
                </a:rPr>
                <a:t>更新モード</a:t>
              </a:r>
              <a:endParaRPr kumimoji="1" lang="ja-JP" altLang="en-US" sz="1000" dirty="0">
                <a:solidFill>
                  <a:schemeClr val="tx1"/>
                </a:solidFill>
              </a:endParaRPr>
            </a:p>
          </p:txBody>
        </p:sp>
        <p:cxnSp>
          <p:nvCxnSpPr>
            <p:cNvPr id="90" name="直線コネクタ 89"/>
            <p:cNvCxnSpPr/>
            <p:nvPr/>
          </p:nvCxnSpPr>
          <p:spPr>
            <a:xfrm>
              <a:off x="6207618" y="1218690"/>
              <a:ext cx="25757" cy="524322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1" name="直線矢印コネクタ 127"/>
            <p:cNvCxnSpPr>
              <a:stCxn id="75" idx="1"/>
              <a:endCxn id="46" idx="1"/>
            </p:cNvCxnSpPr>
            <p:nvPr/>
          </p:nvCxnSpPr>
          <p:spPr>
            <a:xfrm rot="10800000">
              <a:off x="4702287" y="1950708"/>
              <a:ext cx="19050" cy="753601"/>
            </a:xfrm>
            <a:prstGeom prst="bentConnector3">
              <a:avLst>
                <a:gd name="adj1" fmla="val 130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矢印コネクタ 127"/>
            <p:cNvCxnSpPr>
              <a:stCxn id="67" idx="1"/>
              <a:endCxn id="61" idx="1"/>
            </p:cNvCxnSpPr>
            <p:nvPr/>
          </p:nvCxnSpPr>
          <p:spPr>
            <a:xfrm rot="10800000">
              <a:off x="4721337" y="4785803"/>
              <a:ext cx="38100" cy="1395412"/>
            </a:xfrm>
            <a:prstGeom prst="bentConnector3">
              <a:avLst>
                <a:gd name="adj1" fmla="val 70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4098" name="タイトル 1"/>
          <p:cNvSpPr>
            <a:spLocks noGrp="1"/>
          </p:cNvSpPr>
          <p:nvPr>
            <p:ph type="title" idx="4294967295"/>
          </p:nvPr>
        </p:nvSpPr>
        <p:spPr>
          <a:xfrm>
            <a:off x="251136"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４－２．従来の</a:t>
            </a:r>
            <a:r>
              <a:rPr lang="en-US" altLang="ja-JP" sz="2800" dirty="0">
                <a:solidFill>
                  <a:schemeClr val="tx2"/>
                </a:solidFill>
                <a:latin typeface="Meiryo UI" pitchFamily="50" charset="-128"/>
                <a:ea typeface="Meiryo UI" pitchFamily="50" charset="-128"/>
                <a:cs typeface="Meiryo UI" pitchFamily="50" charset="-128"/>
              </a:rPr>
              <a:t>WEB</a:t>
            </a:r>
            <a:r>
              <a:rPr lang="ja-JP" altLang="en-US" sz="2800" dirty="0">
                <a:solidFill>
                  <a:schemeClr val="tx2"/>
                </a:solidFill>
                <a:latin typeface="Meiryo UI" pitchFamily="50" charset="-128"/>
                <a:ea typeface="Meiryo UI" pitchFamily="50" charset="-128"/>
                <a:cs typeface="Meiryo UI" pitchFamily="50" charset="-128"/>
              </a:rPr>
              <a:t>開発における問題</a:t>
            </a:r>
            <a:r>
              <a:rPr lang="en-US" altLang="ja-JP" sz="2800" dirty="0">
                <a:solidFill>
                  <a:schemeClr val="tx2"/>
                </a:solidFill>
                <a:latin typeface="Meiryo UI" pitchFamily="50" charset="-128"/>
                <a:ea typeface="Meiryo UI" pitchFamily="50" charset="-128"/>
                <a:cs typeface="Meiryo UI" pitchFamily="50" charset="-128"/>
              </a:rPr>
              <a:t>2</a:t>
            </a:r>
            <a:endParaRPr lang="ja-JP" altLang="en-US" sz="28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6</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 name="AutoShape 4" descr="「暴走」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5" name="AutoShape 6" descr="「暴走」の画像検索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Tree>
    <p:custDataLst>
      <p:tags r:id="rId1"/>
    </p:custDataLst>
    <p:extLst>
      <p:ext uri="{BB962C8B-B14F-4D97-AF65-F5344CB8AC3E}">
        <p14:creationId xmlns:p14="http://schemas.microsoft.com/office/powerpoint/2010/main" val="95143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8"/>
                                        </p:tgtEl>
                                      </p:cBhvr>
                                    </p:animEffect>
                                    <p:set>
                                      <p:cBhvr>
                                        <p:cTn id="7" dur="1" fill="hold">
                                          <p:stCondLst>
                                            <p:cond delay="499"/>
                                          </p:stCondLst>
                                        </p:cTn>
                                        <p:tgtEl>
                                          <p:spTgt spid="308"/>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p:cNvSpPr>
            <a:spLocks noGrp="1"/>
          </p:cNvSpPr>
          <p:nvPr>
            <p:ph type="title" idx="4294967295"/>
          </p:nvPr>
        </p:nvSpPr>
        <p:spPr>
          <a:xfrm>
            <a:off x="251136"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５－１．従来問題１の解決</a:t>
            </a: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7</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8" name="正方形/長方形 7"/>
          <p:cNvSpPr/>
          <p:nvPr/>
        </p:nvSpPr>
        <p:spPr>
          <a:xfrm>
            <a:off x="243712" y="1366089"/>
            <a:ext cx="3105416" cy="2423713"/>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ユーザマスタから以下の条件で以下項目を取得し画面の対応項目に表示する。</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条件：</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ログインアカウント</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取得項目：</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ユーザ名</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パスワード</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メールアドレス</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前回ログイン日時</a:t>
            </a: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テキスト ボックス 11"/>
          <p:cNvSpPr txBox="1"/>
          <p:nvPr/>
        </p:nvSpPr>
        <p:spPr>
          <a:xfrm>
            <a:off x="307973"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基本設計</a:t>
            </a:r>
          </a:p>
        </p:txBody>
      </p:sp>
      <p:grpSp>
        <p:nvGrpSpPr>
          <p:cNvPr id="4" name="グループ化 3"/>
          <p:cNvGrpSpPr/>
          <p:nvPr/>
        </p:nvGrpSpPr>
        <p:grpSpPr>
          <a:xfrm>
            <a:off x="3460568" y="1040827"/>
            <a:ext cx="5683433" cy="5260821"/>
            <a:chOff x="3460568" y="1040827"/>
            <a:chExt cx="5683433" cy="5260821"/>
          </a:xfrm>
        </p:grpSpPr>
        <p:sp>
          <p:nvSpPr>
            <p:cNvPr id="21" name="正方形/長方形 20"/>
            <p:cNvSpPr/>
            <p:nvPr/>
          </p:nvSpPr>
          <p:spPr>
            <a:xfrm>
              <a:off x="3460568" y="4898611"/>
              <a:ext cx="3197963" cy="1192170"/>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userInput.jsp</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&lt;input id=“txt_userId”</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p:cNvSpPr/>
            <p:nvPr/>
          </p:nvSpPr>
          <p:spPr>
            <a:xfrm>
              <a:off x="3460568" y="1366089"/>
              <a:ext cx="3877765" cy="3291215"/>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User.xml</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 id=“getUserByAccount”&gt;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select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username,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password,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mailaddress,</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lastlogindate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from </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m_user</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where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userid=:account</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&lt;/sql&gt;</a:t>
              </a:r>
            </a:p>
          </p:txBody>
        </p:sp>
        <p:sp>
          <p:nvSpPr>
            <p:cNvPr id="14" name="テキスト ボックス 13"/>
            <p:cNvSpPr txBox="1"/>
            <p:nvPr/>
          </p:nvSpPr>
          <p:spPr>
            <a:xfrm>
              <a:off x="3460568"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sp>
          <p:nvSpPr>
            <p:cNvPr id="16" name="正方形/長方形 15"/>
            <p:cNvSpPr/>
            <p:nvPr/>
          </p:nvSpPr>
          <p:spPr>
            <a:xfrm>
              <a:off x="5399451" y="2088818"/>
              <a:ext cx="3744550" cy="4212830"/>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userInput_init.js</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var objUser=db.select(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“getUserByAccount”,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{“account”:session.get(“USER_ID”)}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).map({</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“#txt_userId”:”userid”,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“#txt_userName”:”username”,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“#txt_password”:”password”,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“#txt_mail”:”mailaddress”,</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“#txt_lastLoginDate”:”lastlogindate”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}).getSingle();</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eturn (new Result())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.runat(“body”)</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.withdata(objUser);</a:t>
              </a:r>
            </a:p>
            <a:p>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9" name="テキスト ボックス 5"/>
          <p:cNvSpPr txBox="1">
            <a:spLocks noChangeArrowheads="1"/>
          </p:cNvSpPr>
          <p:nvPr/>
        </p:nvSpPr>
        <p:spPr bwMode="auto">
          <a:xfrm>
            <a:off x="2146719" y="2922344"/>
            <a:ext cx="4801769" cy="2468608"/>
          </a:xfrm>
          <a:prstGeom prst="rect">
            <a:avLst/>
          </a:prstGeom>
          <a:solidFill>
            <a:schemeClr val="accent6">
              <a:lumMod val="20000"/>
              <a:lumOff val="80000"/>
            </a:schemeClr>
          </a:solidFill>
          <a:ln/>
          <a:extLst/>
        </p:spPr>
        <p:style>
          <a:lnRef idx="3">
            <a:schemeClr val="lt1"/>
          </a:lnRef>
          <a:fillRef idx="1">
            <a:schemeClr val="accent5"/>
          </a:fillRef>
          <a:effectRef idx="1">
            <a:schemeClr val="accent5"/>
          </a:effectRef>
          <a:fontRef idx="minor">
            <a:schemeClr val="lt1"/>
          </a:fontRef>
        </p:style>
        <p:txBody>
          <a:bodyPr rtlCol="0" anchor="ctr" anchorCtr="0"/>
          <a:lstStyle>
            <a:defPPr>
              <a:defRPr lang="ja-JP"/>
            </a:defPPr>
            <a:lvl1pPr>
              <a:defRPr sz="14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ja-JP" sz="1600" dirty="0">
                <a:solidFill>
                  <a:schemeClr val="tx1"/>
                </a:solidFill>
              </a:rPr>
              <a:t>WEB</a:t>
            </a:r>
            <a:r>
              <a:rPr lang="ja-JP" altLang="en-US" sz="1600" dirty="0">
                <a:solidFill>
                  <a:schemeClr val="tx1"/>
                </a:solidFill>
              </a:rPr>
              <a:t>システム開発には、「</a:t>
            </a:r>
            <a:r>
              <a:rPr lang="ja-JP" altLang="en-US" sz="1600" dirty="0">
                <a:solidFill>
                  <a:schemeClr val="accent2"/>
                </a:solidFill>
              </a:rPr>
              <a:t>パラメータ受信・入力チェック・ データ表示・活性非活性・表示非表示・画面遷移</a:t>
            </a:r>
            <a:r>
              <a:rPr lang="ja-JP" altLang="en-US" sz="1600" dirty="0">
                <a:solidFill>
                  <a:schemeClr val="tx1"/>
                </a:solidFill>
              </a:rPr>
              <a:t>」などの処理がよくあります。</a:t>
            </a:r>
            <a:endParaRPr lang="en-US" altLang="ja-JP" sz="1600" dirty="0">
              <a:solidFill>
                <a:schemeClr val="tx1"/>
              </a:solidFill>
            </a:endParaRPr>
          </a:p>
          <a:p>
            <a:endParaRPr lang="en-US" altLang="ja-JP" sz="1600" dirty="0">
              <a:solidFill>
                <a:schemeClr val="tx1"/>
              </a:solidFill>
            </a:endParaRPr>
          </a:p>
          <a:p>
            <a:r>
              <a:rPr lang="en-US" altLang="ja-JP" sz="1600" dirty="0">
                <a:solidFill>
                  <a:schemeClr val="tx1"/>
                </a:solidFill>
              </a:rPr>
              <a:t>EFW</a:t>
            </a:r>
            <a:r>
              <a:rPr lang="ja-JP" altLang="en-US" sz="1600" dirty="0">
                <a:solidFill>
                  <a:schemeClr val="tx1"/>
                </a:solidFill>
              </a:rPr>
              <a:t>はそれらをパターン化して、</a:t>
            </a:r>
            <a:r>
              <a:rPr lang="en-US" altLang="ja-JP" sz="1600" dirty="0">
                <a:solidFill>
                  <a:schemeClr val="tx1"/>
                </a:solidFill>
              </a:rPr>
              <a:t>WEB</a:t>
            </a:r>
            <a:r>
              <a:rPr lang="ja-JP" altLang="en-US" sz="1600" dirty="0">
                <a:solidFill>
                  <a:schemeClr val="tx1"/>
                </a:solidFill>
              </a:rPr>
              <a:t>画面開発の</a:t>
            </a:r>
          </a:p>
          <a:p>
            <a:r>
              <a:rPr lang="ja-JP" altLang="en-US" sz="1600" dirty="0">
                <a:solidFill>
                  <a:schemeClr val="accent2"/>
                </a:solidFill>
              </a:rPr>
              <a:t>専用言語</a:t>
            </a:r>
            <a:r>
              <a:rPr lang="en-US" altLang="ja-JP" sz="1600" dirty="0">
                <a:solidFill>
                  <a:schemeClr val="accent2"/>
                </a:solidFill>
              </a:rPr>
              <a:t>(DSL)</a:t>
            </a:r>
            <a:r>
              <a:rPr lang="ja-JP" altLang="en-US" sz="1600" dirty="0">
                <a:solidFill>
                  <a:schemeClr val="tx1"/>
                </a:solidFill>
              </a:rPr>
              <a:t>を設計・実装します。</a:t>
            </a:r>
          </a:p>
          <a:p>
            <a:r>
              <a:rPr lang="ja-JP" altLang="en-US" sz="1600" dirty="0">
                <a:solidFill>
                  <a:schemeClr val="tx1"/>
                </a:solidFill>
              </a:rPr>
              <a:t>言い換えると「</a:t>
            </a:r>
            <a:r>
              <a:rPr lang="ja-JP" altLang="en-US" sz="1600" dirty="0">
                <a:solidFill>
                  <a:schemeClr val="accent2"/>
                </a:solidFill>
              </a:rPr>
              <a:t>入力データ収集と処理結果表示の自動化</a:t>
            </a:r>
            <a:r>
              <a:rPr lang="ja-JP" altLang="en-US" sz="1600" dirty="0">
                <a:solidFill>
                  <a:schemeClr val="tx1"/>
                </a:solidFill>
              </a:rPr>
              <a:t>」です。</a:t>
            </a:r>
            <a:endParaRPr lang="en-US" altLang="ja-JP" sz="1600" dirty="0">
              <a:solidFill>
                <a:schemeClr val="tx1"/>
              </a:solidFill>
            </a:endParaRPr>
          </a:p>
        </p:txBody>
      </p:sp>
    </p:spTree>
    <p:custDataLst>
      <p:tags r:id="rId1"/>
    </p:custDataLst>
    <p:extLst>
      <p:ext uri="{BB962C8B-B14F-4D97-AF65-F5344CB8AC3E}">
        <p14:creationId xmlns:p14="http://schemas.microsoft.com/office/powerpoint/2010/main" val="326413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p:cNvGrpSpPr/>
          <p:nvPr/>
        </p:nvGrpSpPr>
        <p:grpSpPr>
          <a:xfrm>
            <a:off x="146650" y="898951"/>
            <a:ext cx="3658729" cy="5645068"/>
            <a:chOff x="146650" y="898951"/>
            <a:chExt cx="3658729" cy="5645068"/>
          </a:xfrm>
        </p:grpSpPr>
        <p:sp>
          <p:nvSpPr>
            <p:cNvPr id="9" name="正方形/長方形 8"/>
            <p:cNvSpPr/>
            <p:nvPr/>
          </p:nvSpPr>
          <p:spPr>
            <a:xfrm>
              <a:off x="194452" y="1159423"/>
              <a:ext cx="3610927" cy="5384596"/>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 name="直線コネクタ 10"/>
            <p:cNvCxnSpPr/>
            <p:nvPr/>
          </p:nvCxnSpPr>
          <p:spPr>
            <a:xfrm>
              <a:off x="30092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12947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正方形/長方形 12"/>
            <p:cNvSpPr/>
            <p:nvPr/>
          </p:nvSpPr>
          <p:spPr>
            <a:xfrm>
              <a:off x="2537503" y="1241412"/>
              <a:ext cx="971550"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サーバ</a:t>
              </a:r>
            </a:p>
          </p:txBody>
        </p:sp>
        <p:sp>
          <p:nvSpPr>
            <p:cNvPr id="14" name="正方形/長方形 13"/>
            <p:cNvSpPr/>
            <p:nvPr/>
          </p:nvSpPr>
          <p:spPr>
            <a:xfrm>
              <a:off x="1175428" y="1755762"/>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15" name="直線矢印コネクタ 14"/>
            <p:cNvCxnSpPr/>
            <p:nvPr/>
          </p:nvCxnSpPr>
          <p:spPr>
            <a:xfrm>
              <a:off x="1384978" y="193673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p:cNvSpPr/>
            <p:nvPr/>
          </p:nvSpPr>
          <p:spPr>
            <a:xfrm>
              <a:off x="1527852" y="1723087"/>
              <a:ext cx="1419226" cy="236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顧客重複チェック</a:t>
              </a:r>
            </a:p>
          </p:txBody>
        </p:sp>
        <p:sp>
          <p:nvSpPr>
            <p:cNvPr id="17" name="正方形/長方形 16"/>
            <p:cNvSpPr/>
            <p:nvPr/>
          </p:nvSpPr>
          <p:spPr>
            <a:xfrm>
              <a:off x="1560451" y="1955789"/>
              <a:ext cx="1312338" cy="323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チェック結果返却</a:t>
              </a:r>
            </a:p>
          </p:txBody>
        </p:sp>
        <p:sp>
          <p:nvSpPr>
            <p:cNvPr id="18" name="正方形/長方形 17"/>
            <p:cNvSpPr/>
            <p:nvPr/>
          </p:nvSpPr>
          <p:spPr>
            <a:xfrm>
              <a:off x="1708828" y="2412987"/>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顧客情報登録</a:t>
              </a:r>
            </a:p>
          </p:txBody>
        </p:sp>
        <p:cxnSp>
          <p:nvCxnSpPr>
            <p:cNvPr id="19" name="直線矢印コネクタ 18"/>
            <p:cNvCxnSpPr/>
            <p:nvPr/>
          </p:nvCxnSpPr>
          <p:spPr>
            <a:xfrm flipH="1">
              <a:off x="1375453" y="307973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p:cNvSpPr/>
            <p:nvPr/>
          </p:nvSpPr>
          <p:spPr>
            <a:xfrm>
              <a:off x="1708828" y="2651781"/>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21" name="正方形/長方形 20"/>
            <p:cNvSpPr/>
            <p:nvPr/>
          </p:nvSpPr>
          <p:spPr>
            <a:xfrm>
              <a:off x="1175428" y="2813037"/>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2" name="正方形/長方形 21"/>
            <p:cNvSpPr/>
            <p:nvPr/>
          </p:nvSpPr>
          <p:spPr>
            <a:xfrm>
              <a:off x="832528" y="1231887"/>
              <a:ext cx="1062339"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クライアント</a:t>
              </a:r>
            </a:p>
          </p:txBody>
        </p:sp>
        <p:sp>
          <p:nvSpPr>
            <p:cNvPr id="23" name="正方形/長方形 22"/>
            <p:cNvSpPr/>
            <p:nvPr/>
          </p:nvSpPr>
          <p:spPr>
            <a:xfrm>
              <a:off x="1184953" y="3917937"/>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4" name="正方形/長方形 23"/>
            <p:cNvSpPr/>
            <p:nvPr/>
          </p:nvSpPr>
          <p:spPr>
            <a:xfrm>
              <a:off x="2908978" y="3917937"/>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25" name="直線矢印コネクタ 24"/>
            <p:cNvCxnSpPr/>
            <p:nvPr/>
          </p:nvCxnSpPr>
          <p:spPr>
            <a:xfrm>
              <a:off x="1394503" y="409891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1651678" y="3789350"/>
              <a:ext cx="1068872" cy="333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dirty="0">
                  <a:solidFill>
                    <a:schemeClr val="tx1"/>
                  </a:solidFill>
                </a:rPr>
                <a:t>他人操作有無</a:t>
              </a:r>
              <a:r>
                <a:rPr kumimoji="1" lang="ja-JP" altLang="en-US" sz="1100" dirty="0">
                  <a:solidFill>
                    <a:schemeClr val="tx1"/>
                  </a:solidFill>
                </a:rPr>
                <a:t>チェック</a:t>
              </a:r>
            </a:p>
          </p:txBody>
        </p:sp>
        <p:cxnSp>
          <p:nvCxnSpPr>
            <p:cNvPr id="27" name="直線矢印コネクタ 26"/>
            <p:cNvCxnSpPr/>
            <p:nvPr/>
          </p:nvCxnSpPr>
          <p:spPr>
            <a:xfrm flipH="1">
              <a:off x="1384978" y="44418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1552000" y="4194162"/>
              <a:ext cx="1304925" cy="234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latin typeface="+mn-lt"/>
                  <a:ea typeface="+mn-ea"/>
                  <a:cs typeface="+mn-cs"/>
                </a:rPr>
                <a:t>チェック結果</a:t>
              </a:r>
              <a:r>
                <a:rPr kumimoji="1" lang="ja-JP" altLang="en-US" sz="1100" dirty="0">
                  <a:solidFill>
                    <a:schemeClr val="tx1"/>
                  </a:solidFill>
                </a:rPr>
                <a:t>返却</a:t>
              </a:r>
            </a:p>
          </p:txBody>
        </p:sp>
        <p:sp>
          <p:nvSpPr>
            <p:cNvPr id="29" name="正方形/長方形 28"/>
            <p:cNvSpPr/>
            <p:nvPr/>
          </p:nvSpPr>
          <p:spPr>
            <a:xfrm>
              <a:off x="2908978" y="4689462"/>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30" name="直線矢印コネクタ 29"/>
            <p:cNvCxnSpPr/>
            <p:nvPr/>
          </p:nvCxnSpPr>
          <p:spPr>
            <a:xfrm>
              <a:off x="1384978" y="480376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1642153" y="4575162"/>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顧客情報更新</a:t>
              </a:r>
            </a:p>
          </p:txBody>
        </p:sp>
        <p:cxnSp>
          <p:nvCxnSpPr>
            <p:cNvPr id="32" name="直線矢印コネクタ 31"/>
            <p:cNvCxnSpPr/>
            <p:nvPr/>
          </p:nvCxnSpPr>
          <p:spPr>
            <a:xfrm flipH="1">
              <a:off x="1384978" y="52419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p:cNvSpPr/>
            <p:nvPr/>
          </p:nvSpPr>
          <p:spPr>
            <a:xfrm>
              <a:off x="1718353" y="4826835"/>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34" name="正方形/長方形 33"/>
            <p:cNvSpPr/>
            <p:nvPr/>
          </p:nvSpPr>
          <p:spPr>
            <a:xfrm>
              <a:off x="1184953" y="4975212"/>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5" name="正方形/長方形 34"/>
            <p:cNvSpPr/>
            <p:nvPr/>
          </p:nvSpPr>
          <p:spPr>
            <a:xfrm>
              <a:off x="2908978" y="1774812"/>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6" name="正方形/長方形 35"/>
            <p:cNvSpPr/>
            <p:nvPr/>
          </p:nvSpPr>
          <p:spPr>
            <a:xfrm>
              <a:off x="2908978" y="2546337"/>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7" name="正方形/長方形 36"/>
            <p:cNvSpPr/>
            <p:nvPr/>
          </p:nvSpPr>
          <p:spPr>
            <a:xfrm>
              <a:off x="289603" y="1656840"/>
              <a:ext cx="3362325"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8" name="正方形/長方形 37"/>
            <p:cNvSpPr/>
            <p:nvPr/>
          </p:nvSpPr>
          <p:spPr>
            <a:xfrm>
              <a:off x="289603" y="3723765"/>
              <a:ext cx="3362325" cy="273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9" name="正方形/長方形 38"/>
            <p:cNvSpPr/>
            <p:nvPr/>
          </p:nvSpPr>
          <p:spPr>
            <a:xfrm>
              <a:off x="270553" y="1679562"/>
              <a:ext cx="90487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新規モード</a:t>
              </a:r>
              <a:endParaRPr kumimoji="1" lang="ja-JP" altLang="en-US" sz="1100" dirty="0">
                <a:solidFill>
                  <a:schemeClr val="tx1"/>
                </a:solidFill>
              </a:endParaRPr>
            </a:p>
          </p:txBody>
        </p:sp>
        <p:sp>
          <p:nvSpPr>
            <p:cNvPr id="40" name="正方形/長方形 39"/>
            <p:cNvSpPr/>
            <p:nvPr/>
          </p:nvSpPr>
          <p:spPr>
            <a:xfrm>
              <a:off x="266534" y="3705872"/>
              <a:ext cx="942767" cy="219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更新モード</a:t>
              </a:r>
              <a:endParaRPr kumimoji="1" lang="ja-JP" altLang="en-US" sz="1100" dirty="0">
                <a:solidFill>
                  <a:schemeClr val="tx1"/>
                </a:solidFill>
              </a:endParaRPr>
            </a:p>
          </p:txBody>
        </p:sp>
        <p:sp>
          <p:nvSpPr>
            <p:cNvPr id="41" name="テキスト ボックス 40"/>
            <p:cNvSpPr txBox="1"/>
            <p:nvPr/>
          </p:nvSpPr>
          <p:spPr>
            <a:xfrm>
              <a:off x="146650" y="898951"/>
              <a:ext cx="1978027" cy="338554"/>
            </a:xfrm>
            <a:prstGeom prst="rect">
              <a:avLst/>
            </a:prstGeom>
            <a:noFill/>
          </p:spPr>
          <p:txBody>
            <a:bodyPr wrap="square" rtlCol="0">
              <a:spAutoFit/>
            </a:bodyPr>
            <a:lstStyle/>
            <a:p>
              <a:r>
                <a:rPr lang="ja-JP" altLang="en-US" sz="1600" dirty="0">
                  <a:latin typeface="Meiryo UI" panose="020B0604030504040204" pitchFamily="50" charset="-128"/>
                  <a:ea typeface="Meiryo UI" panose="020B0604030504040204" pitchFamily="50" charset="-128"/>
                  <a:cs typeface="Meiryo UI" panose="020B0604030504040204" pitchFamily="50" charset="-128"/>
                </a:rPr>
                <a:t>基本</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設計</a:t>
              </a:r>
            </a:p>
          </p:txBody>
        </p:sp>
        <p:cxnSp>
          <p:nvCxnSpPr>
            <p:cNvPr id="42" name="直線矢印コネクタ 41"/>
            <p:cNvCxnSpPr/>
            <p:nvPr/>
          </p:nvCxnSpPr>
          <p:spPr>
            <a:xfrm flipH="1">
              <a:off x="1369114" y="228882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a:off x="1369114" y="265077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8</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 name="AutoShape 4" descr="「暴走」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5" name="AutoShape 6" descr="「暴走」の画像検索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4098" name="タイトル 1"/>
          <p:cNvSpPr>
            <a:spLocks noGrp="1"/>
          </p:cNvSpPr>
          <p:nvPr>
            <p:ph type="title" idx="4294967295"/>
          </p:nvPr>
        </p:nvSpPr>
        <p:spPr>
          <a:xfrm>
            <a:off x="251136" y="275784"/>
            <a:ext cx="5686956"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５－２．従来問題２の解決</a:t>
            </a:r>
          </a:p>
        </p:txBody>
      </p:sp>
      <p:grpSp>
        <p:nvGrpSpPr>
          <p:cNvPr id="7" name="グループ化 6"/>
          <p:cNvGrpSpPr/>
          <p:nvPr/>
        </p:nvGrpSpPr>
        <p:grpSpPr>
          <a:xfrm>
            <a:off x="3922004" y="605926"/>
            <a:ext cx="5034710" cy="6125375"/>
            <a:chOff x="3922004" y="843010"/>
            <a:chExt cx="5034710" cy="5583187"/>
          </a:xfrm>
        </p:grpSpPr>
        <p:sp>
          <p:nvSpPr>
            <p:cNvPr id="6" name="正方形/長方形 5"/>
            <p:cNvSpPr/>
            <p:nvPr/>
          </p:nvSpPr>
          <p:spPr>
            <a:xfrm>
              <a:off x="3922004" y="843010"/>
              <a:ext cx="5034710" cy="5583187"/>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新規モード</a:t>
              </a:r>
              <a:endPar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 (params[“hnd_mode”]==“new_mode”){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var blnExists=db.select( “User”, “checkExists”,</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).getValue(“ret”);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if (blnExists){</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該当顧客はすでに登録しました。</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}else{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db.change(“User”,”addNewUser”,{</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保存しました。</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.concat(event.fire(“userInput_show”,</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.disable(“#txt_userId”);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更新モード</a:t>
              </a:r>
              <a:endPar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else{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var blnOperated=db.select(“User”,“checkOperated”,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“updateDate”:params[“#hdn_updateDate”]}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).getValue(“ret”);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if (blnOperated){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他人操作中のため、該当処理は実行できません。</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}else{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db.change(“User”,”updateUser”,{</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.concat(event.fire(“userInput_show”,</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保存しました。</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p>
            <a:p>
              <a:r>
                <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93" name="テキスト ボックス 92"/>
            <p:cNvSpPr txBox="1"/>
            <p:nvPr/>
          </p:nvSpPr>
          <p:spPr>
            <a:xfrm>
              <a:off x="7774511" y="921955"/>
              <a:ext cx="1027966" cy="308587"/>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grpSp>
      <p:sp>
        <p:nvSpPr>
          <p:cNvPr id="45" name="テキスト ボックス 5"/>
          <p:cNvSpPr txBox="1">
            <a:spLocks noChangeArrowheads="1"/>
          </p:cNvSpPr>
          <p:nvPr/>
        </p:nvSpPr>
        <p:spPr bwMode="auto">
          <a:xfrm>
            <a:off x="1894867" y="2745654"/>
            <a:ext cx="4806442" cy="2468608"/>
          </a:xfrm>
          <a:prstGeom prst="rect">
            <a:avLst/>
          </a:prstGeom>
          <a:solidFill>
            <a:schemeClr val="accent6">
              <a:lumMod val="20000"/>
              <a:lumOff val="80000"/>
            </a:schemeClr>
          </a:solidFill>
          <a:ln/>
          <a:extLst/>
        </p:spPr>
        <p:style>
          <a:lnRef idx="3">
            <a:schemeClr val="lt1"/>
          </a:lnRef>
          <a:fillRef idx="1">
            <a:schemeClr val="accent5"/>
          </a:fillRef>
          <a:effectRef idx="1">
            <a:schemeClr val="accent5"/>
          </a:effectRef>
          <a:fontRef idx="minor">
            <a:schemeClr val="lt1"/>
          </a:fontRef>
        </p:style>
        <p:txBody>
          <a:bodyPr rtlCol="0" anchor="ctr" anchorCtr="0"/>
          <a:lstStyle>
            <a:defPPr>
              <a:defRPr lang="ja-JP"/>
            </a:defPPr>
            <a:lvl1pPr>
              <a:defRPr sz="14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ja-JP" sz="1600" dirty="0">
                <a:solidFill>
                  <a:schemeClr val="tx1"/>
                </a:solidFill>
              </a:rPr>
              <a:t>EFW</a:t>
            </a:r>
            <a:r>
              <a:rPr lang="ja-JP" altLang="en-US" sz="1600" dirty="0">
                <a:solidFill>
                  <a:schemeClr val="tx1"/>
                </a:solidFill>
              </a:rPr>
              <a:t>の仕組みには、</a:t>
            </a:r>
            <a:r>
              <a:rPr lang="ja-JP" altLang="en-US" sz="1600" dirty="0">
                <a:solidFill>
                  <a:schemeClr val="accent2"/>
                </a:solidFill>
              </a:rPr>
              <a:t>クライアント動作</a:t>
            </a:r>
            <a:r>
              <a:rPr lang="ja-JP" altLang="en-US" sz="1600" dirty="0">
                <a:solidFill>
                  <a:schemeClr val="tx1"/>
                </a:solidFill>
              </a:rPr>
              <a:t>か</a:t>
            </a:r>
            <a:r>
              <a:rPr lang="ja-JP" altLang="en-US" sz="1600" dirty="0">
                <a:solidFill>
                  <a:schemeClr val="accent2"/>
                </a:solidFill>
              </a:rPr>
              <a:t>サーバ動作</a:t>
            </a:r>
            <a:r>
              <a:rPr lang="ja-JP" altLang="en-US" sz="1600" dirty="0">
                <a:solidFill>
                  <a:schemeClr val="tx1"/>
                </a:solidFill>
              </a:rPr>
              <a:t>か  関係なく、ロジックはほぼ全部</a:t>
            </a:r>
            <a:r>
              <a:rPr lang="ja-JP" altLang="en-US" sz="1600" dirty="0">
                <a:solidFill>
                  <a:schemeClr val="accent2"/>
                </a:solidFill>
              </a:rPr>
              <a:t>イベント</a:t>
            </a:r>
            <a:r>
              <a:rPr lang="en-US" altLang="ja-JP" sz="1600" dirty="0">
                <a:solidFill>
                  <a:schemeClr val="accent2"/>
                </a:solidFill>
              </a:rPr>
              <a:t>JS</a:t>
            </a:r>
            <a:r>
              <a:rPr lang="ja-JP" altLang="en-US" sz="1600" dirty="0">
                <a:solidFill>
                  <a:schemeClr val="accent2"/>
                </a:solidFill>
              </a:rPr>
              <a:t>ファイルに集中</a:t>
            </a:r>
            <a:r>
              <a:rPr lang="ja-JP" altLang="en-US" sz="1600" dirty="0">
                <a:solidFill>
                  <a:schemeClr val="tx1"/>
                </a:solidFill>
              </a:rPr>
              <a:t>します。また、「</a:t>
            </a:r>
            <a:r>
              <a:rPr lang="ja-JP" altLang="en-US" sz="1600" dirty="0">
                <a:solidFill>
                  <a:schemeClr val="accent2"/>
                </a:solidFill>
              </a:rPr>
              <a:t>目標指向</a:t>
            </a:r>
            <a:r>
              <a:rPr lang="ja-JP" altLang="en-US" sz="1600" dirty="0">
                <a:solidFill>
                  <a:schemeClr val="tx1"/>
                </a:solidFill>
              </a:rPr>
              <a:t>」のため、</a:t>
            </a:r>
            <a:r>
              <a:rPr lang="ja-JP" altLang="en-US" sz="1600" dirty="0">
                <a:solidFill>
                  <a:schemeClr val="accent2"/>
                </a:solidFill>
              </a:rPr>
              <a:t>プログラムの粒度は設計書とマッピング</a:t>
            </a:r>
            <a:r>
              <a:rPr lang="ja-JP" altLang="en-US" sz="1600" dirty="0">
                <a:solidFill>
                  <a:schemeClr val="tx1"/>
                </a:solidFill>
              </a:rPr>
              <a:t>しやすいです。</a:t>
            </a:r>
            <a:endParaRPr lang="en-US" altLang="ja-JP" sz="1600" dirty="0">
              <a:solidFill>
                <a:schemeClr val="tx1"/>
              </a:solidFill>
            </a:endParaRPr>
          </a:p>
          <a:p>
            <a:endParaRPr lang="en-US" altLang="ja-JP" sz="1600" dirty="0">
              <a:solidFill>
                <a:schemeClr val="tx1"/>
              </a:solidFill>
            </a:endParaRPr>
          </a:p>
          <a:p>
            <a:r>
              <a:rPr lang="ja-JP" altLang="en-US" sz="1600" dirty="0">
                <a:solidFill>
                  <a:schemeClr val="tx1"/>
                </a:solidFill>
              </a:rPr>
              <a:t>そして、</a:t>
            </a:r>
            <a:r>
              <a:rPr lang="ja-JP" altLang="en-US" sz="1600" dirty="0">
                <a:solidFill>
                  <a:schemeClr val="accent2"/>
                </a:solidFill>
              </a:rPr>
              <a:t>イベント</a:t>
            </a:r>
            <a:r>
              <a:rPr lang="en-US" altLang="ja-JP" sz="1600" dirty="0">
                <a:solidFill>
                  <a:schemeClr val="accent2"/>
                </a:solidFill>
              </a:rPr>
              <a:t>JS</a:t>
            </a:r>
            <a:r>
              <a:rPr lang="ja-JP" altLang="en-US" sz="1600" dirty="0">
                <a:solidFill>
                  <a:schemeClr val="accent2"/>
                </a:solidFill>
              </a:rPr>
              <a:t>ファイル</a:t>
            </a:r>
            <a:r>
              <a:rPr lang="ja-JP" altLang="en-US" sz="1600" dirty="0">
                <a:solidFill>
                  <a:schemeClr val="tx1"/>
                </a:solidFill>
              </a:rPr>
              <a:t>のみで</a:t>
            </a:r>
            <a:r>
              <a:rPr lang="ja-JP" altLang="en-US" sz="1600" dirty="0">
                <a:solidFill>
                  <a:schemeClr val="accent2"/>
                </a:solidFill>
              </a:rPr>
              <a:t>処理の流れ</a:t>
            </a:r>
            <a:r>
              <a:rPr lang="ja-JP" altLang="en-US" sz="1600" dirty="0">
                <a:solidFill>
                  <a:schemeClr val="tx1"/>
                </a:solidFill>
              </a:rPr>
              <a:t>を分かりやすく</a:t>
            </a:r>
            <a:r>
              <a:rPr lang="ja-JP" altLang="en-US" sz="1600" dirty="0">
                <a:solidFill>
                  <a:schemeClr val="accent2"/>
                </a:solidFill>
              </a:rPr>
              <a:t>読み取れます</a:t>
            </a:r>
            <a:r>
              <a:rPr lang="ja-JP" altLang="en-US" sz="1600" dirty="0">
                <a:solidFill>
                  <a:schemeClr val="tx1"/>
                </a:solidFill>
              </a:rPr>
              <a:t>。</a:t>
            </a:r>
            <a:endParaRPr lang="en-US" altLang="ja-JP" sz="1600" dirty="0">
              <a:solidFill>
                <a:schemeClr val="tx1"/>
              </a:solidFill>
            </a:endParaRPr>
          </a:p>
        </p:txBody>
      </p:sp>
    </p:spTree>
    <p:custDataLst>
      <p:tags r:id="rId1"/>
    </p:custDataLst>
    <p:extLst>
      <p:ext uri="{BB962C8B-B14F-4D97-AF65-F5344CB8AC3E}">
        <p14:creationId xmlns:p14="http://schemas.microsoft.com/office/powerpoint/2010/main" val="317084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5D4C7412-9240-40F2-AB85-2F09118988D8}"/>
              </a:ext>
            </a:extLst>
          </p:cNvPr>
          <p:cNvSpPr txBox="1">
            <a:spLocks/>
          </p:cNvSpPr>
          <p:nvPr/>
        </p:nvSpPr>
        <p:spPr bwMode="auto">
          <a:xfrm>
            <a:off x="315531" y="987879"/>
            <a:ext cx="8622407" cy="526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a:lstStyle>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ソース：</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4"/>
              </a:rPr>
              <a:t>https://github.com/efwGrp/efw4.X</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サンプル：</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5"/>
              </a:rPr>
              <a:t>https://efwgrp.github.io/efw4.X/j/examples.html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en-US" altLang="ja-JP" sz="1600" dirty="0">
                <a:latin typeface="Meiryo UI" pitchFamily="50" charset="-128"/>
                <a:ea typeface="Meiryo UI" pitchFamily="50" charset="-128"/>
                <a:cs typeface="Meiryo UI" pitchFamily="50" charset="-128"/>
              </a:rPr>
              <a:t>API</a:t>
            </a:r>
            <a:r>
              <a:rPr lang="ja-JP" altLang="en-US" sz="1600" dirty="0">
                <a:latin typeface="Meiryo UI" pitchFamily="50" charset="-128"/>
                <a:ea typeface="Meiryo UI" pitchFamily="50" charset="-128"/>
                <a:cs typeface="Meiryo UI" pitchFamily="50" charset="-128"/>
              </a:rPr>
              <a:t>：</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6"/>
              </a:rPr>
              <a:t>https://efwgrp.github.io/efw4.X/j/api.html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特徴分析：</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7"/>
              </a:rPr>
              <a:t>https://efwgrp.github.io/efw4.X/j/analysis.html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セキュリティ分析：</a:t>
            </a:r>
            <a:r>
              <a:rPr lang="en-US" altLang="ja-JP" sz="1600" dirty="0">
                <a:latin typeface="Meiryo UI" pitchFamily="50" charset="-128"/>
                <a:ea typeface="Meiryo UI" pitchFamily="50" charset="-128"/>
                <a:cs typeface="Meiryo UI" pitchFamily="50" charset="-128"/>
                <a:hlinkClick r:id="rId8"/>
              </a:rPr>
              <a:t>https://efwgrp.github.io/efw4.X/j/analysis.security.html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論文：</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zh-CN" altLang="en-US" sz="1600" dirty="0">
                <a:latin typeface="Meiryo UI" pitchFamily="50" charset="-128"/>
                <a:ea typeface="Meiryo UI" pitchFamily="50" charset="-128"/>
                <a:cs typeface="Meiryo UI" pitchFamily="50" charset="-128"/>
              </a:rPr>
              <a:t>情報処理学会収録 </a:t>
            </a:r>
            <a:r>
              <a:rPr lang="en-US" altLang="zh-CN" sz="1600" dirty="0">
                <a:latin typeface="Meiryo UI" pitchFamily="50" charset="-128"/>
                <a:ea typeface="Meiryo UI" pitchFamily="50" charset="-128"/>
                <a:cs typeface="Meiryo UI" pitchFamily="50" charset="-128"/>
                <a:hlinkClick r:id="rId9"/>
              </a:rPr>
              <a:t>http://id.nii.ac.jp/1001/00147552/</a:t>
            </a:r>
            <a:endParaRPr lang="en-US" altLang="zh-CN"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en-US" altLang="ja-JP" sz="1600" dirty="0" err="1">
                <a:latin typeface="Meiryo UI" pitchFamily="50" charset="-128"/>
                <a:ea typeface="Meiryo UI" pitchFamily="50" charset="-128"/>
                <a:cs typeface="Meiryo UI" pitchFamily="50" charset="-128"/>
              </a:rPr>
              <a:t>Qiita</a:t>
            </a:r>
            <a:r>
              <a:rPr lang="ja-JP" altLang="en-US" sz="1600" dirty="0">
                <a:latin typeface="Meiryo UI" pitchFamily="50" charset="-128"/>
                <a:ea typeface="Meiryo UI" pitchFamily="50" charset="-128"/>
                <a:cs typeface="Meiryo UI" pitchFamily="50" charset="-128"/>
              </a:rPr>
              <a:t>文書：</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10"/>
              </a:rPr>
              <a:t>https://qiita.com/changkejun/items/2c7071c1468b24e7683e</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endParaRPr lang="en-US" altLang="zh-CN"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endParaRPr lang="en-US" altLang="ja-JP" sz="1600" dirty="0">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4463"/>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9</a:t>
            </a:fld>
            <a:endParaRPr lang="en-US" altLang="ja-JP" sz="1200" dirty="0">
              <a:solidFill>
                <a:srgbClr val="898989"/>
              </a:solidFill>
              <a:latin typeface="Meiryo UI" pitchFamily="50" charset="-128"/>
              <a:ea typeface="Meiryo UI" pitchFamily="50" charset="-128"/>
              <a:cs typeface="Meiryo UI" pitchFamily="50" charset="-128"/>
            </a:endParaRPr>
          </a:p>
        </p:txBody>
      </p:sp>
      <p:sp>
        <p:nvSpPr>
          <p:cNvPr id="8"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６．</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の資材</a:t>
            </a:r>
          </a:p>
        </p:txBody>
      </p:sp>
    </p:spTree>
    <p:custDataLst>
      <p:tags r:id="rId1"/>
    </p:custDataLst>
    <p:extLst>
      <p:ext uri="{BB962C8B-B14F-4D97-AF65-F5344CB8AC3E}">
        <p14:creationId xmlns:p14="http://schemas.microsoft.com/office/powerpoint/2010/main" val="2453305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７．実績一覧</a:t>
            </a:r>
          </a:p>
        </p:txBody>
      </p:sp>
      <p:graphicFrame>
        <p:nvGraphicFramePr>
          <p:cNvPr id="4" name="表 3">
            <a:extLst>
              <a:ext uri="{FF2B5EF4-FFF2-40B4-BE49-F238E27FC236}">
                <a16:creationId xmlns:a16="http://schemas.microsoft.com/office/drawing/2014/main" id="{BB8E9DEE-C34A-49AD-9639-F1972C50E7FE}"/>
              </a:ext>
            </a:extLst>
          </p:cNvPr>
          <p:cNvGraphicFramePr>
            <a:graphicFrameLocks noGrp="1"/>
          </p:cNvGraphicFramePr>
          <p:nvPr>
            <p:extLst>
              <p:ext uri="{D42A27DB-BD31-4B8C-83A1-F6EECF244321}">
                <p14:modId xmlns:p14="http://schemas.microsoft.com/office/powerpoint/2010/main" val="584823195"/>
              </p:ext>
            </p:extLst>
          </p:nvPr>
        </p:nvGraphicFramePr>
        <p:xfrm>
          <a:off x="323850" y="1076866"/>
          <a:ext cx="8583387" cy="5079363"/>
        </p:xfrm>
        <a:graphic>
          <a:graphicData uri="http://schemas.openxmlformats.org/drawingml/2006/table">
            <a:tbl>
              <a:tblPr firstRow="1" bandRow="1">
                <a:tableStyleId>{5C22544A-7EE6-4342-B048-85BDC9FD1C3A}</a:tableStyleId>
              </a:tblPr>
              <a:tblGrid>
                <a:gridCol w="711736">
                  <a:extLst>
                    <a:ext uri="{9D8B030D-6E8A-4147-A177-3AD203B41FA5}">
                      <a16:colId xmlns:a16="http://schemas.microsoft.com/office/drawing/2014/main" val="20000"/>
                    </a:ext>
                  </a:extLst>
                </a:gridCol>
                <a:gridCol w="3814710">
                  <a:extLst>
                    <a:ext uri="{9D8B030D-6E8A-4147-A177-3AD203B41FA5}">
                      <a16:colId xmlns:a16="http://schemas.microsoft.com/office/drawing/2014/main" val="20001"/>
                    </a:ext>
                  </a:extLst>
                </a:gridCol>
                <a:gridCol w="1786988">
                  <a:extLst>
                    <a:ext uri="{9D8B030D-6E8A-4147-A177-3AD203B41FA5}">
                      <a16:colId xmlns:a16="http://schemas.microsoft.com/office/drawing/2014/main" val="3088858689"/>
                    </a:ext>
                  </a:extLst>
                </a:gridCol>
                <a:gridCol w="2269953">
                  <a:extLst>
                    <a:ext uri="{9D8B030D-6E8A-4147-A177-3AD203B41FA5}">
                      <a16:colId xmlns:a16="http://schemas.microsoft.com/office/drawing/2014/main" val="20002"/>
                    </a:ext>
                  </a:extLst>
                </a:gridCol>
              </a:tblGrid>
              <a:tr h="312377">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番号</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実績案件</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期間</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規模</a:t>
                      </a:r>
                    </a:p>
                  </a:txBody>
                  <a:tcPr marL="91452" marR="91452" marT="45663" marB="45663"/>
                </a:tc>
                <a:extLst>
                  <a:ext uri="{0D108BD9-81ED-4DB2-BD59-A6C34878D82A}">
                    <a16:rowId xmlns:a16="http://schemas.microsoft.com/office/drawing/2014/main" val="10000"/>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大手製造メーカ、社内稟議ワークフロー、</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Intra-mart</a:t>
                      </a:r>
                      <a:r>
                        <a:rPr kumimoji="1" lang="ja-JP" altLang="en-US" sz="1400" baseline="0" dirty="0">
                          <a:latin typeface="Meiryo UI" panose="020B0604030504040204" pitchFamily="50" charset="-128"/>
                          <a:ea typeface="Meiryo UI" panose="020B0604030504040204" pitchFamily="50" charset="-128"/>
                          <a:cs typeface="Meiryo UI" panose="020B0604030504040204" pitchFamily="50" charset="-128"/>
                        </a:rPr>
                        <a:t>連携、</a:t>
                      </a:r>
                      <a:r>
                        <a:rPr kumimoji="1" lang="en-US" altLang="ja-JP" sz="1400" baseline="0" dirty="0">
                          <a:latin typeface="Meiryo UI" panose="020B0604030504040204" pitchFamily="50" charset="-128"/>
                          <a:ea typeface="Meiryo UI" panose="020B0604030504040204" pitchFamily="50" charset="-128"/>
                          <a:cs typeface="Meiryo UI" panose="020B0604030504040204" pitchFamily="50" charset="-128"/>
                        </a:rPr>
                        <a:t>SQLServer</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1"/>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a:t>
                      </a: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中国地方生命保険会社、営業マン教育システム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Websphere</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Oracle</a:t>
                      </a: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2016</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p>
                  </a:txBody>
                  <a:tcPr marL="91452" marR="91452" marT="45663" marB="45663"/>
                </a:tc>
                <a:extLst>
                  <a:ext uri="{0D108BD9-81ED-4DB2-BD59-A6C34878D82A}">
                    <a16:rowId xmlns:a16="http://schemas.microsoft.com/office/drawing/2014/main" val="10002"/>
                  </a:ext>
                </a:extLst>
              </a:tr>
              <a:tr h="574617">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3</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　要件定義システム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帳票</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2011</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2014</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初期開発：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保守＆開発：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3"/>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大手損害保険会社、代理店診断システム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帳票</a:t>
                      </a: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2017</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2019</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初期開発：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保守：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4"/>
                  </a:ext>
                </a:extLst>
              </a:tr>
              <a:tr h="593114">
                <a:tc>
                  <a:txBody>
                    <a:bodyPr/>
                    <a:lstStyle/>
                    <a:p>
                      <a:pPr algn="ct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大手損害保険会社、代理店支援ボットシステム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音声エンジン、</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JQuery</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アニメ、月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100G</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のテキストデータを取込</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2017</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2019</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初期開発：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保守：６人月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30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5"/>
                  </a:ext>
                </a:extLst>
              </a:tr>
              <a:tr h="273366">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6</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SI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会社、小短保険パッケージ</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PF/BRMS</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2021</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p>
                  </a:txBody>
                  <a:tcPr marL="91452" marR="91452" marT="45663" marB="45663"/>
                </a:tc>
                <a:tc>
                  <a:txBody>
                    <a:bodyPr/>
                    <a:lstStyle/>
                    <a:p>
                      <a:pPr algn="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POC</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p>
                  </a:txBody>
                  <a:tcPr marL="91452" marR="91452" marT="45663" marB="45663"/>
                </a:tc>
                <a:extLst>
                  <a:ext uri="{0D108BD9-81ED-4DB2-BD59-A6C34878D82A}">
                    <a16:rowId xmlns:a16="http://schemas.microsoft.com/office/drawing/2014/main" val="565572597"/>
                  </a:ext>
                </a:extLst>
              </a:tr>
              <a:tr h="259023">
                <a:tc>
                  <a:txBody>
                    <a:bodyPr/>
                    <a:lstStyle/>
                    <a:p>
                      <a:pPr algn="ctr"/>
                      <a:r>
                        <a:rPr lang="en-US" altLang="ja-JP" sz="1400" dirty="0">
                          <a:latin typeface="Meiryo UI" panose="020B0604030504040204" pitchFamily="50" charset="-128"/>
                          <a:ea typeface="Meiryo UI" panose="020B0604030504040204" pitchFamily="50" charset="-128"/>
                        </a:rPr>
                        <a:t>7</a:t>
                      </a:r>
                      <a:endParaRPr lang="ja-JP" altLang="en-US" sz="1400" dirty="0">
                        <a:latin typeface="Meiryo UI" panose="020B0604030504040204" pitchFamily="50" charset="-128"/>
                        <a:ea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大手製造メーカ、工場営業管理システム、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SQLserver</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2022</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開発：</a:t>
                      </a:r>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5</a:t>
                      </a:r>
                      <a:r>
                        <a:rPr lang="ja-JP" altLang="en-US" sz="1400" dirty="0">
                          <a:latin typeface="Meiryo UI" panose="020B0604030504040204" pitchFamily="50" charset="-128"/>
                          <a:ea typeface="Meiryo UI" panose="020B0604030504040204" pitchFamily="50" charset="-128"/>
                        </a:rPr>
                        <a:t>人月</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年間</a:t>
                      </a:r>
                    </a:p>
                  </a:txBody>
                  <a:tcPr marL="91452" marR="91452" marT="45663" marB="45663"/>
                </a:tc>
                <a:extLst>
                  <a:ext uri="{0D108BD9-81ED-4DB2-BD59-A6C34878D82A}">
                    <a16:rowId xmlns:a16="http://schemas.microsoft.com/office/drawing/2014/main" val="2181788843"/>
                  </a:ext>
                </a:extLst>
              </a:tr>
              <a:tr h="259023">
                <a:tc>
                  <a:txBody>
                    <a:bodyPr/>
                    <a:lstStyle/>
                    <a:p>
                      <a:pPr algn="ctr"/>
                      <a:r>
                        <a:rPr lang="en-US" altLang="ja-JP" sz="1400" dirty="0">
                          <a:latin typeface="Meiryo UI" panose="020B0604030504040204" pitchFamily="50" charset="-128"/>
                          <a:ea typeface="Meiryo UI" panose="020B0604030504040204" pitchFamily="50" charset="-128"/>
                        </a:rPr>
                        <a:t>8</a:t>
                      </a:r>
                      <a:endParaRPr lang="ja-JP" altLang="en-US" sz="1400" dirty="0">
                        <a:latin typeface="Meiryo UI" panose="020B0604030504040204" pitchFamily="50" charset="-128"/>
                        <a:ea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公益社団法人、斡旋システム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Cdata</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MySql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Oracle</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BRMS</a:t>
                      </a: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2022</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2024</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開発：</a:t>
                      </a:r>
                      <a:r>
                        <a:rPr lang="en-US" altLang="ja-JP" sz="1400" dirty="0">
                          <a:latin typeface="Meiryo UI" panose="020B0604030504040204" pitchFamily="50" charset="-128"/>
                          <a:ea typeface="Meiryo UI" panose="020B0604030504040204" pitchFamily="50" charset="-128"/>
                        </a:rPr>
                        <a:t>70</a:t>
                      </a:r>
                      <a:r>
                        <a:rPr lang="ja-JP" altLang="en-US" sz="1400" dirty="0">
                          <a:latin typeface="Meiryo UI" panose="020B0604030504040204" pitchFamily="50" charset="-128"/>
                          <a:ea typeface="Meiryo UI" panose="020B0604030504040204" pitchFamily="50" charset="-128"/>
                        </a:rPr>
                        <a:t>人月</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保守＆開発：</a:t>
                      </a:r>
                      <a:r>
                        <a:rPr lang="en-US" altLang="ja-JP" sz="1400" dirty="0">
                          <a:latin typeface="Meiryo UI" panose="020B0604030504040204" pitchFamily="50" charset="-128"/>
                          <a:ea typeface="Meiryo UI" panose="020B0604030504040204" pitchFamily="50" charset="-128"/>
                        </a:rPr>
                        <a:t>20</a:t>
                      </a:r>
                      <a:r>
                        <a:rPr lang="ja-JP" altLang="en-US" sz="1400" dirty="0">
                          <a:latin typeface="Meiryo UI" panose="020B0604030504040204" pitchFamily="50" charset="-128"/>
                          <a:ea typeface="Meiryo UI" panose="020B0604030504040204" pitchFamily="50" charset="-128"/>
                        </a:rPr>
                        <a:t>人月</a:t>
                      </a:r>
                    </a:p>
                  </a:txBody>
                  <a:tcPr marL="91452" marR="91452" marT="45663" marB="45663"/>
                </a:tc>
                <a:extLst>
                  <a:ext uri="{0D108BD9-81ED-4DB2-BD59-A6C34878D82A}">
                    <a16:rowId xmlns:a16="http://schemas.microsoft.com/office/drawing/2014/main" val="3280310131"/>
                  </a:ext>
                </a:extLst>
              </a:tr>
            </a:tbl>
          </a:graphicData>
        </a:graphic>
      </p:graphicFrame>
    </p:spTree>
    <p:custDataLst>
      <p:tags r:id="rId1"/>
    </p:custDataLst>
    <p:extLst>
      <p:ext uri="{BB962C8B-B14F-4D97-AF65-F5344CB8AC3E}">
        <p14:creationId xmlns:p14="http://schemas.microsoft.com/office/powerpoint/2010/main" val="1927444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3087914975"/>
              </p:ext>
            </p:extLst>
          </p:nvPr>
        </p:nvGraphicFramePr>
        <p:xfrm>
          <a:off x="323850" y="1076866"/>
          <a:ext cx="8583386" cy="5072448"/>
        </p:xfrm>
        <a:graphic>
          <a:graphicData uri="http://schemas.openxmlformats.org/drawingml/2006/table">
            <a:tbl>
              <a:tblPr firstRow="1" bandRow="1">
                <a:tableStyleId>{5C22544A-7EE6-4342-B048-85BDC9FD1C3A}</a:tableStyleId>
              </a:tblPr>
              <a:tblGrid>
                <a:gridCol w="711736">
                  <a:extLst>
                    <a:ext uri="{9D8B030D-6E8A-4147-A177-3AD203B41FA5}">
                      <a16:colId xmlns:a16="http://schemas.microsoft.com/office/drawing/2014/main" val="20000"/>
                    </a:ext>
                  </a:extLst>
                </a:gridCol>
                <a:gridCol w="5601697">
                  <a:extLst>
                    <a:ext uri="{9D8B030D-6E8A-4147-A177-3AD203B41FA5}">
                      <a16:colId xmlns:a16="http://schemas.microsoft.com/office/drawing/2014/main" val="20001"/>
                    </a:ext>
                  </a:extLst>
                </a:gridCol>
                <a:gridCol w="2269953">
                  <a:extLst>
                    <a:ext uri="{9D8B030D-6E8A-4147-A177-3AD203B41FA5}">
                      <a16:colId xmlns:a16="http://schemas.microsoft.com/office/drawing/2014/main" val="20002"/>
                    </a:ext>
                  </a:extLst>
                </a:gridCol>
              </a:tblGrid>
              <a:tr h="312377">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番号</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実績案件</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規模</a:t>
                      </a:r>
                    </a:p>
                  </a:txBody>
                  <a:tcPr marL="91452" marR="91452" marT="45663" marB="45663"/>
                </a:tc>
                <a:extLst>
                  <a:ext uri="{0D108BD9-81ED-4DB2-BD59-A6C34878D82A}">
                    <a16:rowId xmlns:a16="http://schemas.microsoft.com/office/drawing/2014/main" val="10000"/>
                  </a:ext>
                </a:extLst>
              </a:tr>
              <a:tr h="288317">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大手製造メーカ、社内稟議ワークフロー</a:t>
                      </a:r>
                    </a:p>
                  </a:txBody>
                  <a:tcPr marL="91452" marR="91452" marT="45663" marB="45663"/>
                </a:tc>
                <a:tc>
                  <a:txBody>
                    <a:bodyPr/>
                    <a:lstStyle/>
                    <a:p>
                      <a:pPr algn="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extLst>
                  <a:ext uri="{0D108BD9-81ED-4DB2-BD59-A6C34878D82A}">
                    <a16:rowId xmlns:a16="http://schemas.microsoft.com/office/drawing/2014/main" val="10001"/>
                  </a:ext>
                </a:extLst>
              </a:tr>
              <a:tr h="318366">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a:t>
                      </a: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中国地方生命保険会社、営業マン教育システム</a:t>
                      </a:r>
                    </a:p>
                  </a:txBody>
                  <a:tcPr marL="91452" marR="91452" marT="45663" marB="45663"/>
                </a:tc>
                <a:tc>
                  <a:txBody>
                    <a:bodyPr/>
                    <a:lstStyle/>
                    <a:p>
                      <a:pPr algn="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extLst>
                  <a:ext uri="{0D108BD9-81ED-4DB2-BD59-A6C34878D82A}">
                    <a16:rowId xmlns:a16="http://schemas.microsoft.com/office/drawing/2014/main" val="10002"/>
                  </a:ext>
                </a:extLst>
              </a:tr>
              <a:tr h="574617">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3</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　要件定義システム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23</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31</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8</a:t>
                      </a:r>
                      <a:r>
                        <a:rPr lang="ja-JP" altLang="en-US" sz="1400" dirty="0">
                          <a:latin typeface="Meiryo UI" panose="020B0604030504040204" pitchFamily="50" charset="-128"/>
                          <a:ea typeface="Meiryo UI" panose="020B0604030504040204" pitchFamily="50" charset="-128"/>
                        </a:rPr>
                        <a:t>枚</a:t>
                      </a:r>
                    </a:p>
                  </a:txBody>
                  <a:tcPr marL="91452" marR="91452" marT="45663" marB="45663"/>
                </a:tc>
                <a:extLst>
                  <a:ext uri="{0D108BD9-81ED-4DB2-BD59-A6C34878D82A}">
                    <a16:rowId xmlns:a16="http://schemas.microsoft.com/office/drawing/2014/main" val="10003"/>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大手損害保険会社、代理店診断システム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24</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10</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7</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solidFill>
                            <a:srgbClr val="00B050"/>
                          </a:solidFill>
                          <a:latin typeface="Meiryo UI" panose="020B0604030504040204" pitchFamily="50" charset="-128"/>
                          <a:ea typeface="Meiryo UI" panose="020B0604030504040204" pitchFamily="50" charset="-128"/>
                        </a:rPr>
                        <a:t>※67</a:t>
                      </a:r>
                      <a:r>
                        <a:rPr lang="ja-JP" altLang="en-US" sz="1400" dirty="0">
                          <a:solidFill>
                            <a:srgbClr val="00B050"/>
                          </a:solidFill>
                          <a:latin typeface="Meiryo UI" panose="020B0604030504040204" pitchFamily="50" charset="-128"/>
                          <a:ea typeface="Meiryo UI" panose="020B0604030504040204" pitchFamily="50" charset="-128"/>
                        </a:rPr>
                        <a:t>シート１本</a:t>
                      </a:r>
                      <a:endParaRPr lang="en-US" altLang="ja-JP" sz="1400" dirty="0">
                        <a:solidFill>
                          <a:srgbClr val="00B050"/>
                        </a:solidFill>
                        <a:latin typeface="Meiryo UI" panose="020B0604030504040204" pitchFamily="50" charset="-128"/>
                        <a:ea typeface="Meiryo UI" panose="020B0604030504040204" pitchFamily="50" charset="-128"/>
                      </a:endParaRPr>
                    </a:p>
                    <a:p>
                      <a:pPr algn="r"/>
                      <a:r>
                        <a:rPr lang="ja-JP" altLang="en-US" sz="1400" dirty="0">
                          <a:solidFill>
                            <a:srgbClr val="00B050"/>
                          </a:solidFill>
                          <a:latin typeface="Meiryo UI" panose="020B0604030504040204" pitchFamily="50" charset="-128"/>
                          <a:ea typeface="Meiryo UI" panose="020B0604030504040204" pitchFamily="50" charset="-128"/>
                        </a:rPr>
                        <a:t>８シート１本</a:t>
                      </a:r>
                      <a:endParaRPr lang="en-US" altLang="ja-JP" sz="1400" dirty="0">
                        <a:solidFill>
                          <a:srgbClr val="00B050"/>
                        </a:solidFill>
                        <a:latin typeface="Meiryo UI" panose="020B0604030504040204" pitchFamily="50" charset="-128"/>
                        <a:ea typeface="Meiryo UI" panose="020B0604030504040204" pitchFamily="50" charset="-128"/>
                      </a:endParaRPr>
                    </a:p>
                    <a:p>
                      <a:pPr algn="r"/>
                      <a:r>
                        <a:rPr lang="ja-JP" altLang="en-US" sz="1400" dirty="0">
                          <a:solidFill>
                            <a:srgbClr val="00B050"/>
                          </a:solidFill>
                          <a:latin typeface="Meiryo UI" panose="020B0604030504040204" pitchFamily="50" charset="-128"/>
                          <a:ea typeface="Meiryo UI" panose="020B0604030504040204" pitchFamily="50" charset="-128"/>
                        </a:rPr>
                        <a:t>ほか１シートずつ</a:t>
                      </a:r>
                    </a:p>
                  </a:txBody>
                  <a:tcPr marL="91452" marR="91452" marT="45663" marB="45663"/>
                </a:tc>
                <a:extLst>
                  <a:ext uri="{0D108BD9-81ED-4DB2-BD59-A6C34878D82A}">
                    <a16:rowId xmlns:a16="http://schemas.microsoft.com/office/drawing/2014/main" val="10004"/>
                  </a:ext>
                </a:extLst>
              </a:tr>
              <a:tr h="593114">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大手損害保険会社、代理店支援ボットシステム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19</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10</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シナリオ画面：</a:t>
                      </a:r>
                      <a:r>
                        <a:rPr lang="en-US" altLang="ja-JP" sz="1400" dirty="0">
                          <a:latin typeface="Meiryo UI" panose="020B0604030504040204" pitchFamily="50" charset="-128"/>
                          <a:ea typeface="Meiryo UI" panose="020B0604030504040204" pitchFamily="50" charset="-128"/>
                        </a:rPr>
                        <a:t>106</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17</a:t>
                      </a:r>
                      <a:r>
                        <a:rPr lang="ja-JP" altLang="en-US" sz="1400" dirty="0">
                          <a:latin typeface="Meiryo UI" panose="020B0604030504040204" pitchFamily="50" charset="-128"/>
                          <a:ea typeface="Meiryo UI" panose="020B0604030504040204" pitchFamily="50" charset="-128"/>
                        </a:rPr>
                        <a:t>枚</a:t>
                      </a:r>
                    </a:p>
                  </a:txBody>
                  <a:tcPr marL="91452" marR="91452" marT="45663" marB="45663"/>
                </a:tc>
                <a:extLst>
                  <a:ext uri="{0D108BD9-81ED-4DB2-BD59-A6C34878D82A}">
                    <a16:rowId xmlns:a16="http://schemas.microsoft.com/office/drawing/2014/main" val="10005"/>
                  </a:ext>
                </a:extLst>
              </a:tr>
              <a:tr h="273366">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6</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SI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会社、保険パッケージ</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extLst>
                  <a:ext uri="{0D108BD9-81ED-4DB2-BD59-A6C34878D82A}">
                    <a16:rowId xmlns:a16="http://schemas.microsoft.com/office/drawing/2014/main" val="565572597"/>
                  </a:ext>
                </a:extLst>
              </a:tr>
              <a:tr h="273366">
                <a:tc>
                  <a:txBody>
                    <a:bodyPr/>
                    <a:lstStyle/>
                    <a:p>
                      <a:pPr algn="ctr"/>
                      <a:r>
                        <a:rPr lang="en-US" altLang="ja-JP" sz="1400" dirty="0">
                          <a:latin typeface="Meiryo UI" panose="020B0604030504040204" pitchFamily="50" charset="-128"/>
                          <a:ea typeface="Meiryo UI" panose="020B0604030504040204" pitchFamily="50" charset="-128"/>
                        </a:rPr>
                        <a:t>7</a:t>
                      </a:r>
                      <a:endParaRPr lang="ja-JP" altLang="en-US" sz="1400" dirty="0">
                        <a:latin typeface="Meiryo UI" panose="020B0604030504040204" pitchFamily="50" charset="-128"/>
                        <a:ea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大手製造メーカ、工場営業管理システム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8</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5</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48</a:t>
                      </a:r>
                      <a:r>
                        <a:rPr lang="ja-JP" altLang="en-US" sz="1400" dirty="0">
                          <a:latin typeface="Meiryo UI" panose="020B0604030504040204" pitchFamily="50" charset="-128"/>
                          <a:ea typeface="Meiryo UI" panose="020B0604030504040204" pitchFamily="50" charset="-128"/>
                        </a:rPr>
                        <a:t>枚</a:t>
                      </a:r>
                    </a:p>
                  </a:txBody>
                  <a:tcPr marL="91452" marR="91452" marT="45663" marB="45663"/>
                </a:tc>
                <a:extLst>
                  <a:ext uri="{0D108BD9-81ED-4DB2-BD59-A6C34878D82A}">
                    <a16:rowId xmlns:a16="http://schemas.microsoft.com/office/drawing/2014/main" val="2181788843"/>
                  </a:ext>
                </a:extLst>
              </a:tr>
            </a:tbl>
          </a:graphicData>
        </a:graphic>
      </p:graphicFrame>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７．実績一覧（ページ数情報）</a:t>
            </a:r>
          </a:p>
        </p:txBody>
      </p:sp>
    </p:spTree>
    <p:custDataLst>
      <p:tags r:id="rId1"/>
    </p:custDataLst>
    <p:extLst>
      <p:ext uri="{BB962C8B-B14F-4D97-AF65-F5344CB8AC3E}">
        <p14:creationId xmlns:p14="http://schemas.microsoft.com/office/powerpoint/2010/main" val="2668123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654"/>
          <p:cNvGraphicFramePr>
            <a:graphicFrameLocks noGrp="1"/>
          </p:cNvGraphicFramePr>
          <p:nvPr>
            <p:extLst>
              <p:ext uri="{D42A27DB-BD31-4B8C-83A1-F6EECF244321}">
                <p14:modId xmlns:p14="http://schemas.microsoft.com/office/powerpoint/2010/main" val="328988717"/>
              </p:ext>
            </p:extLst>
          </p:nvPr>
        </p:nvGraphicFramePr>
        <p:xfrm>
          <a:off x="285476" y="1513233"/>
          <a:ext cx="8223524" cy="3733825"/>
        </p:xfrm>
        <a:graphic>
          <a:graphicData uri="http://schemas.openxmlformats.org/drawingml/2006/table">
            <a:tbl>
              <a:tblPr>
                <a:effectLst>
                  <a:outerShdw blurRad="50800" dist="38100" dir="13500000" algn="br" rotWithShape="0">
                    <a:prstClr val="black">
                      <a:alpha val="40000"/>
                    </a:prstClr>
                  </a:outerShdw>
                </a:effectLst>
              </a:tblPr>
              <a:tblGrid>
                <a:gridCol w="2592057">
                  <a:extLst>
                    <a:ext uri="{9D8B030D-6E8A-4147-A177-3AD203B41FA5}">
                      <a16:colId xmlns:a16="http://schemas.microsoft.com/office/drawing/2014/main" val="20000"/>
                    </a:ext>
                  </a:extLst>
                </a:gridCol>
                <a:gridCol w="2382173">
                  <a:extLst>
                    <a:ext uri="{9D8B030D-6E8A-4147-A177-3AD203B41FA5}">
                      <a16:colId xmlns:a16="http://schemas.microsoft.com/office/drawing/2014/main" val="20001"/>
                    </a:ext>
                  </a:extLst>
                </a:gridCol>
                <a:gridCol w="3249294">
                  <a:extLst>
                    <a:ext uri="{9D8B030D-6E8A-4147-A177-3AD203B41FA5}">
                      <a16:colId xmlns:a16="http://schemas.microsoft.com/office/drawing/2014/main" val="20002"/>
                    </a:ext>
                  </a:extLst>
                </a:gridCol>
              </a:tblGrid>
              <a:tr h="433255">
                <a:tc gridSpan="3">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比較案件の特徴</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470629">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フレームワーク特徴　</a:t>
                      </a: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SQL</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使い方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e</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プロセス</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jsp</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Bean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インライン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郵政</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jsp</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Bean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インライン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Hifw</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ﾄﾗｲｱﾙ</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Ajax Spring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XML</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ファイルで外出し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Hifw</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ﾄﾗｲｱﾙ２</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Ajax Spring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XML</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ファイルで外出し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物流ﾊﾟｯｹｰｼﾞ</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Spring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プロシージャ</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コマツﾜｰｸﾌﾛｰ</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Efw</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XML</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ファイルで外出し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aphicFrame>
        <p:nvGraphicFramePr>
          <p:cNvPr id="11" name="Group 652"/>
          <p:cNvGraphicFramePr>
            <a:graphicFrameLocks noGrp="1"/>
          </p:cNvGraphicFramePr>
          <p:nvPr>
            <p:extLst>
              <p:ext uri="{D42A27DB-BD31-4B8C-83A1-F6EECF244321}">
                <p14:modId xmlns:p14="http://schemas.microsoft.com/office/powerpoint/2010/main" val="3639684057"/>
              </p:ext>
            </p:extLst>
          </p:nvPr>
        </p:nvGraphicFramePr>
        <p:xfrm>
          <a:off x="502169" y="1804707"/>
          <a:ext cx="8176943" cy="3983992"/>
        </p:xfrm>
        <a:graphic>
          <a:graphicData uri="http://schemas.openxmlformats.org/drawingml/2006/table">
            <a:tbl>
              <a:tblPr>
                <a:effectLst>
                  <a:outerShdw blurRad="50800" dist="38100" dir="13500000" algn="br" rotWithShape="0">
                    <a:prstClr val="black">
                      <a:alpha val="40000"/>
                    </a:prstClr>
                  </a:outerShdw>
                </a:effectLst>
              </a:tblPr>
              <a:tblGrid>
                <a:gridCol w="1966763">
                  <a:extLst>
                    <a:ext uri="{9D8B030D-6E8A-4147-A177-3AD203B41FA5}">
                      <a16:colId xmlns:a16="http://schemas.microsoft.com/office/drawing/2014/main" val="20000"/>
                    </a:ext>
                  </a:extLst>
                </a:gridCol>
                <a:gridCol w="1439018">
                  <a:extLst>
                    <a:ext uri="{9D8B030D-6E8A-4147-A177-3AD203B41FA5}">
                      <a16:colId xmlns:a16="http://schemas.microsoft.com/office/drawing/2014/main" val="20001"/>
                    </a:ext>
                  </a:extLst>
                </a:gridCol>
                <a:gridCol w="1435951">
                  <a:extLst>
                    <a:ext uri="{9D8B030D-6E8A-4147-A177-3AD203B41FA5}">
                      <a16:colId xmlns:a16="http://schemas.microsoft.com/office/drawing/2014/main" val="20002"/>
                    </a:ext>
                  </a:extLst>
                </a:gridCol>
                <a:gridCol w="1644593">
                  <a:extLst>
                    <a:ext uri="{9D8B030D-6E8A-4147-A177-3AD203B41FA5}">
                      <a16:colId xmlns:a16="http://schemas.microsoft.com/office/drawing/2014/main" val="20003"/>
                    </a:ext>
                  </a:extLst>
                </a:gridCol>
                <a:gridCol w="1690618">
                  <a:extLst>
                    <a:ext uri="{9D8B030D-6E8A-4147-A177-3AD203B41FA5}">
                      <a16:colId xmlns:a16="http://schemas.microsoft.com/office/drawing/2014/main" val="20004"/>
                    </a:ext>
                  </a:extLst>
                </a:gridCol>
              </a:tblGrid>
              <a:tr h="463350">
                <a:tc gridSpan="5">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比較案件のボリューム情報</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72812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ﾌｧｲﾙ</a:t>
                      </a:r>
                      <a:r>
                        <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数</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endPar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ﾌﾟﾛｸﾞﾗﾑ行数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SQL</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IF FOR</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27012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234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2292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152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33615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2018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18952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130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1179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481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79038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314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5573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780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209680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1711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15188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198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15020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240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671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aphicFrame>
        <p:nvGraphicFramePr>
          <p:cNvPr id="15" name="Group 647"/>
          <p:cNvGraphicFramePr>
            <a:graphicFrameLocks noGrp="1"/>
          </p:cNvGraphicFramePr>
          <p:nvPr>
            <p:extLst>
              <p:ext uri="{D42A27DB-BD31-4B8C-83A1-F6EECF244321}">
                <p14:modId xmlns:p14="http://schemas.microsoft.com/office/powerpoint/2010/main" val="388206921"/>
              </p:ext>
            </p:extLst>
          </p:nvPr>
        </p:nvGraphicFramePr>
        <p:xfrm>
          <a:off x="755376" y="2141534"/>
          <a:ext cx="8089629" cy="3954469"/>
        </p:xfrm>
        <a:graphic>
          <a:graphicData uri="http://schemas.openxmlformats.org/drawingml/2006/table">
            <a:tbl>
              <a:tblPr>
                <a:effectLst>
                  <a:outerShdw blurRad="50800" dist="38100" dir="13500000" algn="br" rotWithShape="0">
                    <a:prstClr val="black">
                      <a:alpha val="40000"/>
                    </a:prstClr>
                  </a:outerShdw>
                </a:effectLst>
              </a:tblPr>
              <a:tblGrid>
                <a:gridCol w="1320445">
                  <a:extLst>
                    <a:ext uri="{9D8B030D-6E8A-4147-A177-3AD203B41FA5}">
                      <a16:colId xmlns:a16="http://schemas.microsoft.com/office/drawing/2014/main" val="20000"/>
                    </a:ext>
                  </a:extLst>
                </a:gridCol>
                <a:gridCol w="1162679">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2126705">
                  <a:extLst>
                    <a:ext uri="{9D8B030D-6E8A-4147-A177-3AD203B41FA5}">
                      <a16:colId xmlns:a16="http://schemas.microsoft.com/office/drawing/2014/main" val="20004"/>
                    </a:ext>
                  </a:extLst>
                </a:gridCol>
              </a:tblGrid>
              <a:tr h="461412">
                <a:tc gridSpan="5">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比較案件のプログラム複雑さ情報</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72458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平均</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複雑度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a:t>
                      </a:r>
                      <a:r>
                        <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行数</a:t>
                      </a:r>
                      <a:r>
                        <a:rPr kumimoji="1" lang="en-US" altLang="zh-CN"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ﾌｧｲﾙ</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a:t>
                      </a:r>
                      <a:r>
                        <a:rPr kumimoji="1" lang="zh-CN"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行数</a:t>
                      </a:r>
                      <a:r>
                        <a:rPr kumimoji="1" lang="en-US" altLang="zh-CN"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SQL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a:t>
                      </a:r>
                      <a:r>
                        <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行数</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IF FOR</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のﾊﾟｰｾﾝﾄ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186.29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115.44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8.49%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221.15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294.87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2.30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133.46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145.78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6.22%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2.76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164.32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251.71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7.05%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3.26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268.82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122.55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7.24%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1.94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75.86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62.58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4.47%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12</a:t>
            </a:fld>
            <a:endParaRPr lang="en-US" altLang="ja-JP" sz="1200">
              <a:solidFill>
                <a:srgbClr val="898989"/>
              </a:solidFill>
              <a:latin typeface="Meiryo UI" pitchFamily="50" charset="-128"/>
              <a:ea typeface="Meiryo UI" pitchFamily="50" charset="-128"/>
              <a:cs typeface="Meiryo UI" pitchFamily="50" charset="-128"/>
            </a:endParaRP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781" y="2433637"/>
            <a:ext cx="7934325" cy="3962400"/>
          </a:xfrm>
          <a:prstGeom prst="rect">
            <a:avLst/>
          </a:prstGeom>
          <a:noFill/>
          <a:ln w="12700" cmpd="sng">
            <a:solidFill>
              <a:schemeClr val="tx1"/>
            </a:solidFill>
            <a:miter lim="800000"/>
            <a:headEnd/>
            <a:tailEnd/>
          </a:ln>
          <a:effectLst>
            <a:outerShdw blurRad="50800" dist="38100" dir="13500000" algn="b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9"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８．</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導入の効果</a:t>
            </a:r>
          </a:p>
        </p:txBody>
      </p:sp>
      <p:sp>
        <p:nvSpPr>
          <p:cNvPr id="8" name="テキスト ボックス 7"/>
          <p:cNvSpPr txBox="1"/>
          <p:nvPr/>
        </p:nvSpPr>
        <p:spPr>
          <a:xfrm>
            <a:off x="307973" y="1040827"/>
            <a:ext cx="4054707" cy="338554"/>
          </a:xfrm>
          <a:prstGeom prst="rect">
            <a:avLst/>
          </a:prstGeom>
          <a:noFill/>
        </p:spPr>
        <p:txBody>
          <a:bodyPr wrap="square" rtlCol="0">
            <a:spAutoFit/>
          </a:bodyPr>
          <a:lstStyle/>
          <a:p>
            <a:r>
              <a:rPr lang="en-US" altLang="ja-JP" sz="16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実績一覧の案件１の効果分析です。</a:t>
            </a:r>
            <a:endParaRPr kumimoji="1" lang="ja-JP" altLang="en-US" sz="1600" dirty="0">
              <a:latin typeface="Meiryo UI" panose="020B0604030504040204" pitchFamily="50" charset="-128"/>
              <a:ea typeface="Meiryo UI" panose="020B0604030504040204" pitchFamily="50" charset="-128"/>
              <a:cs typeface="Meiryo UI" panose="020B0604030504040204" pitchFamily="50" charset="-128"/>
            </a:endParaRPr>
          </a:p>
        </p:txBody>
      </p:sp>
    </p:spTree>
    <p:custDataLst>
      <p:tags r:id="rId1"/>
    </p:custDataLst>
    <p:extLst>
      <p:ext uri="{BB962C8B-B14F-4D97-AF65-F5344CB8AC3E}">
        <p14:creationId xmlns:p14="http://schemas.microsoft.com/office/powerpoint/2010/main" val="164745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a:spLocks noChangeArrowheads="1"/>
          </p:cNvSpPr>
          <p:nvPr/>
        </p:nvSpPr>
        <p:spPr bwMode="auto">
          <a:xfrm>
            <a:off x="212970" y="968148"/>
            <a:ext cx="8723313"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5pPr>
            <a:lvl6pPr marL="2286000" algn="l" defTabSz="914400" rtl="0" eaLnBrk="1" latinLnBrk="0" hangingPunct="1">
              <a:defRPr kumimoji="1" sz="1100" kern="1200">
                <a:solidFill>
                  <a:schemeClr val="tx1"/>
                </a:solidFill>
                <a:latin typeface="Arial" charset="0"/>
                <a:ea typeface="ＭＳ Ｐゴシック" pitchFamily="50" charset="-128"/>
                <a:cs typeface="+mn-cs"/>
              </a:defRPr>
            </a:lvl6pPr>
            <a:lvl7pPr marL="2743200" algn="l" defTabSz="914400" rtl="0" eaLnBrk="1" latinLnBrk="0" hangingPunct="1">
              <a:defRPr kumimoji="1" sz="1100" kern="1200">
                <a:solidFill>
                  <a:schemeClr val="tx1"/>
                </a:solidFill>
                <a:latin typeface="Arial" charset="0"/>
                <a:ea typeface="ＭＳ Ｐゴシック" pitchFamily="50" charset="-128"/>
                <a:cs typeface="+mn-cs"/>
              </a:defRPr>
            </a:lvl7pPr>
            <a:lvl8pPr marL="3200400" algn="l" defTabSz="914400" rtl="0" eaLnBrk="1" latinLnBrk="0" hangingPunct="1">
              <a:defRPr kumimoji="1" sz="1100" kern="1200">
                <a:solidFill>
                  <a:schemeClr val="tx1"/>
                </a:solidFill>
                <a:latin typeface="Arial" charset="0"/>
                <a:ea typeface="ＭＳ Ｐゴシック" pitchFamily="50" charset="-128"/>
                <a:cs typeface="+mn-cs"/>
              </a:defRPr>
            </a:lvl8pPr>
            <a:lvl9pPr marL="3657600" algn="l" defTabSz="914400" rtl="0" eaLnBrk="1" latinLnBrk="0" hangingPunct="1">
              <a:defRPr kumimoji="1" sz="1100" kern="1200">
                <a:solidFill>
                  <a:schemeClr val="tx1"/>
                </a:solidFill>
                <a:latin typeface="Arial" charset="0"/>
                <a:ea typeface="ＭＳ Ｐゴシック" pitchFamily="50" charset="-128"/>
                <a:cs typeface="+mn-cs"/>
              </a:defRPr>
            </a:lvl9pPr>
          </a:lstStyle>
          <a:p>
            <a:pPr marL="342900" indent="-342900" eaLnBrk="1" latinLnBrk="1" hangingPunct="1">
              <a:lnSpc>
                <a:spcPct val="150000"/>
              </a:lnSpc>
              <a:spcBef>
                <a:spcPct val="25000"/>
              </a:spcBef>
              <a:buFont typeface="Arial" panose="020B0604020202020204" pitchFamily="34" charset="0"/>
              <a:buChar char="•"/>
            </a:pPr>
            <a:r>
              <a:rPr lang="ja-JP" altLang="en-US" sz="2000" dirty="0">
                <a:latin typeface="Meiryo UI" pitchFamily="50" charset="-128"/>
                <a:ea typeface="Meiryo UI" pitchFamily="50" charset="-128"/>
                <a:cs typeface="Meiryo UI" pitchFamily="50" charset="-128"/>
              </a:rPr>
              <a:t>コンサル業務で要件確認するために</a:t>
            </a:r>
            <a:r>
              <a:rPr lang="en-US" altLang="ja-JP" sz="2000" dirty="0">
                <a:latin typeface="Meiryo UI" pitchFamily="50" charset="-128"/>
                <a:ea typeface="Meiryo UI" pitchFamily="50" charset="-128"/>
                <a:cs typeface="Meiryo UI" pitchFamily="50" charset="-128"/>
              </a:rPr>
              <a:t>EFW</a:t>
            </a:r>
            <a:r>
              <a:rPr lang="ja-JP" altLang="en-US" sz="2000" dirty="0">
                <a:latin typeface="Meiryo UI" pitchFamily="50" charset="-128"/>
                <a:ea typeface="Meiryo UI" pitchFamily="50" charset="-128"/>
                <a:cs typeface="Meiryo UI" pitchFamily="50" charset="-128"/>
              </a:rPr>
              <a:t>でプロトタイプを作っている。とても重宝。急に思いついた構想を具体化するのにも役立つね！</a:t>
            </a:r>
            <a:endParaRPr lang="en-US" altLang="ja-JP" sz="2000" dirty="0">
              <a:latin typeface="Meiryo UI" pitchFamily="50" charset="-128"/>
              <a:ea typeface="Meiryo UI" pitchFamily="50" charset="-128"/>
              <a:cs typeface="Meiryo UI" pitchFamily="50" charset="-128"/>
            </a:endParaRPr>
          </a:p>
          <a:p>
            <a:pPr marL="342900" indent="-342900" eaLnBrk="1" latinLnBrk="1" hangingPunct="1">
              <a:lnSpc>
                <a:spcPct val="150000"/>
              </a:lnSpc>
              <a:spcBef>
                <a:spcPct val="25000"/>
              </a:spcBef>
              <a:buFont typeface="Arial" panose="020B0604020202020204" pitchFamily="34" charset="0"/>
              <a:buChar char="•"/>
            </a:pPr>
            <a:r>
              <a:rPr lang="en-US" altLang="ja-JP" sz="2000" dirty="0">
                <a:latin typeface="Meiryo UI" pitchFamily="50" charset="-128"/>
                <a:ea typeface="Meiryo UI" pitchFamily="50" charset="-128"/>
                <a:cs typeface="Meiryo UI" pitchFamily="50" charset="-128"/>
              </a:rPr>
              <a:t>Skeleton</a:t>
            </a:r>
            <a:r>
              <a:rPr lang="ja-JP" altLang="en-US" sz="2000" dirty="0">
                <a:latin typeface="Meiryo UI" pitchFamily="50" charset="-128"/>
                <a:ea typeface="Meiryo UI" pitchFamily="50" charset="-128"/>
                <a:cs typeface="Meiryo UI" pitchFamily="50" charset="-128"/>
              </a:rPr>
              <a:t>サンプルのデザインはいいね！ぷりぷりの操作感はいいね！</a:t>
            </a:r>
            <a:endParaRPr lang="en-US" altLang="ja-JP" sz="2000" dirty="0">
              <a:latin typeface="Meiryo UI" pitchFamily="50" charset="-128"/>
              <a:ea typeface="Meiryo UI" pitchFamily="50" charset="-128"/>
              <a:cs typeface="Meiryo UI" pitchFamily="50" charset="-128"/>
            </a:endParaRPr>
          </a:p>
          <a:p>
            <a:pPr marL="342900" indent="-342900" eaLnBrk="1" latinLnBrk="1" hangingPunct="1">
              <a:lnSpc>
                <a:spcPct val="150000"/>
              </a:lnSpc>
              <a:spcBef>
                <a:spcPct val="25000"/>
              </a:spcBef>
              <a:buFont typeface="Arial" panose="020B0604020202020204" pitchFamily="34" charset="0"/>
              <a:buChar char="•"/>
            </a:pPr>
            <a:r>
              <a:rPr lang="ja-JP" altLang="en-US" sz="2000" dirty="0">
                <a:latin typeface="Meiryo UI" pitchFamily="50" charset="-128"/>
                <a:ea typeface="Meiryo UI" pitchFamily="50" charset="-128"/>
                <a:cs typeface="Meiryo UI" pitchFamily="50" charset="-128"/>
              </a:rPr>
              <a:t>ソース修正後、再起動ではなく、</a:t>
            </a:r>
            <a:r>
              <a:rPr lang="en-US" altLang="ja-JP" sz="2000" dirty="0">
                <a:latin typeface="Meiryo UI" pitchFamily="50" charset="-128"/>
                <a:ea typeface="Meiryo UI" pitchFamily="50" charset="-128"/>
                <a:cs typeface="Meiryo UI" pitchFamily="50" charset="-128"/>
              </a:rPr>
              <a:t>F5</a:t>
            </a:r>
            <a:r>
              <a:rPr lang="ja-JP" altLang="en-US" sz="2000" dirty="0">
                <a:latin typeface="Meiryo UI" pitchFamily="50" charset="-128"/>
                <a:ea typeface="Meiryo UI" pitchFamily="50" charset="-128"/>
                <a:cs typeface="Meiryo UI" pitchFamily="50" charset="-128"/>
              </a:rPr>
              <a:t>キーを押せば確認できる。とても便利！</a:t>
            </a:r>
            <a:endParaRPr lang="en-US" altLang="ja-JP" sz="2000" dirty="0">
              <a:latin typeface="Meiryo UI" pitchFamily="50" charset="-128"/>
              <a:ea typeface="Meiryo UI" pitchFamily="50" charset="-128"/>
              <a:cs typeface="Meiryo UI" pitchFamily="50" charset="-128"/>
            </a:endParaRPr>
          </a:p>
          <a:p>
            <a:pPr marL="342900" indent="-342900" eaLnBrk="1" latinLnBrk="1" hangingPunct="1">
              <a:lnSpc>
                <a:spcPct val="150000"/>
              </a:lnSpc>
              <a:spcBef>
                <a:spcPct val="25000"/>
              </a:spcBef>
              <a:buFont typeface="Arial" panose="020B0604020202020204" pitchFamily="34" charset="0"/>
              <a:buChar char="•"/>
            </a:pPr>
            <a:r>
              <a:rPr lang="ja-JP" altLang="en-US" sz="2000" dirty="0">
                <a:latin typeface="Meiryo UI" pitchFamily="50" charset="-128"/>
                <a:ea typeface="Meiryo UI" pitchFamily="50" charset="-128"/>
                <a:cs typeface="Meiryo UI" pitchFamily="50" charset="-128"/>
              </a:rPr>
              <a:t>数か月</a:t>
            </a:r>
            <a:r>
              <a:rPr lang="en-US" altLang="ja-JP" sz="2000" dirty="0">
                <a:latin typeface="Meiryo UI" pitchFamily="50" charset="-128"/>
                <a:ea typeface="Meiryo UI" pitchFamily="50" charset="-128"/>
                <a:cs typeface="Meiryo UI" pitchFamily="50" charset="-128"/>
              </a:rPr>
              <a:t>EFW</a:t>
            </a:r>
            <a:r>
              <a:rPr lang="ja-JP" altLang="en-US" sz="2000" dirty="0">
                <a:latin typeface="Meiryo UI" pitchFamily="50" charset="-128"/>
                <a:ea typeface="Meiryo UI" pitchFamily="50" charset="-128"/>
                <a:cs typeface="Meiryo UI" pitchFamily="50" charset="-128"/>
              </a:rPr>
              <a:t>プロジェクトをやって、もう</a:t>
            </a:r>
            <a:r>
              <a:rPr lang="en-US" altLang="ja-JP" sz="2000" dirty="0">
                <a:latin typeface="Meiryo UI" pitchFamily="50" charset="-128"/>
                <a:ea typeface="Meiryo UI" pitchFamily="50" charset="-128"/>
                <a:cs typeface="Meiryo UI" pitchFamily="50" charset="-128"/>
              </a:rPr>
              <a:t>Spring</a:t>
            </a:r>
            <a:r>
              <a:rPr lang="ja-JP" altLang="en-US" sz="2000" dirty="0">
                <a:latin typeface="Meiryo UI" pitchFamily="50" charset="-128"/>
                <a:ea typeface="Meiryo UI" pitchFamily="50" charset="-128"/>
                <a:cs typeface="Meiryo UI" pitchFamily="50" charset="-128"/>
              </a:rPr>
              <a:t>をやりたくない！</a:t>
            </a:r>
            <a:endParaRPr lang="en-US" altLang="ja-JP" sz="2000" dirty="0">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13</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８．利用者からの褒め言葉</a:t>
            </a:r>
          </a:p>
        </p:txBody>
      </p:sp>
    </p:spTree>
    <p:custDataLst>
      <p:tags r:id="rId1"/>
    </p:custDataLst>
    <p:extLst>
      <p:ext uri="{BB962C8B-B14F-4D97-AF65-F5344CB8AC3E}">
        <p14:creationId xmlns:p14="http://schemas.microsoft.com/office/powerpoint/2010/main" val="92146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76894"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と</a:t>
            </a:r>
            <a:r>
              <a:rPr lang="en-US" altLang="ja-JP" sz="2800" dirty="0">
                <a:solidFill>
                  <a:schemeClr val="tx2"/>
                </a:solidFill>
                <a:latin typeface="Meiryo UI" pitchFamily="50" charset="-128"/>
                <a:ea typeface="Meiryo UI" pitchFamily="50" charset="-128"/>
                <a:cs typeface="Meiryo UI" pitchFamily="50" charset="-128"/>
              </a:rPr>
              <a:t>MVC</a:t>
            </a:r>
            <a:r>
              <a:rPr lang="ja-JP" altLang="en-US" sz="2800" dirty="0">
                <a:solidFill>
                  <a:schemeClr val="tx2"/>
                </a:solidFill>
                <a:latin typeface="Meiryo UI" pitchFamily="50" charset="-128"/>
                <a:ea typeface="Meiryo UI" pitchFamily="50" charset="-128"/>
                <a:cs typeface="Meiryo UI" pitchFamily="50" charset="-128"/>
              </a:rPr>
              <a:t>の比較（テストプログラム）</a:t>
            </a:r>
            <a:endParaRPr lang="ja-JP" altLang="en-US" sz="16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14</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3" name="AutoShape 6" descr="「我反正信了。」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7" name="グラフ 6"/>
          <p:cNvGraphicFramePr>
            <a:graphicFrameLocks/>
          </p:cNvGraphicFramePr>
          <p:nvPr>
            <p:extLst/>
          </p:nvPr>
        </p:nvGraphicFramePr>
        <p:xfrm>
          <a:off x="155576" y="1063486"/>
          <a:ext cx="4043892" cy="53627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表 1"/>
          <p:cNvGraphicFramePr>
            <a:graphicFrameLocks noGrp="1"/>
          </p:cNvGraphicFramePr>
          <p:nvPr>
            <p:extLst/>
          </p:nvPr>
        </p:nvGraphicFramePr>
        <p:xfrm>
          <a:off x="4436534" y="1063486"/>
          <a:ext cx="4529667" cy="2225040"/>
        </p:xfrm>
        <a:graphic>
          <a:graphicData uri="http://schemas.openxmlformats.org/drawingml/2006/table">
            <a:tbl>
              <a:tblPr firstRow="1" bandRow="1">
                <a:tableStyleId>{5C22544A-7EE6-4342-B048-85BDC9FD1C3A}</a:tableStyleId>
              </a:tblPr>
              <a:tblGrid>
                <a:gridCol w="1075266">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52601">
                  <a:extLst>
                    <a:ext uri="{9D8B030D-6E8A-4147-A177-3AD203B41FA5}">
                      <a16:colId xmlns:a16="http://schemas.microsoft.com/office/drawing/2014/main" val="20002"/>
                    </a:ext>
                  </a:extLst>
                </a:gridCol>
              </a:tblGrid>
              <a:tr h="370840">
                <a:tc>
                  <a:txBody>
                    <a:bodyPr/>
                    <a:lstStyle/>
                    <a:p>
                      <a:r>
                        <a:rPr kumimoji="1" lang="ja-JP" altLang="en-US" dirty="0"/>
                        <a:t>分類</a:t>
                      </a:r>
                    </a:p>
                  </a:txBody>
                  <a:tcPr/>
                </a:tc>
                <a:tc>
                  <a:txBody>
                    <a:bodyPr/>
                    <a:lstStyle/>
                    <a:p>
                      <a:r>
                        <a:rPr kumimoji="1" lang="en-US" altLang="ja-JP" dirty="0"/>
                        <a:t>Spring</a:t>
                      </a:r>
                      <a:r>
                        <a:rPr kumimoji="1" lang="ja-JP" altLang="en-US" dirty="0"/>
                        <a:t>の場合</a:t>
                      </a:r>
                    </a:p>
                  </a:txBody>
                  <a:tcPr/>
                </a:tc>
                <a:tc>
                  <a:txBody>
                    <a:bodyPr/>
                    <a:lstStyle/>
                    <a:p>
                      <a:r>
                        <a:rPr kumimoji="1" lang="en-US" altLang="ja-JP" dirty="0"/>
                        <a:t>EFW</a:t>
                      </a:r>
                      <a:r>
                        <a:rPr kumimoji="1" lang="ja-JP" altLang="en-US" dirty="0"/>
                        <a:t>の場合</a:t>
                      </a:r>
                    </a:p>
                  </a:txBody>
                  <a:tcPr/>
                </a:tc>
                <a:extLst>
                  <a:ext uri="{0D108BD9-81ED-4DB2-BD59-A6C34878D82A}">
                    <a16:rowId xmlns:a16="http://schemas.microsoft.com/office/drawing/2014/main" val="10000"/>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M</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80 </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60 </a:t>
                      </a:r>
                    </a:p>
                  </a:txBody>
                  <a:tcPr anchor="ctr"/>
                </a:tc>
                <a:extLst>
                  <a:ext uri="{0D108BD9-81ED-4DB2-BD59-A6C34878D82A}">
                    <a16:rowId xmlns:a16="http://schemas.microsoft.com/office/drawing/2014/main" val="10001"/>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V</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50</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46</a:t>
                      </a:r>
                    </a:p>
                  </a:txBody>
                  <a:tcPr anchor="ctr"/>
                </a:tc>
                <a:extLst>
                  <a:ext uri="{0D108BD9-81ED-4DB2-BD59-A6C34878D82A}">
                    <a16:rowId xmlns:a16="http://schemas.microsoft.com/office/drawing/2014/main" val="10002"/>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C</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80</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0</a:t>
                      </a:r>
                    </a:p>
                  </a:txBody>
                  <a:tcPr anchor="ctr"/>
                </a:tc>
                <a:extLst>
                  <a:ext uri="{0D108BD9-81ED-4DB2-BD59-A6C34878D82A}">
                    <a16:rowId xmlns:a16="http://schemas.microsoft.com/office/drawing/2014/main" val="10003"/>
                  </a:ext>
                </a:extLst>
              </a:tr>
              <a:tr h="370840">
                <a:tc>
                  <a:txBody>
                    <a:bodyPr/>
                    <a:lstStyle/>
                    <a:p>
                      <a:pPr algn="ctr" rtl="0" fontAlgn="ctr"/>
                      <a:r>
                        <a:rPr lang="en-US" sz="1800" b="0" i="0" u="none" strike="noStrike">
                          <a:solidFill>
                            <a:srgbClr val="000000"/>
                          </a:solidFill>
                          <a:effectLst/>
                          <a:latin typeface="Arial" panose="020B0604020202020204" pitchFamily="34" charset="0"/>
                          <a:ea typeface="ＭＳ Ｐゴシック" panose="020B0600070205080204" pitchFamily="50" charset="-128"/>
                        </a:rPr>
                        <a:t>DAO</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5</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0</a:t>
                      </a:r>
                    </a:p>
                  </a:txBody>
                  <a:tcPr anchor="ctr">
                    <a:solidFill>
                      <a:srgbClr val="E9EDF4"/>
                    </a:solidFill>
                  </a:tcPr>
                </a:tc>
                <a:extLst>
                  <a:ext uri="{0D108BD9-81ED-4DB2-BD59-A6C34878D82A}">
                    <a16:rowId xmlns:a16="http://schemas.microsoft.com/office/drawing/2014/main" val="10004"/>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SQL</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10</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10</a:t>
                      </a:r>
                    </a:p>
                  </a:txBody>
                  <a:tcPr anchor="ctr"/>
                </a:tc>
                <a:extLst>
                  <a:ext uri="{0D108BD9-81ED-4DB2-BD59-A6C34878D82A}">
                    <a16:rowId xmlns:a16="http://schemas.microsoft.com/office/drawing/2014/main" val="10005"/>
                  </a:ext>
                </a:extLst>
              </a:tr>
            </a:tbl>
          </a:graphicData>
        </a:graphic>
      </p:graphicFrame>
      <p:sp>
        <p:nvSpPr>
          <p:cNvPr id="8" name="正方形/長方形 7"/>
          <p:cNvSpPr/>
          <p:nvPr/>
        </p:nvSpPr>
        <p:spPr>
          <a:xfrm>
            <a:off x="4436534" y="4390740"/>
            <a:ext cx="4529667" cy="1574799"/>
          </a:xfrm>
          <a:prstGeom prst="rect">
            <a:avLst/>
          </a:prstGeom>
          <a:ln/>
        </p:spPr>
        <p:style>
          <a:lnRef idx="3">
            <a:schemeClr val="lt1"/>
          </a:lnRef>
          <a:fillRef idx="1">
            <a:schemeClr val="accent6"/>
          </a:fillRef>
          <a:effectRef idx="1">
            <a:schemeClr val="accent6"/>
          </a:effectRef>
          <a:fontRef idx="minor">
            <a:schemeClr val="lt1"/>
          </a:fontRef>
        </p:style>
        <p:txBody>
          <a:bodyPr rtlCol="0" anchor="t" anchorCtr="0"/>
          <a:lstStyle/>
          <a:p>
            <a:endPar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は、目標志向だから、</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層を削減。</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は、クライアントロジックなし方針で、</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V</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層を削減。</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は、イベント</a:t>
            </a:r>
            <a:r>
              <a:rPr lang="en-US" altLang="ja-JP" sz="14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js</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と画面操作とマッピングし易い、</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層不要。</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db.select</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Record</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で十分便利、</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DAO</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不要。</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・外出し</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SQL</a:t>
            </a: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は、ほぼ同じぐらい。</a:t>
            </a:r>
          </a:p>
        </p:txBody>
      </p:sp>
      <p:graphicFrame>
        <p:nvGraphicFramePr>
          <p:cNvPr id="12" name="表 11"/>
          <p:cNvGraphicFramePr>
            <a:graphicFrameLocks noGrp="1"/>
          </p:cNvGraphicFramePr>
          <p:nvPr>
            <p:extLst/>
          </p:nvPr>
        </p:nvGraphicFramePr>
        <p:xfrm>
          <a:off x="4436533" y="3468793"/>
          <a:ext cx="4529667" cy="741680"/>
        </p:xfrm>
        <a:graphic>
          <a:graphicData uri="http://schemas.openxmlformats.org/drawingml/2006/table">
            <a:tbl>
              <a:tblPr firstRow="1" bandRow="1">
                <a:tableStyleId>{5C22544A-7EE6-4342-B048-85BDC9FD1C3A}</a:tableStyleId>
              </a:tblPr>
              <a:tblGrid>
                <a:gridCol w="1075266">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52601">
                  <a:extLst>
                    <a:ext uri="{9D8B030D-6E8A-4147-A177-3AD203B41FA5}">
                      <a16:colId xmlns:a16="http://schemas.microsoft.com/office/drawing/2014/main" val="20002"/>
                    </a:ext>
                  </a:extLst>
                </a:gridCol>
              </a:tblGrid>
              <a:tr h="370840">
                <a:tc>
                  <a:txBody>
                    <a:bodyPr/>
                    <a:lstStyle/>
                    <a:p>
                      <a:pPr algn="ctr"/>
                      <a:r>
                        <a:rPr kumimoji="1" lang="ja-JP" altLang="en-US" dirty="0">
                          <a:solidFill>
                            <a:schemeClr val="tx1"/>
                          </a:solidFill>
                        </a:rPr>
                        <a:t>サマリ</a:t>
                      </a:r>
                    </a:p>
                  </a:txBody>
                  <a:tcPr>
                    <a:solidFill>
                      <a:srgbClr val="E9EDF4"/>
                    </a:solidFill>
                  </a:tcPr>
                </a:tc>
                <a:tc>
                  <a:txBody>
                    <a:bodyPr/>
                    <a:lstStyle/>
                    <a:p>
                      <a:pPr algn="r"/>
                      <a:r>
                        <a:rPr kumimoji="1" lang="en-US" altLang="ja-JP" dirty="0">
                          <a:solidFill>
                            <a:schemeClr val="tx1"/>
                          </a:solidFill>
                        </a:rPr>
                        <a:t>229</a:t>
                      </a:r>
                      <a:endParaRPr kumimoji="1" lang="ja-JP" altLang="en-US" dirty="0">
                        <a:solidFill>
                          <a:schemeClr val="tx1"/>
                        </a:solidFill>
                      </a:endParaRPr>
                    </a:p>
                  </a:txBody>
                  <a:tcPr>
                    <a:solidFill>
                      <a:srgbClr val="E9EDF4"/>
                    </a:solidFill>
                  </a:tcPr>
                </a:tc>
                <a:tc>
                  <a:txBody>
                    <a:bodyPr/>
                    <a:lstStyle/>
                    <a:p>
                      <a:pPr algn="r"/>
                      <a:r>
                        <a:rPr kumimoji="1" lang="en-US" altLang="ja-JP" dirty="0">
                          <a:solidFill>
                            <a:schemeClr val="tx1"/>
                          </a:solidFill>
                        </a:rPr>
                        <a:t>116</a:t>
                      </a:r>
                      <a:endParaRPr kumimoji="1" lang="ja-JP" altLang="en-US" dirty="0">
                        <a:solidFill>
                          <a:schemeClr val="tx1"/>
                        </a:solidFill>
                      </a:endParaRPr>
                    </a:p>
                  </a:txBody>
                  <a:tcPr>
                    <a:solidFill>
                      <a:srgbClr val="E9EDF4"/>
                    </a:solidFill>
                  </a:tcPr>
                </a:tc>
                <a:extLst>
                  <a:ext uri="{0D108BD9-81ED-4DB2-BD59-A6C34878D82A}">
                    <a16:rowId xmlns:a16="http://schemas.microsoft.com/office/drawing/2014/main" val="10000"/>
                  </a:ext>
                </a:extLst>
              </a:tr>
              <a:tr h="370840">
                <a:tc>
                  <a:txBody>
                    <a:bodyPr/>
                    <a:lstStyle/>
                    <a:p>
                      <a:pPr algn="ctr"/>
                      <a:r>
                        <a:rPr kumimoji="1" lang="ja-JP" altLang="en-US" b="1" dirty="0"/>
                        <a:t>％表示</a:t>
                      </a:r>
                    </a:p>
                  </a:txBody>
                  <a:tcPr/>
                </a:tc>
                <a:tc>
                  <a:txBody>
                    <a:bodyPr/>
                    <a:lstStyle/>
                    <a:p>
                      <a:pPr algn="r"/>
                      <a:r>
                        <a:rPr kumimoji="1" lang="en-US" altLang="ja-JP" b="1" dirty="0">
                          <a:solidFill>
                            <a:schemeClr val="tx1"/>
                          </a:solidFill>
                        </a:rPr>
                        <a:t>100%</a:t>
                      </a:r>
                      <a:endParaRPr kumimoji="1" lang="ja-JP" altLang="en-US" b="1" dirty="0">
                        <a:solidFill>
                          <a:schemeClr val="tx1"/>
                        </a:solidFill>
                      </a:endParaRPr>
                    </a:p>
                  </a:txBody>
                  <a:tcPr/>
                </a:tc>
                <a:tc>
                  <a:txBody>
                    <a:bodyPr/>
                    <a:lstStyle/>
                    <a:p>
                      <a:pPr algn="r"/>
                      <a:r>
                        <a:rPr kumimoji="1" lang="en-US" altLang="ja-JP" b="1" dirty="0">
                          <a:solidFill>
                            <a:schemeClr val="tx1"/>
                          </a:solidFill>
                        </a:rPr>
                        <a:t>51%</a:t>
                      </a:r>
                      <a:endParaRPr kumimoji="1" lang="ja-JP" altLang="en-US" b="1" dirty="0">
                        <a:solidFill>
                          <a:schemeClr val="tx1"/>
                        </a:solidFill>
                      </a:endParaRPr>
                    </a:p>
                  </a:txBody>
                  <a:tcPr>
                    <a:solidFill>
                      <a:srgbClr val="D0D8E8"/>
                    </a:solidFill>
                  </a:tcPr>
                </a:tc>
                <a:extLst>
                  <a:ext uri="{0D108BD9-81ED-4DB2-BD59-A6C34878D82A}">
                    <a16:rowId xmlns:a16="http://schemas.microsoft.com/office/drawing/2014/main" val="10001"/>
                  </a:ext>
                </a:extLst>
              </a:tr>
            </a:tbl>
          </a:graphicData>
        </a:graphic>
      </p:graphicFrame>
      <p:sp>
        <p:nvSpPr>
          <p:cNvPr id="4" name="正方形/長方形 3"/>
          <p:cNvSpPr/>
          <p:nvPr/>
        </p:nvSpPr>
        <p:spPr>
          <a:xfrm>
            <a:off x="5131675" y="1466192"/>
            <a:ext cx="1174531" cy="275897"/>
          </a:xfrm>
          <a:prstGeom prst="rect">
            <a:avLst/>
          </a:prstGeom>
          <a:noFill/>
          <a:ln>
            <a:noFill/>
          </a:ln>
        </p:spPr>
        <p:style>
          <a:lnRef idx="3">
            <a:schemeClr val="lt1"/>
          </a:lnRef>
          <a:fillRef idx="1">
            <a:schemeClr val="accent5"/>
          </a:fillRef>
          <a:effectRef idx="1">
            <a:schemeClr val="accent5"/>
          </a:effectRef>
          <a:fontRef idx="minor">
            <a:schemeClr val="lt1"/>
          </a:fontRef>
        </p:style>
        <p:txBody>
          <a:bodyPr rtlCol="0" anchor="ctr"/>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業務ロジック</a:t>
            </a:r>
          </a:p>
        </p:txBody>
      </p:sp>
      <p:sp>
        <p:nvSpPr>
          <p:cNvPr id="10" name="正方形/長方形 9"/>
          <p:cNvSpPr/>
          <p:nvPr/>
        </p:nvSpPr>
        <p:spPr>
          <a:xfrm>
            <a:off x="5131674" y="1831729"/>
            <a:ext cx="1174531" cy="275897"/>
          </a:xfrm>
          <a:prstGeom prst="rect">
            <a:avLst/>
          </a:prstGeom>
          <a:noFill/>
          <a:ln>
            <a:noFill/>
          </a:ln>
        </p:spPr>
        <p:style>
          <a:lnRef idx="3">
            <a:schemeClr val="lt1"/>
          </a:lnRef>
          <a:fillRef idx="1">
            <a:schemeClr val="accent5"/>
          </a:fillRef>
          <a:effectRef idx="1">
            <a:schemeClr val="accent5"/>
          </a:effectRef>
          <a:fontRef idx="minor">
            <a:schemeClr val="lt1"/>
          </a:fontRef>
        </p:style>
        <p:txBody>
          <a:bodyPr rtlCol="0" anchor="ctr"/>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11" name="正方形/長方形 10"/>
          <p:cNvSpPr/>
          <p:nvPr/>
        </p:nvSpPr>
        <p:spPr>
          <a:xfrm>
            <a:off x="5131673" y="2201547"/>
            <a:ext cx="1174531" cy="275897"/>
          </a:xfrm>
          <a:prstGeom prst="rect">
            <a:avLst/>
          </a:prstGeom>
          <a:noFill/>
          <a:ln>
            <a:noFill/>
          </a:ln>
        </p:spPr>
        <p:style>
          <a:lnRef idx="3">
            <a:schemeClr val="lt1"/>
          </a:lnRef>
          <a:fillRef idx="1">
            <a:schemeClr val="accent5"/>
          </a:fillRef>
          <a:effectRef idx="1">
            <a:schemeClr val="accent5"/>
          </a:effectRef>
          <a:fontRef idx="minor">
            <a:schemeClr val="lt1"/>
          </a:fontRef>
        </p:style>
        <p:txBody>
          <a:bodyPr rtlCol="0" anchor="ctr"/>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制御</a:t>
            </a:r>
          </a:p>
        </p:txBody>
      </p:sp>
      <p:sp>
        <p:nvSpPr>
          <p:cNvPr id="13" name="テキスト ボックス 5">
            <a:extLst>
              <a:ext uri="{FF2B5EF4-FFF2-40B4-BE49-F238E27FC236}">
                <a16:creationId xmlns:a16="http://schemas.microsoft.com/office/drawing/2014/main" id="{FCCB938B-C3CD-48DC-B423-2BCB88052BE8}"/>
              </a:ext>
            </a:extLst>
          </p:cNvPr>
          <p:cNvSpPr txBox="1">
            <a:spLocks noChangeArrowheads="1"/>
          </p:cNvSpPr>
          <p:nvPr/>
        </p:nvSpPr>
        <p:spPr bwMode="auto">
          <a:xfrm>
            <a:off x="4436532" y="5981981"/>
            <a:ext cx="4551891" cy="461665"/>
          </a:xfrm>
          <a:prstGeom prst="rect">
            <a:avLst/>
          </a:prstGeom>
          <a:solidFill>
            <a:schemeClr val="bg1"/>
          </a:solidFill>
          <a:ln>
            <a:noFill/>
          </a:ln>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en-US" altLang="ja-JP" sz="1200" dirty="0">
                <a:solidFill>
                  <a:srgbClr val="002060"/>
                </a:solidFill>
                <a:latin typeface="Meiryo UI" pitchFamily="50" charset="-128"/>
                <a:ea typeface="Meiryo UI" pitchFamily="50" charset="-128"/>
                <a:cs typeface="Meiryo UI" pitchFamily="50" charset="-128"/>
              </a:rPr>
              <a:t>※MVC</a:t>
            </a:r>
            <a:r>
              <a:rPr lang="ja-JP" altLang="en-US" sz="1200" dirty="0">
                <a:solidFill>
                  <a:srgbClr val="002060"/>
                </a:solidFill>
                <a:latin typeface="Meiryo UI" pitchFamily="50" charset="-128"/>
                <a:ea typeface="Meiryo UI" pitchFamily="50" charset="-128"/>
                <a:cs typeface="Meiryo UI" pitchFamily="50" charset="-128"/>
              </a:rPr>
              <a:t>の</a:t>
            </a:r>
            <a:r>
              <a:rPr lang="en-US" altLang="ja-JP" sz="1200" dirty="0">
                <a:solidFill>
                  <a:srgbClr val="002060"/>
                </a:solidFill>
                <a:latin typeface="Meiryo UI" pitchFamily="50" charset="-128"/>
                <a:ea typeface="Meiryo UI" pitchFamily="50" charset="-128"/>
                <a:cs typeface="Meiryo UI" pitchFamily="50" charset="-128"/>
              </a:rPr>
              <a:t>Bean</a:t>
            </a:r>
            <a:r>
              <a:rPr lang="ja-JP" altLang="en-US" sz="1200" dirty="0">
                <a:solidFill>
                  <a:srgbClr val="002060"/>
                </a:solidFill>
                <a:latin typeface="Meiryo UI" pitchFamily="50" charset="-128"/>
                <a:ea typeface="Meiryo UI" pitchFamily="50" charset="-128"/>
                <a:cs typeface="Meiryo UI" pitchFamily="50" charset="-128"/>
              </a:rPr>
              <a:t>・</a:t>
            </a:r>
            <a:r>
              <a:rPr lang="en-US" altLang="ja-JP" sz="1200" dirty="0">
                <a:solidFill>
                  <a:srgbClr val="002060"/>
                </a:solidFill>
                <a:latin typeface="Meiryo UI" pitchFamily="50" charset="-128"/>
                <a:ea typeface="Meiryo UI" pitchFamily="50" charset="-128"/>
                <a:cs typeface="Meiryo UI" pitchFamily="50" charset="-128"/>
              </a:rPr>
              <a:t>Form</a:t>
            </a:r>
            <a:r>
              <a:rPr lang="ja-JP" altLang="en-US" sz="1200" dirty="0">
                <a:solidFill>
                  <a:srgbClr val="002060"/>
                </a:solidFill>
                <a:latin typeface="Meiryo UI" pitchFamily="50" charset="-128"/>
                <a:ea typeface="Meiryo UI" pitchFamily="50" charset="-128"/>
                <a:cs typeface="Meiryo UI" pitchFamily="50" charset="-128"/>
              </a:rPr>
              <a:t>・</a:t>
            </a:r>
            <a:r>
              <a:rPr lang="en-US" altLang="ja-JP" sz="1200" dirty="0">
                <a:solidFill>
                  <a:srgbClr val="002060"/>
                </a:solidFill>
                <a:latin typeface="Meiryo UI" pitchFamily="50" charset="-128"/>
                <a:ea typeface="Meiryo UI" pitchFamily="50" charset="-128"/>
                <a:cs typeface="Meiryo UI" pitchFamily="50" charset="-128"/>
              </a:rPr>
              <a:t>DTO</a:t>
            </a:r>
            <a:r>
              <a:rPr lang="ja-JP" altLang="en-US" sz="1200" dirty="0">
                <a:solidFill>
                  <a:srgbClr val="002060"/>
                </a:solidFill>
                <a:latin typeface="Meiryo UI" pitchFamily="50" charset="-128"/>
                <a:ea typeface="Meiryo UI" pitchFamily="50" charset="-128"/>
                <a:cs typeface="Meiryo UI" pitchFamily="50" charset="-128"/>
              </a:rPr>
              <a:t>・</a:t>
            </a:r>
            <a:r>
              <a:rPr lang="en-US" altLang="ja-JP" sz="1200" dirty="0">
                <a:solidFill>
                  <a:srgbClr val="002060"/>
                </a:solidFill>
                <a:latin typeface="Meiryo UI" pitchFamily="50" charset="-128"/>
                <a:ea typeface="Meiryo UI" pitchFamily="50" charset="-128"/>
                <a:cs typeface="Meiryo UI" pitchFamily="50" charset="-128"/>
              </a:rPr>
              <a:t>Entity</a:t>
            </a:r>
            <a:r>
              <a:rPr lang="ja-JP" altLang="en-US" sz="1200" dirty="0">
                <a:solidFill>
                  <a:srgbClr val="002060"/>
                </a:solidFill>
                <a:latin typeface="Meiryo UI" pitchFamily="50" charset="-128"/>
                <a:ea typeface="Meiryo UI" pitchFamily="50" charset="-128"/>
                <a:cs typeface="Meiryo UI" pitchFamily="50" charset="-128"/>
              </a:rPr>
              <a:t>などは、ほぼ開発ツールで自動作成されるから、比較範囲から除外。</a:t>
            </a:r>
            <a:endParaRPr lang="en-US" altLang="ja-JP" sz="1200" dirty="0">
              <a:solidFill>
                <a:srgbClr val="002060"/>
              </a:solidFill>
              <a:latin typeface="Meiryo UI" pitchFamily="50" charset="-128"/>
              <a:ea typeface="Meiryo UI" pitchFamily="50" charset="-128"/>
              <a:cs typeface="Meiryo UI" pitchFamily="50" charset="-128"/>
            </a:endParaRPr>
          </a:p>
        </p:txBody>
      </p:sp>
    </p:spTree>
    <p:custDataLst>
      <p:tags r:id="rId1"/>
    </p:custDataLst>
    <p:extLst>
      <p:ext uri="{BB962C8B-B14F-4D97-AF65-F5344CB8AC3E}">
        <p14:creationId xmlns:p14="http://schemas.microsoft.com/office/powerpoint/2010/main" val="1330105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08BD6F89-66FB-47AD-BFB8-B1F4EB82B56F}"/>
              </a:ext>
            </a:extLst>
          </p:cNvPr>
          <p:cNvPicPr>
            <a:picLocks noChangeAspect="1"/>
          </p:cNvPicPr>
          <p:nvPr/>
        </p:nvPicPr>
        <p:blipFill>
          <a:blip r:embed="rId4"/>
          <a:stretch>
            <a:fillRect/>
          </a:stretch>
        </p:blipFill>
        <p:spPr>
          <a:xfrm>
            <a:off x="5624136" y="1529145"/>
            <a:ext cx="3247280" cy="3047885"/>
          </a:xfrm>
          <a:prstGeom prst="rect">
            <a:avLst/>
          </a:prstGeom>
          <a:effectLst>
            <a:outerShdw blurRad="50800" dist="38100" dir="2700000" algn="tl" rotWithShape="0">
              <a:prstClr val="black">
                <a:alpha val="40000"/>
              </a:prstClr>
            </a:outerShdw>
          </a:effectLst>
        </p:spPr>
      </p:pic>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15</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添付．営業システム（</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開発）の分析</a:t>
            </a:r>
          </a:p>
        </p:txBody>
      </p:sp>
      <p:graphicFrame>
        <p:nvGraphicFramePr>
          <p:cNvPr id="3" name="表 2"/>
          <p:cNvGraphicFramePr>
            <a:graphicFrameLocks noGrp="1"/>
          </p:cNvGraphicFramePr>
          <p:nvPr>
            <p:extLst>
              <p:ext uri="{D42A27DB-BD31-4B8C-83A1-F6EECF244321}">
                <p14:modId xmlns:p14="http://schemas.microsoft.com/office/powerpoint/2010/main" val="2502808185"/>
              </p:ext>
            </p:extLst>
          </p:nvPr>
        </p:nvGraphicFramePr>
        <p:xfrm>
          <a:off x="264014" y="1121104"/>
          <a:ext cx="5214222" cy="4409440"/>
        </p:xfrm>
        <a:graphic>
          <a:graphicData uri="http://schemas.openxmlformats.org/drawingml/2006/table">
            <a:tbl>
              <a:tblPr firstRow="1" bandRow="1">
                <a:tableStyleId>{5C22544A-7EE6-4342-B048-85BDC9FD1C3A}</a:tableStyleId>
              </a:tblPr>
              <a:tblGrid>
                <a:gridCol w="3360929">
                  <a:extLst>
                    <a:ext uri="{9D8B030D-6E8A-4147-A177-3AD203B41FA5}">
                      <a16:colId xmlns:a16="http://schemas.microsoft.com/office/drawing/2014/main" val="20000"/>
                    </a:ext>
                  </a:extLst>
                </a:gridCol>
                <a:gridCol w="1853293">
                  <a:extLst>
                    <a:ext uri="{9D8B030D-6E8A-4147-A177-3AD203B41FA5}">
                      <a16:colId xmlns:a16="http://schemas.microsoft.com/office/drawing/2014/main" val="20001"/>
                    </a:ext>
                  </a:extLst>
                </a:gridCol>
              </a:tblGrid>
              <a:tr h="370840">
                <a:tc>
                  <a:txBody>
                    <a:bodyPr/>
                    <a:lstStyle/>
                    <a:p>
                      <a:r>
                        <a:rPr kumimoji="1" lang="ja-JP" altLang="en-US" dirty="0"/>
                        <a:t>項目</a:t>
                      </a:r>
                    </a:p>
                  </a:txBody>
                  <a:tcPr/>
                </a:tc>
                <a:tc>
                  <a:txBody>
                    <a:bodyPr/>
                    <a:lstStyle/>
                    <a:p>
                      <a:r>
                        <a:rPr kumimoji="1" lang="ja-JP" altLang="en-US" dirty="0"/>
                        <a:t>行数</a:t>
                      </a:r>
                    </a:p>
                  </a:txBody>
                  <a:tcPr/>
                </a:tc>
                <a:extLst>
                  <a:ext uri="{0D108BD9-81ED-4DB2-BD59-A6C34878D82A}">
                    <a16:rowId xmlns:a16="http://schemas.microsoft.com/office/drawing/2014/main" val="10000"/>
                  </a:ext>
                </a:extLst>
              </a:tr>
              <a:tr h="370840">
                <a:tc>
                  <a:txBody>
                    <a:bodyPr/>
                    <a:lstStyle/>
                    <a:p>
                      <a:r>
                        <a:rPr kumimoji="1" lang="ja-JP" altLang="en-US" dirty="0"/>
                        <a:t>クライアント</a:t>
                      </a:r>
                      <a:r>
                        <a:rPr kumimoji="1" lang="en-US" altLang="ja-JP" dirty="0"/>
                        <a:t>JavaScript</a:t>
                      </a:r>
                      <a:endParaRPr kumimoji="1" lang="ja-JP" altLang="en-US" dirty="0"/>
                    </a:p>
                  </a:txBody>
                  <a:tcPr/>
                </a:tc>
                <a:tc>
                  <a:txBody>
                    <a:bodyPr/>
                    <a:lstStyle/>
                    <a:p>
                      <a:pPr algn="ctr"/>
                      <a:r>
                        <a:rPr kumimoji="1" lang="en-US" altLang="ja-JP" dirty="0"/>
                        <a:t>2148</a:t>
                      </a:r>
                      <a:endParaRPr kumimoji="1" lang="ja-JP" altLang="en-US" dirty="0"/>
                    </a:p>
                  </a:txBody>
                  <a:tcPr/>
                </a:tc>
                <a:extLst>
                  <a:ext uri="{0D108BD9-81ED-4DB2-BD59-A6C34878D82A}">
                    <a16:rowId xmlns:a16="http://schemas.microsoft.com/office/drawing/2014/main" val="10001"/>
                  </a:ext>
                </a:extLst>
              </a:tr>
              <a:tr h="370840">
                <a:tc>
                  <a:txBody>
                    <a:bodyPr/>
                    <a:lstStyle/>
                    <a:p>
                      <a:r>
                        <a:rPr kumimoji="1" lang="en-US" altLang="ja-JP" dirty="0"/>
                        <a:t>JSP</a:t>
                      </a:r>
                      <a:endParaRPr kumimoji="1" lang="ja-JP" altLang="en-US" dirty="0"/>
                    </a:p>
                  </a:txBody>
                  <a:tcPr/>
                </a:tc>
                <a:tc>
                  <a:txBody>
                    <a:bodyPr/>
                    <a:lstStyle/>
                    <a:p>
                      <a:pPr algn="ctr"/>
                      <a:r>
                        <a:rPr kumimoji="1" lang="en-US" altLang="ja-JP" dirty="0"/>
                        <a:t>2870</a:t>
                      </a:r>
                      <a:endParaRPr kumimoji="1" lang="ja-JP" altLang="en-US" dirty="0"/>
                    </a:p>
                  </a:txBody>
                  <a:tcPr/>
                </a:tc>
                <a:extLst>
                  <a:ext uri="{0D108BD9-81ED-4DB2-BD59-A6C34878D82A}">
                    <a16:rowId xmlns:a16="http://schemas.microsoft.com/office/drawing/2014/main" val="10002"/>
                  </a:ext>
                </a:extLst>
              </a:tr>
              <a:tr h="185420">
                <a:tc>
                  <a:txBody>
                    <a:bodyPr/>
                    <a:lstStyle/>
                    <a:p>
                      <a:r>
                        <a:rPr lang="en-US" altLang="ja-JP" dirty="0"/>
                        <a:t>HTML</a:t>
                      </a:r>
                      <a:endParaRPr lang="ja-JP" altLang="en-US" dirty="0"/>
                    </a:p>
                  </a:txBody>
                  <a:tcPr/>
                </a:tc>
                <a:tc>
                  <a:txBody>
                    <a:bodyPr/>
                    <a:lstStyle/>
                    <a:p>
                      <a:pPr algn="ctr"/>
                      <a:r>
                        <a:rPr lang="en-US" altLang="ja-JP" dirty="0"/>
                        <a:t>157</a:t>
                      </a:r>
                      <a:endParaRPr lang="ja-JP" altLang="en-US" dirty="0"/>
                    </a:p>
                  </a:txBody>
                  <a:tcPr/>
                </a:tc>
                <a:extLst>
                  <a:ext uri="{0D108BD9-81ED-4DB2-BD59-A6C34878D82A}">
                    <a16:rowId xmlns:a16="http://schemas.microsoft.com/office/drawing/2014/main" val="10003"/>
                  </a:ext>
                </a:extLst>
              </a:tr>
              <a:tr h="185420">
                <a:tc>
                  <a:txBody>
                    <a:bodyPr/>
                    <a:lstStyle/>
                    <a:p>
                      <a:r>
                        <a:rPr kumimoji="1" lang="ja-JP" altLang="en-US" dirty="0"/>
                        <a:t>外出し</a:t>
                      </a:r>
                      <a:r>
                        <a:rPr kumimoji="1" lang="en-US" altLang="ja-JP"/>
                        <a:t>SQL</a:t>
                      </a:r>
                      <a:r>
                        <a:rPr kumimoji="1" lang="en-US" altLang="ja-JP" sz="1000"/>
                        <a:t>(SLECT UPDATE DELETE</a:t>
                      </a:r>
                      <a:r>
                        <a:rPr kumimoji="1" lang="ja-JP" altLang="en-US" sz="1000"/>
                        <a:t>数</a:t>
                      </a:r>
                      <a:r>
                        <a:rPr kumimoji="1" lang="en-US" altLang="ja-JP" sz="1000"/>
                        <a:t>)</a:t>
                      </a:r>
                      <a:endParaRPr kumimoji="1" lang="ja-JP" altLang="en-US" sz="1000" dirty="0"/>
                    </a:p>
                  </a:txBody>
                  <a:tcPr/>
                </a:tc>
                <a:tc>
                  <a:txBody>
                    <a:bodyPr/>
                    <a:lstStyle/>
                    <a:p>
                      <a:pPr algn="ctr"/>
                      <a:r>
                        <a:rPr kumimoji="1" lang="en-US" altLang="ja-JP" dirty="0"/>
                        <a:t>2089 (97</a:t>
                      </a:r>
                      <a:r>
                        <a:rPr kumimoji="1" lang="ja-JP" altLang="en-US" dirty="0"/>
                        <a:t>本</a:t>
                      </a:r>
                      <a:r>
                        <a:rPr kumimoji="1" lang="en-US" altLang="ja-JP" dirty="0"/>
                        <a:t>)</a:t>
                      </a:r>
                      <a:endParaRPr kumimoji="1" lang="ja-JP" altLang="en-US" dirty="0"/>
                    </a:p>
                  </a:txBody>
                  <a:tcPr/>
                </a:tc>
                <a:extLst>
                  <a:ext uri="{0D108BD9-81ED-4DB2-BD59-A6C34878D82A}">
                    <a16:rowId xmlns:a16="http://schemas.microsoft.com/office/drawing/2014/main" val="10004"/>
                  </a:ext>
                </a:extLst>
              </a:tr>
              <a:tr h="370840">
                <a:tc>
                  <a:txBody>
                    <a:bodyPr/>
                    <a:lstStyle/>
                    <a:p>
                      <a:r>
                        <a:rPr kumimoji="1" lang="ja-JP" altLang="en-US" dirty="0"/>
                        <a:t>サーバ</a:t>
                      </a:r>
                      <a:r>
                        <a:rPr kumimoji="1" lang="en-US" altLang="ja-JP" dirty="0"/>
                        <a:t>JavaScript</a:t>
                      </a:r>
                      <a:endParaRPr kumimoji="1" lang="ja-JP" altLang="en-US" dirty="0"/>
                    </a:p>
                  </a:txBody>
                  <a:tcPr/>
                </a:tc>
                <a:tc>
                  <a:txBody>
                    <a:bodyPr/>
                    <a:lstStyle/>
                    <a:p>
                      <a:pPr algn="ctr"/>
                      <a:r>
                        <a:rPr kumimoji="1" lang="en-US" altLang="ja-JP" dirty="0"/>
                        <a:t>9979</a:t>
                      </a:r>
                      <a:endParaRPr kumimoji="1" lang="ja-JP" altLang="en-US" dirty="0"/>
                    </a:p>
                  </a:txBody>
                  <a:tcPr/>
                </a:tc>
                <a:extLst>
                  <a:ext uri="{0D108BD9-81ED-4DB2-BD59-A6C34878D82A}">
                    <a16:rowId xmlns:a16="http://schemas.microsoft.com/office/drawing/2014/main" val="10005"/>
                  </a:ext>
                </a:extLst>
              </a:tr>
              <a:tr h="182880">
                <a:tc>
                  <a:txBody>
                    <a:bodyPr/>
                    <a:lstStyle/>
                    <a:p>
                      <a:r>
                        <a:rPr kumimoji="1" lang="en-US" altLang="ja-JP" dirty="0"/>
                        <a:t>Excel</a:t>
                      </a:r>
                      <a:r>
                        <a:rPr kumimoji="1" lang="ja-JP" altLang="en-US" dirty="0"/>
                        <a:t>マクロ</a:t>
                      </a:r>
                    </a:p>
                  </a:txBody>
                  <a:tcPr/>
                </a:tc>
                <a:tc>
                  <a:txBody>
                    <a:bodyPr/>
                    <a:lstStyle/>
                    <a:p>
                      <a:pPr algn="ctr"/>
                      <a:r>
                        <a:rPr kumimoji="1" lang="en-US" altLang="ja-JP" dirty="0"/>
                        <a:t>254</a:t>
                      </a:r>
                      <a:endParaRPr kumimoji="1" lang="ja-JP" altLang="en-US" dirty="0"/>
                    </a:p>
                  </a:txBody>
                  <a:tcPr/>
                </a:tc>
                <a:extLst>
                  <a:ext uri="{0D108BD9-81ED-4DB2-BD59-A6C34878D82A}">
                    <a16:rowId xmlns:a16="http://schemas.microsoft.com/office/drawing/2014/main" val="10006"/>
                  </a:ext>
                </a:extLst>
              </a:tr>
              <a:tr h="185420">
                <a:tc>
                  <a:txBody>
                    <a:bodyPr/>
                    <a:lstStyle/>
                    <a:p>
                      <a:endParaRPr lang="ja-JP" altLang="en-US"/>
                    </a:p>
                  </a:txBody>
                  <a:tcPr/>
                </a:tc>
                <a:tc>
                  <a:txBody>
                    <a:bodyPr/>
                    <a:lstStyle/>
                    <a:p>
                      <a:endParaRPr lang="ja-JP" altLang="en-US" dirty="0"/>
                    </a:p>
                  </a:txBody>
                  <a:tcPr/>
                </a:tc>
                <a:extLst>
                  <a:ext uri="{0D108BD9-81ED-4DB2-BD59-A6C34878D82A}">
                    <a16:rowId xmlns:a16="http://schemas.microsoft.com/office/drawing/2014/main" val="10007"/>
                  </a:ext>
                </a:extLst>
              </a:tr>
              <a:tr h="182880">
                <a:tc>
                  <a:txBody>
                    <a:bodyPr/>
                    <a:lstStyle/>
                    <a:p>
                      <a:endParaRPr lang="ja-JP" altLang="en-US" dirty="0"/>
                    </a:p>
                  </a:txBody>
                  <a:tcPr/>
                </a:tc>
                <a:tc>
                  <a:txBody>
                    <a:bodyPr/>
                    <a:lstStyle/>
                    <a:p>
                      <a:pPr algn="ctr"/>
                      <a:endParaRPr lang="ja-JP" altLang="en-US" dirty="0"/>
                    </a:p>
                  </a:txBody>
                  <a:tcPr/>
                </a:tc>
                <a:extLst>
                  <a:ext uri="{0D108BD9-81ED-4DB2-BD59-A6C34878D82A}">
                    <a16:rowId xmlns:a16="http://schemas.microsoft.com/office/drawing/2014/main" val="10008"/>
                  </a:ext>
                </a:extLst>
              </a:tr>
              <a:tr h="182880">
                <a:tc>
                  <a:txBody>
                    <a:bodyPr/>
                    <a:lstStyle/>
                    <a:p>
                      <a:r>
                        <a:rPr kumimoji="1" lang="ja-JP" altLang="en-US" dirty="0"/>
                        <a:t>合計</a:t>
                      </a:r>
                    </a:p>
                  </a:txBody>
                  <a:tcPr/>
                </a:tc>
                <a:tc>
                  <a:txBody>
                    <a:bodyPr/>
                    <a:lstStyle/>
                    <a:p>
                      <a:pPr algn="ctr"/>
                      <a:r>
                        <a:rPr kumimoji="1" lang="en-US" altLang="ja-JP" dirty="0"/>
                        <a:t>17497</a:t>
                      </a:r>
                      <a:endParaRPr kumimoji="1" lang="ja-JP" altLang="en-US" dirty="0"/>
                    </a:p>
                  </a:txBody>
                  <a:tcPr/>
                </a:tc>
                <a:extLst>
                  <a:ext uri="{0D108BD9-81ED-4DB2-BD59-A6C34878D82A}">
                    <a16:rowId xmlns:a16="http://schemas.microsoft.com/office/drawing/2014/main" val="10009"/>
                  </a:ext>
                </a:extLst>
              </a:tr>
              <a:tr h="182880">
                <a:tc>
                  <a:txBody>
                    <a:bodyPr/>
                    <a:lstStyle/>
                    <a:p>
                      <a:r>
                        <a:rPr lang="ja-JP" altLang="en-US" dirty="0"/>
                        <a:t>製造＆単体人月数</a:t>
                      </a:r>
                    </a:p>
                  </a:txBody>
                  <a:tcPr/>
                </a:tc>
                <a:tc>
                  <a:txBody>
                    <a:bodyPr/>
                    <a:lstStyle/>
                    <a:p>
                      <a:pPr algn="ctr"/>
                      <a:r>
                        <a:rPr lang="en-US" altLang="ja-JP" dirty="0"/>
                        <a:t>6.18</a:t>
                      </a:r>
                      <a:r>
                        <a:rPr lang="ja-JP" altLang="en-US" dirty="0"/>
                        <a:t>人月</a:t>
                      </a:r>
                    </a:p>
                  </a:txBody>
                  <a:tcPr/>
                </a:tc>
                <a:extLst>
                  <a:ext uri="{0D108BD9-81ED-4DB2-BD59-A6C34878D82A}">
                    <a16:rowId xmlns:a16="http://schemas.microsoft.com/office/drawing/2014/main" val="10010"/>
                  </a:ext>
                </a:extLst>
              </a:tr>
              <a:tr h="182880">
                <a:tc>
                  <a:txBody>
                    <a:bodyPr/>
                    <a:lstStyle/>
                    <a:p>
                      <a:r>
                        <a:rPr kumimoji="1" lang="ja-JP" altLang="en-US" dirty="0"/>
                        <a:t>生産性（</a:t>
                      </a:r>
                      <a:r>
                        <a:rPr kumimoji="1" lang="en-US" altLang="ja-JP" dirty="0"/>
                        <a:t>L/</a:t>
                      </a:r>
                      <a:r>
                        <a:rPr kumimoji="1" lang="ja-JP" altLang="en-US" dirty="0"/>
                        <a:t>人日）</a:t>
                      </a:r>
                    </a:p>
                  </a:txBody>
                  <a:tcPr/>
                </a:tc>
                <a:tc>
                  <a:txBody>
                    <a:bodyPr/>
                    <a:lstStyle/>
                    <a:p>
                      <a:pPr algn="ctr"/>
                      <a:r>
                        <a:rPr kumimoji="1" lang="en-US" altLang="ja-JP" dirty="0"/>
                        <a:t>142</a:t>
                      </a:r>
                      <a:endParaRPr kumimoji="1" lang="ja-JP" altLang="en-US" dirty="0"/>
                    </a:p>
                  </a:txBody>
                  <a:tcPr/>
                </a:tc>
                <a:extLst>
                  <a:ext uri="{0D108BD9-81ED-4DB2-BD59-A6C34878D82A}">
                    <a16:rowId xmlns:a16="http://schemas.microsoft.com/office/drawing/2014/main" val="1131467116"/>
                  </a:ext>
                </a:extLst>
              </a:tr>
            </a:tbl>
          </a:graphicData>
        </a:graphic>
      </p:graphicFrame>
      <p:sp>
        <p:nvSpPr>
          <p:cNvPr id="2" name="テキスト ボックス 1">
            <a:extLst>
              <a:ext uri="{FF2B5EF4-FFF2-40B4-BE49-F238E27FC236}">
                <a16:creationId xmlns:a16="http://schemas.microsoft.com/office/drawing/2014/main" id="{059C52F4-A8AF-4770-B5C5-04BAC39D44D0}"/>
              </a:ext>
            </a:extLst>
          </p:cNvPr>
          <p:cNvSpPr txBox="1"/>
          <p:nvPr/>
        </p:nvSpPr>
        <p:spPr>
          <a:xfrm>
            <a:off x="5698671" y="4698564"/>
            <a:ext cx="2955472" cy="923330"/>
          </a:xfrm>
          <a:prstGeom prst="rect">
            <a:avLst/>
          </a:prstGeom>
          <a:noFill/>
        </p:spPr>
        <p:txBody>
          <a:bodyPr wrap="square" rtlCol="0">
            <a:spAutoFit/>
          </a:bodyPr>
          <a:lstStyle/>
          <a:p>
            <a:r>
              <a:rPr lang="en-US" altLang="ja-JP" dirty="0"/>
              <a:t>※</a:t>
            </a:r>
            <a:r>
              <a:rPr lang="ja-JP" altLang="en-US" dirty="0"/>
              <a:t>代表画面イメージ</a:t>
            </a:r>
            <a:endParaRPr lang="en-US" altLang="ja-JP" dirty="0"/>
          </a:p>
          <a:p>
            <a:r>
              <a:rPr kumimoji="1" lang="ja-JP" altLang="en-US" dirty="0"/>
              <a:t>クライアント側に制限なしで任意なデザインが可能</a:t>
            </a:r>
          </a:p>
        </p:txBody>
      </p:sp>
    </p:spTree>
    <p:custDataLst>
      <p:tags r:id="rId1"/>
    </p:custDataLst>
    <p:extLst>
      <p:ext uri="{BB962C8B-B14F-4D97-AF65-F5344CB8AC3E}">
        <p14:creationId xmlns:p14="http://schemas.microsoft.com/office/powerpoint/2010/main" val="2108479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16</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4" y="273922"/>
            <a:ext cx="8602399"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添付．要件定義システムの新旧比較</a:t>
            </a:r>
            <a:r>
              <a:rPr lang="en-US" altLang="ja-JP" sz="2800" dirty="0">
                <a:solidFill>
                  <a:schemeClr val="tx2"/>
                </a:solidFill>
                <a:latin typeface="Meiryo UI" pitchFamily="50" charset="-128"/>
                <a:ea typeface="Meiryo UI" pitchFamily="50" charset="-128"/>
                <a:cs typeface="Meiryo UI" pitchFamily="50" charset="-128"/>
              </a:rPr>
              <a:t>(</a:t>
            </a:r>
            <a:r>
              <a:rPr lang="ja-JP" altLang="en-US" sz="2800" dirty="0">
                <a:solidFill>
                  <a:schemeClr val="tx2"/>
                </a:solidFill>
                <a:latin typeface="Meiryo UI" pitchFamily="50" charset="-128"/>
                <a:ea typeface="Meiryo UI" pitchFamily="50" charset="-128"/>
                <a:cs typeface="Meiryo UI" pitchFamily="50" charset="-128"/>
              </a:rPr>
              <a:t>コンバージョン事例</a:t>
            </a:r>
            <a:r>
              <a:rPr lang="en-US" altLang="ja-JP" sz="2800" dirty="0">
                <a:solidFill>
                  <a:schemeClr val="tx2"/>
                </a:solidFill>
                <a:latin typeface="Meiryo UI" pitchFamily="50" charset="-128"/>
                <a:ea typeface="Meiryo UI" pitchFamily="50" charset="-128"/>
                <a:cs typeface="Meiryo UI" pitchFamily="50" charset="-128"/>
              </a:rPr>
              <a:t>)</a:t>
            </a:r>
            <a:endParaRPr lang="ja-JP" altLang="en-US" sz="2800" dirty="0">
              <a:solidFill>
                <a:schemeClr val="tx2"/>
              </a:solidFill>
              <a:latin typeface="Meiryo UI" pitchFamily="50" charset="-128"/>
              <a:ea typeface="Meiryo UI" pitchFamily="50" charset="-128"/>
              <a:cs typeface="Meiryo UI" pitchFamily="50" charset="-128"/>
            </a:endParaRPr>
          </a:p>
        </p:txBody>
      </p:sp>
      <p:graphicFrame>
        <p:nvGraphicFramePr>
          <p:cNvPr id="3" name="表 2"/>
          <p:cNvGraphicFramePr>
            <a:graphicFrameLocks noGrp="1"/>
          </p:cNvGraphicFramePr>
          <p:nvPr>
            <p:extLst>
              <p:ext uri="{D42A27DB-BD31-4B8C-83A1-F6EECF244321}">
                <p14:modId xmlns:p14="http://schemas.microsoft.com/office/powerpoint/2010/main" val="3636693129"/>
              </p:ext>
            </p:extLst>
          </p:nvPr>
        </p:nvGraphicFramePr>
        <p:xfrm>
          <a:off x="264014" y="1121104"/>
          <a:ext cx="8690800" cy="4409440"/>
        </p:xfrm>
        <a:graphic>
          <a:graphicData uri="http://schemas.openxmlformats.org/drawingml/2006/table">
            <a:tbl>
              <a:tblPr firstRow="1" bandRow="1">
                <a:tableStyleId>{5C22544A-7EE6-4342-B048-85BDC9FD1C3A}</a:tableStyleId>
              </a:tblPr>
              <a:tblGrid>
                <a:gridCol w="3491557">
                  <a:extLst>
                    <a:ext uri="{9D8B030D-6E8A-4147-A177-3AD203B41FA5}">
                      <a16:colId xmlns:a16="http://schemas.microsoft.com/office/drawing/2014/main" val="20000"/>
                    </a:ext>
                  </a:extLst>
                </a:gridCol>
                <a:gridCol w="1396093">
                  <a:extLst>
                    <a:ext uri="{9D8B030D-6E8A-4147-A177-3AD203B41FA5}">
                      <a16:colId xmlns:a16="http://schemas.microsoft.com/office/drawing/2014/main" val="20001"/>
                    </a:ext>
                  </a:extLst>
                </a:gridCol>
                <a:gridCol w="1927053">
                  <a:extLst>
                    <a:ext uri="{9D8B030D-6E8A-4147-A177-3AD203B41FA5}">
                      <a16:colId xmlns:a16="http://schemas.microsoft.com/office/drawing/2014/main" val="20002"/>
                    </a:ext>
                  </a:extLst>
                </a:gridCol>
                <a:gridCol w="1876097">
                  <a:extLst>
                    <a:ext uri="{9D8B030D-6E8A-4147-A177-3AD203B41FA5}">
                      <a16:colId xmlns:a16="http://schemas.microsoft.com/office/drawing/2014/main" val="20003"/>
                    </a:ext>
                  </a:extLst>
                </a:gridCol>
              </a:tblGrid>
              <a:tr h="370840">
                <a:tc>
                  <a:txBody>
                    <a:bodyPr/>
                    <a:lstStyle/>
                    <a:p>
                      <a:r>
                        <a:rPr kumimoji="1" lang="ja-JP" altLang="en-US" dirty="0"/>
                        <a:t>項目</a:t>
                      </a:r>
                    </a:p>
                  </a:txBody>
                  <a:tcPr/>
                </a:tc>
                <a:tc>
                  <a:txBody>
                    <a:bodyPr/>
                    <a:lstStyle/>
                    <a:p>
                      <a:r>
                        <a:rPr kumimoji="1" lang="ja-JP" altLang="en-US" dirty="0"/>
                        <a:t>旧版</a:t>
                      </a:r>
                    </a:p>
                  </a:txBody>
                  <a:tcPr/>
                </a:tc>
                <a:tc>
                  <a:txBody>
                    <a:bodyPr/>
                    <a:lstStyle/>
                    <a:p>
                      <a:r>
                        <a:rPr kumimoji="1" lang="ja-JP" altLang="en-US" dirty="0"/>
                        <a:t>リニューアル版</a:t>
                      </a:r>
                    </a:p>
                  </a:txBody>
                  <a:tcPr/>
                </a:tc>
                <a:tc>
                  <a:txBody>
                    <a:bodyPr/>
                    <a:lstStyle/>
                    <a:p>
                      <a:r>
                        <a:rPr kumimoji="1" lang="ja-JP" altLang="en-US" dirty="0"/>
                        <a:t>パッケージ版</a:t>
                      </a:r>
                    </a:p>
                  </a:txBody>
                  <a:tcPr/>
                </a:tc>
                <a:extLst>
                  <a:ext uri="{0D108BD9-81ED-4DB2-BD59-A6C34878D82A}">
                    <a16:rowId xmlns:a16="http://schemas.microsoft.com/office/drawing/2014/main" val="10000"/>
                  </a:ext>
                </a:extLst>
              </a:tr>
              <a:tr h="370840">
                <a:tc>
                  <a:txBody>
                    <a:bodyPr/>
                    <a:lstStyle/>
                    <a:p>
                      <a:r>
                        <a:rPr kumimoji="1" lang="ja-JP" altLang="en-US" dirty="0"/>
                        <a:t>クライアント</a:t>
                      </a:r>
                      <a:r>
                        <a:rPr kumimoji="1" lang="en-US" altLang="ja-JP" dirty="0"/>
                        <a:t>JavaScript</a:t>
                      </a:r>
                      <a:endParaRPr kumimoji="1" lang="ja-JP" altLang="en-US" dirty="0"/>
                    </a:p>
                  </a:txBody>
                  <a:tcPr/>
                </a:tc>
                <a:tc>
                  <a:txBody>
                    <a:bodyPr/>
                    <a:lstStyle/>
                    <a:p>
                      <a:pPr algn="ctr"/>
                      <a:r>
                        <a:rPr kumimoji="1" lang="en-US" altLang="ja-JP" dirty="0"/>
                        <a:t>4339</a:t>
                      </a:r>
                      <a:endParaRPr kumimoji="1" lang="ja-JP" altLang="en-US" dirty="0"/>
                    </a:p>
                  </a:txBody>
                  <a:tcPr/>
                </a:tc>
                <a:tc>
                  <a:txBody>
                    <a:bodyPr/>
                    <a:lstStyle/>
                    <a:p>
                      <a:pPr algn="ctr"/>
                      <a:r>
                        <a:rPr kumimoji="1" lang="en-US" altLang="ja-JP" dirty="0"/>
                        <a:t>1775</a:t>
                      </a:r>
                      <a:endParaRPr kumimoji="1" lang="ja-JP" altLang="en-US" dirty="0"/>
                    </a:p>
                  </a:txBody>
                  <a:tcPr/>
                </a:tc>
                <a:tc>
                  <a:txBody>
                    <a:bodyPr/>
                    <a:lstStyle/>
                    <a:p>
                      <a:pPr algn="ctr"/>
                      <a:r>
                        <a:rPr kumimoji="1" lang="en-US" altLang="ja-JP" dirty="0"/>
                        <a:t>2970</a:t>
                      </a:r>
                      <a:endParaRPr kumimoji="1" lang="ja-JP" altLang="en-US" dirty="0"/>
                    </a:p>
                  </a:txBody>
                  <a:tcPr/>
                </a:tc>
                <a:extLst>
                  <a:ext uri="{0D108BD9-81ED-4DB2-BD59-A6C34878D82A}">
                    <a16:rowId xmlns:a16="http://schemas.microsoft.com/office/drawing/2014/main" val="10001"/>
                  </a:ext>
                </a:extLst>
              </a:tr>
              <a:tr h="370840">
                <a:tc>
                  <a:txBody>
                    <a:bodyPr/>
                    <a:lstStyle/>
                    <a:p>
                      <a:r>
                        <a:rPr kumimoji="1" lang="en-US" altLang="ja-JP" dirty="0"/>
                        <a:t>JSP</a:t>
                      </a:r>
                      <a:endParaRPr kumimoji="1" lang="ja-JP" altLang="en-US" dirty="0"/>
                    </a:p>
                  </a:txBody>
                  <a:tcPr/>
                </a:tc>
                <a:tc>
                  <a:txBody>
                    <a:bodyPr/>
                    <a:lstStyle/>
                    <a:p>
                      <a:pPr algn="ctr"/>
                      <a:r>
                        <a:rPr kumimoji="1" lang="en-US" altLang="ja-JP" dirty="0"/>
                        <a:t>15212</a:t>
                      </a:r>
                      <a:endParaRPr kumimoji="1" lang="ja-JP" altLang="en-US" dirty="0"/>
                    </a:p>
                  </a:txBody>
                  <a:tcPr/>
                </a:tc>
                <a:tc>
                  <a:txBody>
                    <a:bodyPr/>
                    <a:lstStyle/>
                    <a:p>
                      <a:pPr algn="ctr"/>
                      <a:r>
                        <a:rPr kumimoji="1" lang="en-US" altLang="ja-JP" dirty="0"/>
                        <a:t>7372</a:t>
                      </a:r>
                      <a:endParaRPr kumimoji="1" lang="ja-JP" altLang="en-US" dirty="0"/>
                    </a:p>
                  </a:txBody>
                  <a:tcPr/>
                </a:tc>
                <a:tc>
                  <a:txBody>
                    <a:bodyPr/>
                    <a:lstStyle/>
                    <a:p>
                      <a:pPr algn="ctr"/>
                      <a:r>
                        <a:rPr kumimoji="1" lang="en-US" altLang="ja-JP" dirty="0"/>
                        <a:t>5140</a:t>
                      </a:r>
                      <a:endParaRPr kumimoji="1" lang="ja-JP" altLang="en-US" dirty="0"/>
                    </a:p>
                  </a:txBody>
                  <a:tcPr/>
                </a:tc>
                <a:extLst>
                  <a:ext uri="{0D108BD9-81ED-4DB2-BD59-A6C34878D82A}">
                    <a16:rowId xmlns:a16="http://schemas.microsoft.com/office/drawing/2014/main" val="10002"/>
                  </a:ext>
                </a:extLst>
              </a:tr>
              <a:tr h="185420">
                <a:tc>
                  <a:txBody>
                    <a:bodyPr/>
                    <a:lstStyle/>
                    <a:p>
                      <a:r>
                        <a:rPr lang="ja-JP" altLang="en-US" dirty="0"/>
                        <a:t>コントローラ（相当）</a:t>
                      </a:r>
                    </a:p>
                  </a:txBody>
                  <a:tcPr/>
                </a:tc>
                <a:tc>
                  <a:txBody>
                    <a:bodyPr/>
                    <a:lstStyle/>
                    <a:p>
                      <a:pPr algn="ctr"/>
                      <a:r>
                        <a:rPr lang="en-US" altLang="ja-JP" dirty="0"/>
                        <a:t>5949</a:t>
                      </a:r>
                      <a:endParaRPr lang="ja-JP" altLang="en-US" dirty="0"/>
                    </a:p>
                  </a:txBody>
                  <a:tcPr/>
                </a:tc>
                <a:tc>
                  <a:txBody>
                    <a:bodyPr/>
                    <a:lstStyle/>
                    <a:p>
                      <a:pPr algn="ctr"/>
                      <a:r>
                        <a:rPr lang="en-US" altLang="ja-JP" dirty="0"/>
                        <a:t>-</a:t>
                      </a:r>
                      <a:endParaRPr lang="ja-JP" altLang="en-US" dirty="0"/>
                    </a:p>
                  </a:txBody>
                  <a:tcPr/>
                </a:tc>
                <a:tc>
                  <a:txBody>
                    <a:bodyPr/>
                    <a:lstStyle/>
                    <a:p>
                      <a:pPr algn="ctr"/>
                      <a:r>
                        <a:rPr lang="en-US" altLang="ja-JP" dirty="0"/>
                        <a:t>-</a:t>
                      </a:r>
                      <a:endParaRPr lang="ja-JP" altLang="en-US" dirty="0"/>
                    </a:p>
                  </a:txBody>
                  <a:tcPr/>
                </a:tc>
                <a:extLst>
                  <a:ext uri="{0D108BD9-81ED-4DB2-BD59-A6C34878D82A}">
                    <a16:rowId xmlns:a16="http://schemas.microsoft.com/office/drawing/2014/main" val="10003"/>
                  </a:ext>
                </a:extLst>
              </a:tr>
              <a:tr h="185420">
                <a:tc>
                  <a:txBody>
                    <a:bodyPr/>
                    <a:lstStyle/>
                    <a:p>
                      <a:r>
                        <a:rPr kumimoji="1" lang="ja-JP" altLang="en-US" dirty="0"/>
                        <a:t>外出し</a:t>
                      </a:r>
                      <a:r>
                        <a:rPr kumimoji="1" lang="en-US" altLang="ja-JP" dirty="0"/>
                        <a:t>SQL</a:t>
                      </a:r>
                      <a:r>
                        <a:rPr kumimoji="1" lang="en-US" altLang="ja-JP" sz="1000" dirty="0"/>
                        <a:t>(SLECT UPDATE DELETE</a:t>
                      </a:r>
                      <a:r>
                        <a:rPr kumimoji="1" lang="ja-JP" altLang="en-US" sz="1000"/>
                        <a:t>数</a:t>
                      </a:r>
                      <a:r>
                        <a:rPr kumimoji="1" lang="en-US" altLang="ja-JP" sz="1000"/>
                        <a:t>)</a:t>
                      </a:r>
                      <a:endParaRPr kumimoji="1" lang="ja-JP" altLang="en-US" sz="1000"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5535</a:t>
                      </a:r>
                      <a:r>
                        <a:rPr kumimoji="1" lang="ja-JP" altLang="en-US" dirty="0"/>
                        <a:t> </a:t>
                      </a:r>
                      <a:r>
                        <a:rPr kumimoji="1" lang="en-US" altLang="ja-JP" dirty="0"/>
                        <a:t>(99)</a:t>
                      </a:r>
                      <a:endParaRPr kumimoji="1" lang="ja-JP" altLang="en-US" dirty="0"/>
                    </a:p>
                  </a:txBody>
                  <a:tcPr/>
                </a:tc>
                <a:tc>
                  <a:txBody>
                    <a:bodyPr/>
                    <a:lstStyle/>
                    <a:p>
                      <a:pPr algn="ctr"/>
                      <a:r>
                        <a:rPr kumimoji="1" lang="en-US" altLang="ja-JP" dirty="0"/>
                        <a:t>3562</a:t>
                      </a:r>
                      <a:endParaRPr kumimoji="1" lang="ja-JP" altLang="en-US" dirty="0"/>
                    </a:p>
                  </a:txBody>
                  <a:tcPr/>
                </a:tc>
                <a:extLst>
                  <a:ext uri="{0D108BD9-81ED-4DB2-BD59-A6C34878D82A}">
                    <a16:rowId xmlns:a16="http://schemas.microsoft.com/office/drawing/2014/main" val="10004"/>
                  </a:ext>
                </a:extLst>
              </a:tr>
              <a:tr h="370840">
                <a:tc>
                  <a:txBody>
                    <a:bodyPr/>
                    <a:lstStyle/>
                    <a:p>
                      <a:r>
                        <a:rPr kumimoji="1" lang="ja-JP" altLang="en-US" dirty="0"/>
                        <a:t>サーバ</a:t>
                      </a:r>
                      <a:r>
                        <a:rPr kumimoji="1" lang="en-US" altLang="ja-JP" dirty="0"/>
                        <a:t>JavaScript</a:t>
                      </a:r>
                      <a:endParaRPr kumimoji="1" lang="ja-JP" altLang="en-US"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14126</a:t>
                      </a:r>
                      <a:endParaRPr kumimoji="1" lang="ja-JP" altLang="en-US" dirty="0"/>
                    </a:p>
                  </a:txBody>
                  <a:tcPr/>
                </a:tc>
                <a:tc>
                  <a:txBody>
                    <a:bodyPr/>
                    <a:lstStyle/>
                    <a:p>
                      <a:pPr algn="ctr"/>
                      <a:r>
                        <a:rPr kumimoji="1" lang="en-US" altLang="ja-JP" dirty="0"/>
                        <a:t>11264</a:t>
                      </a:r>
                      <a:endParaRPr kumimoji="1" lang="ja-JP" altLang="en-US" dirty="0"/>
                    </a:p>
                  </a:txBody>
                  <a:tcPr/>
                </a:tc>
                <a:extLst>
                  <a:ext uri="{0D108BD9-81ED-4DB2-BD59-A6C34878D82A}">
                    <a16:rowId xmlns:a16="http://schemas.microsoft.com/office/drawing/2014/main" val="10005"/>
                  </a:ext>
                </a:extLst>
              </a:tr>
              <a:tr h="182880">
                <a:tc>
                  <a:txBody>
                    <a:bodyPr/>
                    <a:lstStyle/>
                    <a:p>
                      <a:r>
                        <a:rPr kumimoji="1" lang="en-US" altLang="ja-JP" dirty="0"/>
                        <a:t>Java</a:t>
                      </a:r>
                      <a:endParaRPr kumimoji="1" lang="ja-JP" altLang="en-US" dirty="0"/>
                    </a:p>
                  </a:txBody>
                  <a:tcPr/>
                </a:tc>
                <a:tc>
                  <a:txBody>
                    <a:bodyPr/>
                    <a:lstStyle/>
                    <a:p>
                      <a:pPr algn="ctr"/>
                      <a:r>
                        <a:rPr kumimoji="1" lang="en-US" altLang="ja-JP" dirty="0"/>
                        <a:t>36779</a:t>
                      </a:r>
                      <a:endParaRPr kumimoji="1" lang="ja-JP" altLang="en-US" dirty="0"/>
                    </a:p>
                  </a:txBody>
                  <a:tcPr/>
                </a:tc>
                <a:tc>
                  <a:txBody>
                    <a:bodyPr/>
                    <a:lstStyle/>
                    <a:p>
                      <a:pPr algn="ctr"/>
                      <a:r>
                        <a:rPr kumimoji="1" lang="en-US" altLang="ja-JP" dirty="0"/>
                        <a:t>13073</a:t>
                      </a:r>
                      <a:endParaRPr kumimoji="1" lang="ja-JP" altLang="en-US" dirty="0"/>
                    </a:p>
                  </a:txBody>
                  <a:tcPr/>
                </a:tc>
                <a:tc>
                  <a:txBody>
                    <a:bodyPr/>
                    <a:lstStyle/>
                    <a:p>
                      <a:pPr algn="ctr"/>
                      <a:r>
                        <a:rPr kumimoji="1" lang="en-US" altLang="ja-JP" dirty="0"/>
                        <a:t>6220</a:t>
                      </a:r>
                      <a:endParaRPr kumimoji="1" lang="ja-JP" altLang="en-US" dirty="0"/>
                    </a:p>
                  </a:txBody>
                  <a:tcPr/>
                </a:tc>
                <a:extLst>
                  <a:ext uri="{0D108BD9-81ED-4DB2-BD59-A6C34878D82A}">
                    <a16:rowId xmlns:a16="http://schemas.microsoft.com/office/drawing/2014/main" val="10006"/>
                  </a:ext>
                </a:extLst>
              </a:tr>
              <a:tr h="185420">
                <a:tc>
                  <a:txBody>
                    <a:bodyPr/>
                    <a:lstStyle/>
                    <a:p>
                      <a:r>
                        <a:rPr kumimoji="1" lang="en-US" altLang="ja-JP" dirty="0"/>
                        <a:t>Excel</a:t>
                      </a:r>
                      <a:r>
                        <a:rPr kumimoji="1" lang="ja-JP" altLang="en-US" dirty="0"/>
                        <a:t>マクロ</a:t>
                      </a:r>
                    </a:p>
                  </a:txBody>
                  <a:tcPr/>
                </a:tc>
                <a:tc>
                  <a:txBody>
                    <a:bodyPr/>
                    <a:lstStyle/>
                    <a:p>
                      <a:pPr algn="ctr"/>
                      <a:r>
                        <a:rPr kumimoji="1" lang="en-US" altLang="ja-JP" dirty="0"/>
                        <a:t>3210</a:t>
                      </a:r>
                      <a:endParaRPr kumimoji="1" lang="ja-JP" altLang="en-US" dirty="0"/>
                    </a:p>
                  </a:txBody>
                  <a:tcPr/>
                </a:tc>
                <a:tc>
                  <a:txBody>
                    <a:bodyPr/>
                    <a:lstStyle/>
                    <a:p>
                      <a:pPr algn="ctr"/>
                      <a:r>
                        <a:rPr kumimoji="1" lang="en-US" altLang="ja-JP" dirty="0"/>
                        <a:t>2424</a:t>
                      </a:r>
                      <a:endParaRPr kumimoji="1" lang="ja-JP" altLang="en-US" dirty="0"/>
                    </a:p>
                  </a:txBody>
                  <a:tcPr/>
                </a:tc>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10007"/>
                  </a:ext>
                </a:extLst>
              </a:tr>
              <a:tr h="182880">
                <a:tc>
                  <a:txBody>
                    <a:bodyPr/>
                    <a:lstStyle/>
                    <a:p>
                      <a:r>
                        <a:rPr lang="ja-JP" altLang="en-US" dirty="0"/>
                        <a:t>プロシージャ</a:t>
                      </a:r>
                    </a:p>
                  </a:txBody>
                  <a:tcPr/>
                </a:tc>
                <a:tc>
                  <a:txBody>
                    <a:bodyPr/>
                    <a:lstStyle/>
                    <a:p>
                      <a:pPr algn="ctr"/>
                      <a:r>
                        <a:rPr lang="en-US" altLang="ja-JP" dirty="0"/>
                        <a:t>896</a:t>
                      </a:r>
                      <a:endParaRPr lang="ja-JP" altLang="en-US" dirty="0"/>
                    </a:p>
                  </a:txBody>
                  <a:tcPr/>
                </a:tc>
                <a:tc>
                  <a:txBody>
                    <a:bodyPr/>
                    <a:lstStyle/>
                    <a:p>
                      <a:pPr algn="ctr"/>
                      <a:r>
                        <a:rPr lang="en-US" altLang="ja-JP" dirty="0"/>
                        <a:t>618</a:t>
                      </a:r>
                      <a:endParaRPr lang="ja-JP" altLang="en-US" dirty="0"/>
                    </a:p>
                  </a:txBody>
                  <a:tcPr/>
                </a:tc>
                <a:tc>
                  <a:txBody>
                    <a:bodyPr/>
                    <a:lstStyle/>
                    <a:p>
                      <a:pPr algn="ctr"/>
                      <a:r>
                        <a:rPr lang="en-US" altLang="ja-JP" dirty="0"/>
                        <a:t>352</a:t>
                      </a:r>
                      <a:endParaRPr lang="ja-JP" altLang="en-US" dirty="0"/>
                    </a:p>
                  </a:txBody>
                  <a:tcPr/>
                </a:tc>
                <a:extLst>
                  <a:ext uri="{0D108BD9-81ED-4DB2-BD59-A6C34878D82A}">
                    <a16:rowId xmlns:a16="http://schemas.microsoft.com/office/drawing/2014/main" val="10008"/>
                  </a:ext>
                </a:extLst>
              </a:tr>
              <a:tr h="182880">
                <a:tc>
                  <a:txBody>
                    <a:bodyPr/>
                    <a:lstStyle/>
                    <a:p>
                      <a:r>
                        <a:rPr kumimoji="1" lang="ja-JP" altLang="en-US" dirty="0"/>
                        <a:t>合計</a:t>
                      </a:r>
                    </a:p>
                  </a:txBody>
                  <a:tcPr/>
                </a:tc>
                <a:tc>
                  <a:txBody>
                    <a:bodyPr/>
                    <a:lstStyle/>
                    <a:p>
                      <a:pPr algn="ctr"/>
                      <a:r>
                        <a:rPr kumimoji="1" lang="en-US" altLang="ja-JP" dirty="0"/>
                        <a:t>66385</a:t>
                      </a:r>
                      <a:endParaRPr kumimoji="1" lang="ja-JP" altLang="en-US" dirty="0"/>
                    </a:p>
                  </a:txBody>
                  <a:tcPr/>
                </a:tc>
                <a:tc>
                  <a:txBody>
                    <a:bodyPr/>
                    <a:lstStyle/>
                    <a:p>
                      <a:pPr algn="ctr"/>
                      <a:r>
                        <a:rPr kumimoji="1" lang="en-US" altLang="ja-JP" dirty="0"/>
                        <a:t>44923</a:t>
                      </a:r>
                      <a:endParaRPr kumimoji="1" lang="ja-JP" altLang="en-US" dirty="0"/>
                    </a:p>
                  </a:txBody>
                  <a:tcPr/>
                </a:tc>
                <a:tc>
                  <a:txBody>
                    <a:bodyPr/>
                    <a:lstStyle/>
                    <a:p>
                      <a:pPr algn="ctr"/>
                      <a:r>
                        <a:rPr kumimoji="1" lang="en-US" altLang="ja-JP" dirty="0"/>
                        <a:t>29508</a:t>
                      </a:r>
                      <a:endParaRPr kumimoji="1" lang="ja-JP" altLang="en-US" dirty="0"/>
                    </a:p>
                  </a:txBody>
                  <a:tcPr/>
                </a:tc>
                <a:extLst>
                  <a:ext uri="{0D108BD9-81ED-4DB2-BD59-A6C34878D82A}">
                    <a16:rowId xmlns:a16="http://schemas.microsoft.com/office/drawing/2014/main" val="10009"/>
                  </a:ext>
                </a:extLst>
              </a:tr>
              <a:tr h="182880">
                <a:tc>
                  <a:txBody>
                    <a:bodyPr/>
                    <a:lstStyle/>
                    <a:p>
                      <a:r>
                        <a:rPr lang="ja-JP" altLang="en-US" dirty="0"/>
                        <a:t>製造＆単体人月数</a:t>
                      </a:r>
                    </a:p>
                  </a:txBody>
                  <a:tcPr/>
                </a:tc>
                <a:tc>
                  <a:txBody>
                    <a:bodyPr/>
                    <a:lstStyle/>
                    <a:p>
                      <a:endParaRPr lang="ja-JP" altLang="en-US"/>
                    </a:p>
                  </a:txBody>
                  <a:tcPr/>
                </a:tc>
                <a:tc>
                  <a:txBody>
                    <a:bodyPr/>
                    <a:lstStyle/>
                    <a:p>
                      <a:pPr algn="ctr"/>
                      <a:r>
                        <a:rPr lang="en-US" altLang="ja-JP" dirty="0"/>
                        <a:t>17</a:t>
                      </a:r>
                      <a:r>
                        <a:rPr lang="ja-JP" altLang="en-US" dirty="0"/>
                        <a:t>人月</a:t>
                      </a:r>
                    </a:p>
                  </a:txBody>
                  <a:tcPr/>
                </a:tc>
                <a:tc>
                  <a:txBody>
                    <a:bodyPr/>
                    <a:lstStyle/>
                    <a:p>
                      <a:endParaRPr lang="ja-JP" altLang="en-US" dirty="0"/>
                    </a:p>
                  </a:txBody>
                  <a:tcPr/>
                </a:tc>
                <a:extLst>
                  <a:ext uri="{0D108BD9-81ED-4DB2-BD59-A6C34878D82A}">
                    <a16:rowId xmlns:a16="http://schemas.microsoft.com/office/drawing/2014/main" val="10010"/>
                  </a:ext>
                </a:extLst>
              </a:tr>
              <a:tr h="182880">
                <a:tc>
                  <a:txBody>
                    <a:bodyPr/>
                    <a:lstStyle/>
                    <a:p>
                      <a:r>
                        <a:rPr kumimoji="1" lang="ja-JP" altLang="en-US" dirty="0"/>
                        <a:t>生産性（</a:t>
                      </a:r>
                      <a:r>
                        <a:rPr kumimoji="1" lang="en-US" altLang="ja-JP" dirty="0"/>
                        <a:t>L/</a:t>
                      </a:r>
                      <a:r>
                        <a:rPr kumimoji="1" lang="ja-JP" altLang="en-US" dirty="0"/>
                        <a:t>人日）</a:t>
                      </a:r>
                    </a:p>
                  </a:txBody>
                  <a:tcPr/>
                </a:tc>
                <a:tc>
                  <a:txBody>
                    <a:bodyPr/>
                    <a:lstStyle/>
                    <a:p>
                      <a:pPr algn="ctr"/>
                      <a:endParaRPr kumimoji="1" lang="ja-JP" altLang="en-US" dirty="0"/>
                    </a:p>
                  </a:txBody>
                  <a:tcPr/>
                </a:tc>
                <a:tc>
                  <a:txBody>
                    <a:bodyPr/>
                    <a:lstStyle/>
                    <a:p>
                      <a:pPr algn="ctr"/>
                      <a:r>
                        <a:rPr kumimoji="1" lang="en-US" altLang="ja-JP" dirty="0"/>
                        <a:t>132</a:t>
                      </a:r>
                      <a:endParaRPr kumimoji="1" lang="ja-JP" altLang="en-US" dirty="0"/>
                    </a:p>
                  </a:txBody>
                  <a:tcPr/>
                </a:tc>
                <a:tc>
                  <a:txBody>
                    <a:bodyPr/>
                    <a:lstStyle/>
                    <a:p>
                      <a:pPr algn="ctr"/>
                      <a:endParaRPr kumimoji="1" lang="ja-JP" altLang="en-US" dirty="0"/>
                    </a:p>
                  </a:txBody>
                  <a:tcPr/>
                </a:tc>
                <a:extLst>
                  <a:ext uri="{0D108BD9-81ED-4DB2-BD59-A6C34878D82A}">
                    <a16:rowId xmlns:a16="http://schemas.microsoft.com/office/drawing/2014/main" val="1131467116"/>
                  </a:ext>
                </a:extLst>
              </a:tr>
            </a:tbl>
          </a:graphicData>
        </a:graphic>
      </p:graphicFrame>
      <p:sp>
        <p:nvSpPr>
          <p:cNvPr id="6" name="Rectangle 3"/>
          <p:cNvSpPr>
            <a:spLocks noChangeArrowheads="1"/>
          </p:cNvSpPr>
          <p:nvPr/>
        </p:nvSpPr>
        <p:spPr bwMode="auto">
          <a:xfrm>
            <a:off x="231501" y="5505886"/>
            <a:ext cx="8723313"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5pPr>
            <a:lvl6pPr marL="2286000" algn="l" defTabSz="914400" rtl="0" eaLnBrk="1" latinLnBrk="0" hangingPunct="1">
              <a:defRPr kumimoji="1" sz="1100" kern="1200">
                <a:solidFill>
                  <a:schemeClr val="tx1"/>
                </a:solidFill>
                <a:latin typeface="Arial" charset="0"/>
                <a:ea typeface="ＭＳ Ｐゴシック" pitchFamily="50" charset="-128"/>
                <a:cs typeface="+mn-cs"/>
              </a:defRPr>
            </a:lvl6pPr>
            <a:lvl7pPr marL="2743200" algn="l" defTabSz="914400" rtl="0" eaLnBrk="1" latinLnBrk="0" hangingPunct="1">
              <a:defRPr kumimoji="1" sz="1100" kern="1200">
                <a:solidFill>
                  <a:schemeClr val="tx1"/>
                </a:solidFill>
                <a:latin typeface="Arial" charset="0"/>
                <a:ea typeface="ＭＳ Ｐゴシック" pitchFamily="50" charset="-128"/>
                <a:cs typeface="+mn-cs"/>
              </a:defRPr>
            </a:lvl7pPr>
            <a:lvl8pPr marL="3200400" algn="l" defTabSz="914400" rtl="0" eaLnBrk="1" latinLnBrk="0" hangingPunct="1">
              <a:defRPr kumimoji="1" sz="1100" kern="1200">
                <a:solidFill>
                  <a:schemeClr val="tx1"/>
                </a:solidFill>
                <a:latin typeface="Arial" charset="0"/>
                <a:ea typeface="ＭＳ Ｐゴシック" pitchFamily="50" charset="-128"/>
                <a:cs typeface="+mn-cs"/>
              </a:defRPr>
            </a:lvl8pPr>
            <a:lvl9pPr marL="3657600" algn="l" defTabSz="914400" rtl="0" eaLnBrk="1" latinLnBrk="0" hangingPunct="1">
              <a:defRPr kumimoji="1" sz="1100" kern="1200">
                <a:solidFill>
                  <a:schemeClr val="tx1"/>
                </a:solidFill>
                <a:latin typeface="Arial" charset="0"/>
                <a:ea typeface="ＭＳ Ｐゴシック" pitchFamily="50" charset="-128"/>
                <a:cs typeface="+mn-cs"/>
              </a:defRPr>
            </a:lvl9pPr>
          </a:lstStyle>
          <a:p>
            <a:pPr eaLnBrk="1" latinLnBrk="1" hangingPunct="1">
              <a:lnSpc>
                <a:spcPct val="150000"/>
              </a:lnSpc>
              <a:spcBef>
                <a:spcPct val="25000"/>
              </a:spcBef>
            </a:pPr>
            <a:r>
              <a:rPr lang="ja-JP" altLang="en-US" sz="1400" dirty="0">
                <a:latin typeface="Meiryo UI" pitchFamily="50" charset="-128"/>
                <a:ea typeface="Meiryo UI" pitchFamily="50" charset="-128"/>
                <a:cs typeface="Meiryo UI" pitchFamily="50" charset="-128"/>
              </a:rPr>
              <a:t>旧版：</a:t>
            </a:r>
            <a:r>
              <a:rPr lang="en-US" altLang="ja-JP" sz="1400" dirty="0" err="1">
                <a:latin typeface="Meiryo UI" pitchFamily="50" charset="-128"/>
                <a:ea typeface="Meiryo UI" pitchFamily="50" charset="-128"/>
                <a:cs typeface="Meiryo UI" pitchFamily="50" charset="-128"/>
              </a:rPr>
              <a:t>jsp</a:t>
            </a:r>
            <a:r>
              <a:rPr lang="en-US" altLang="ja-JP" sz="1400" dirty="0">
                <a:latin typeface="Meiryo UI" pitchFamily="50" charset="-128"/>
                <a:ea typeface="Meiryo UI" pitchFamily="50" charset="-128"/>
                <a:cs typeface="Meiryo UI" pitchFamily="50" charset="-128"/>
              </a:rPr>
              <a:t> Bean</a:t>
            </a:r>
            <a:r>
              <a:rPr lang="ja-JP" altLang="en-US" sz="1400" dirty="0">
                <a:latin typeface="Meiryo UI" pitchFamily="50" charset="-128"/>
                <a:ea typeface="Meiryo UI" pitchFamily="50" charset="-128"/>
                <a:cs typeface="Meiryo UI" pitchFamily="50" charset="-128"/>
              </a:rPr>
              <a:t>構成、インライン</a:t>
            </a:r>
            <a:r>
              <a:rPr lang="en-US" altLang="ja-JP" sz="1400" dirty="0">
                <a:latin typeface="Meiryo UI" pitchFamily="50" charset="-128"/>
                <a:ea typeface="Meiryo UI" pitchFamily="50" charset="-128"/>
                <a:cs typeface="Meiryo UI" pitchFamily="50" charset="-128"/>
              </a:rPr>
              <a:t>SQL</a:t>
            </a:r>
          </a:p>
          <a:p>
            <a:pPr eaLnBrk="1" latinLnBrk="1" hangingPunct="1">
              <a:lnSpc>
                <a:spcPct val="150000"/>
              </a:lnSpc>
              <a:spcBef>
                <a:spcPct val="25000"/>
              </a:spcBef>
            </a:pPr>
            <a:r>
              <a:rPr lang="ja-JP" altLang="en-US" sz="1400" dirty="0">
                <a:latin typeface="Meiryo UI" pitchFamily="50" charset="-128"/>
                <a:ea typeface="Meiryo UI" pitchFamily="50" charset="-128"/>
                <a:cs typeface="Meiryo UI" pitchFamily="50" charset="-128"/>
              </a:rPr>
              <a:t>リニューアル版：旧版と仕様同等。</a:t>
            </a:r>
            <a:r>
              <a:rPr lang="en-US" altLang="ja-JP" sz="1400" dirty="0">
                <a:latin typeface="Meiryo UI" pitchFamily="50" charset="-128"/>
                <a:ea typeface="Meiryo UI" pitchFamily="50" charset="-128"/>
                <a:cs typeface="Meiryo UI" pitchFamily="50" charset="-128"/>
              </a:rPr>
              <a:t>HTML5</a:t>
            </a:r>
            <a:r>
              <a:rPr lang="ja-JP" altLang="en-US" sz="1400" dirty="0">
                <a:latin typeface="Meiryo UI" pitchFamily="50" charset="-128"/>
                <a:ea typeface="Meiryo UI" pitchFamily="50" charset="-128"/>
                <a:cs typeface="Meiryo UI" pitchFamily="50" charset="-128"/>
              </a:rPr>
              <a:t>対応のため、画面を</a:t>
            </a:r>
            <a:r>
              <a:rPr lang="en-US" altLang="ja-JP" sz="1400" dirty="0">
                <a:latin typeface="Meiryo UI" pitchFamily="50" charset="-128"/>
                <a:ea typeface="Meiryo UI" pitchFamily="50" charset="-128"/>
                <a:cs typeface="Meiryo UI" pitchFamily="50" charset="-128"/>
              </a:rPr>
              <a:t>EFW</a:t>
            </a:r>
            <a:r>
              <a:rPr lang="ja-JP" altLang="en-US" sz="1400" dirty="0">
                <a:latin typeface="Meiryo UI" pitchFamily="50" charset="-128"/>
                <a:ea typeface="Meiryo UI" pitchFamily="50" charset="-128"/>
                <a:cs typeface="Meiryo UI" pitchFamily="50" charset="-128"/>
              </a:rPr>
              <a:t>でリニューアル、出力などのロジックを流用</a:t>
            </a:r>
            <a:endParaRPr lang="en-US" altLang="ja-JP" sz="1400" dirty="0">
              <a:latin typeface="Meiryo UI" pitchFamily="50" charset="-128"/>
              <a:ea typeface="Meiryo UI" pitchFamily="50" charset="-128"/>
              <a:cs typeface="Meiryo UI" pitchFamily="50" charset="-128"/>
            </a:endParaRPr>
          </a:p>
          <a:p>
            <a:pPr eaLnBrk="1" latinLnBrk="1" hangingPunct="1">
              <a:lnSpc>
                <a:spcPct val="150000"/>
              </a:lnSpc>
              <a:spcBef>
                <a:spcPct val="25000"/>
              </a:spcBef>
            </a:pPr>
            <a:r>
              <a:rPr lang="ja-JP" altLang="en-US" sz="1400" dirty="0">
                <a:latin typeface="Meiryo UI" pitchFamily="50" charset="-128"/>
                <a:ea typeface="Meiryo UI" pitchFamily="50" charset="-128"/>
                <a:cs typeface="Meiryo UI" pitchFamily="50" charset="-128"/>
              </a:rPr>
              <a:t>パッケージ版：不要機能を削除、実現方法を調整。</a:t>
            </a:r>
            <a:r>
              <a:rPr lang="en-US" altLang="ja-JP" sz="1400" dirty="0" err="1">
                <a:latin typeface="Meiryo UI" pitchFamily="50" charset="-128"/>
                <a:ea typeface="Meiryo UI" pitchFamily="50" charset="-128"/>
                <a:cs typeface="Meiryo UI" pitchFamily="50" charset="-128"/>
              </a:rPr>
              <a:t>Efw</a:t>
            </a:r>
            <a:r>
              <a:rPr lang="ja-JP" altLang="en-US" sz="1400" dirty="0">
                <a:latin typeface="Meiryo UI" pitchFamily="50" charset="-128"/>
                <a:ea typeface="Meiryo UI" pitchFamily="50" charset="-128"/>
                <a:cs typeface="Meiryo UI" pitchFamily="50" charset="-128"/>
              </a:rPr>
              <a:t>の割合がもっと高くなった</a:t>
            </a:r>
            <a:endParaRPr lang="en-US" altLang="ja-JP" sz="1400" dirty="0">
              <a:latin typeface="Meiryo UI" pitchFamily="50" charset="-128"/>
              <a:ea typeface="Meiryo UI" pitchFamily="50" charset="-128"/>
              <a:cs typeface="Meiryo UI" pitchFamily="50" charset="-128"/>
            </a:endParaRPr>
          </a:p>
        </p:txBody>
      </p:sp>
    </p:spTree>
    <p:custDataLst>
      <p:tags r:id="rId1"/>
    </p:custDataLst>
    <p:extLst>
      <p:ext uri="{BB962C8B-B14F-4D97-AF65-F5344CB8AC3E}">
        <p14:creationId xmlns:p14="http://schemas.microsoft.com/office/powerpoint/2010/main" val="145238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3">
            <a:extLst>
              <a:ext uri="{FF2B5EF4-FFF2-40B4-BE49-F238E27FC236}">
                <a16:creationId xmlns:a16="http://schemas.microsoft.com/office/drawing/2014/main" id="{182A8ADD-3462-4E67-B199-CF98C42CF14B}"/>
              </a:ext>
            </a:extLst>
          </p:cNvPr>
          <p:cNvGraphicFramePr>
            <a:graphicFrameLocks noGrp="1"/>
          </p:cNvGraphicFramePr>
          <p:nvPr>
            <p:extLst>
              <p:ext uri="{D42A27DB-BD31-4B8C-83A1-F6EECF244321}">
                <p14:modId xmlns:p14="http://schemas.microsoft.com/office/powerpoint/2010/main" val="3555376792"/>
              </p:ext>
            </p:extLst>
          </p:nvPr>
        </p:nvGraphicFramePr>
        <p:xfrm>
          <a:off x="228600" y="1051169"/>
          <a:ext cx="8686800" cy="1803400"/>
        </p:xfrm>
        <a:graphic>
          <a:graphicData uri="http://schemas.openxmlformats.org/drawingml/2006/table">
            <a:tbl>
              <a:tblPr firstRow="1" bandRow="1">
                <a:tableStyleId>{5C22544A-7EE6-4342-B048-85BDC9FD1C3A}</a:tableStyleId>
              </a:tblPr>
              <a:tblGrid>
                <a:gridCol w="2389472">
                  <a:extLst>
                    <a:ext uri="{9D8B030D-6E8A-4147-A177-3AD203B41FA5}">
                      <a16:colId xmlns:a16="http://schemas.microsoft.com/office/drawing/2014/main" val="1426238588"/>
                    </a:ext>
                  </a:extLst>
                </a:gridCol>
                <a:gridCol w="5072513">
                  <a:extLst>
                    <a:ext uri="{9D8B030D-6E8A-4147-A177-3AD203B41FA5}">
                      <a16:colId xmlns:a16="http://schemas.microsoft.com/office/drawing/2014/main" val="3739985971"/>
                    </a:ext>
                  </a:extLst>
                </a:gridCol>
                <a:gridCol w="1224815">
                  <a:extLst>
                    <a:ext uri="{9D8B030D-6E8A-4147-A177-3AD203B41FA5}">
                      <a16:colId xmlns:a16="http://schemas.microsoft.com/office/drawing/2014/main" val="882576712"/>
                    </a:ext>
                  </a:extLst>
                </a:gridCol>
              </a:tblGrid>
              <a:tr h="370840">
                <a:tc>
                  <a:txBody>
                    <a:bodyPr/>
                    <a:lstStyle/>
                    <a:p>
                      <a:r>
                        <a:rPr lang="ja-JP" altLang="en-US" dirty="0"/>
                        <a:t>区分</a:t>
                      </a:r>
                    </a:p>
                  </a:txBody>
                  <a:tcPr/>
                </a:tc>
                <a:tc>
                  <a:txBody>
                    <a:bodyPr/>
                    <a:lstStyle/>
                    <a:p>
                      <a:r>
                        <a:rPr kumimoji="1" lang="ja-JP" altLang="en-US" dirty="0"/>
                        <a:t>計算式</a:t>
                      </a:r>
                    </a:p>
                  </a:txBody>
                  <a:tcPr/>
                </a:tc>
                <a:tc>
                  <a:txBody>
                    <a:bodyPr/>
                    <a:lstStyle/>
                    <a:p>
                      <a:r>
                        <a:rPr kumimoji="1" lang="ja-JP" altLang="en-US" dirty="0"/>
                        <a:t>値</a:t>
                      </a:r>
                    </a:p>
                  </a:txBody>
                  <a:tcPr/>
                </a:tc>
                <a:extLst>
                  <a:ext uri="{0D108BD9-81ED-4DB2-BD59-A6C34878D82A}">
                    <a16:rowId xmlns:a16="http://schemas.microsoft.com/office/drawing/2014/main" val="16230055"/>
                  </a:ext>
                </a:extLst>
              </a:tr>
              <a:tr h="321173">
                <a:tc>
                  <a:txBody>
                    <a:bodyPr/>
                    <a:lstStyle/>
                    <a:p>
                      <a:pPr marL="0" marR="0" lvl="0" indent="0" algn="l" defTabSz="844062" rtl="0" eaLnBrk="1" fontAlgn="auto" latinLnBrk="1" hangingPunct="1">
                        <a:lnSpc>
                          <a:spcPct val="100000"/>
                        </a:lnSpc>
                        <a:spcBef>
                          <a:spcPts val="0"/>
                        </a:spcBef>
                        <a:spcAft>
                          <a:spcPts val="0"/>
                        </a:spcAft>
                        <a:buClrTx/>
                        <a:buSzTx/>
                        <a:buFontTx/>
                        <a:buNone/>
                        <a:tabLst/>
                        <a:defRPr/>
                      </a:pPr>
                      <a:r>
                        <a:rPr lang="ja-JP" altLang="en-US" sz="1600" dirty="0"/>
                        <a:t>＜</a:t>
                      </a:r>
                      <a:r>
                        <a:rPr kumimoji="1" lang="en-US" altLang="ja-JP" sz="1600" dirty="0" err="1">
                          <a:solidFill>
                            <a:schemeClr val="tx1"/>
                          </a:solidFill>
                        </a:rPr>
                        <a:t>T</a:t>
                      </a:r>
                      <a:r>
                        <a:rPr kumimoji="1" lang="en-US" altLang="ja-JP" sz="1600" dirty="0" err="1"/>
                        <a:t>oBe</a:t>
                      </a:r>
                      <a:r>
                        <a:rPr kumimoji="1" lang="ja-JP" altLang="en-US" sz="1600" dirty="0"/>
                        <a:t>ソース量</a:t>
                      </a:r>
                      <a:r>
                        <a:rPr lang="ja-JP" altLang="en-US" sz="1600" dirty="0"/>
                        <a:t>＞</a:t>
                      </a:r>
                    </a:p>
                  </a:txBody>
                  <a:tcPr/>
                </a:tc>
                <a:tc gridSpan="2">
                  <a:txBody>
                    <a:bodyPr/>
                    <a:lstStyle/>
                    <a:p>
                      <a:r>
                        <a:rPr kumimoji="1" lang="en-US" altLang="ja-JP" sz="1600" dirty="0"/>
                        <a:t>(</a:t>
                      </a:r>
                      <a:r>
                        <a:rPr kumimoji="1" lang="en-US" altLang="ja-JP" sz="1600" dirty="0" err="1">
                          <a:solidFill>
                            <a:schemeClr val="tx1"/>
                          </a:solidFill>
                        </a:rPr>
                        <a:t>A</a:t>
                      </a:r>
                      <a:r>
                        <a:rPr kumimoji="1" lang="en-US" altLang="ja-JP" sz="1600" dirty="0" err="1"/>
                        <a:t>sIs</a:t>
                      </a:r>
                      <a:r>
                        <a:rPr kumimoji="1" lang="ja-JP" altLang="en-US" sz="1600" dirty="0"/>
                        <a:t>ソース量 </a:t>
                      </a:r>
                      <a:r>
                        <a:rPr kumimoji="1" lang="en-US" altLang="ja-JP" sz="1600" dirty="0"/>
                        <a:t>- </a:t>
                      </a:r>
                      <a:r>
                        <a:rPr kumimoji="1" lang="ja-JP" altLang="en-US" sz="1600" dirty="0"/>
                        <a:t>参考不要ソース量</a:t>
                      </a:r>
                      <a:r>
                        <a:rPr kumimoji="1" lang="en-US" altLang="ja-JP" sz="1600" dirty="0"/>
                        <a:t>) * (100% - EFW</a:t>
                      </a:r>
                      <a:r>
                        <a:rPr kumimoji="1" lang="ja-JP" altLang="en-US" sz="1600" dirty="0"/>
                        <a:t>ソース削減率</a:t>
                      </a:r>
                      <a:r>
                        <a:rPr kumimoji="1" lang="en-US" altLang="ja-JP" sz="1600" dirty="0"/>
                        <a:t>)</a:t>
                      </a:r>
                      <a:endParaRPr kumimoji="1" lang="ja-JP" altLang="en-US" sz="1600" dirty="0"/>
                    </a:p>
                  </a:txBody>
                  <a:tcPr/>
                </a:tc>
                <a:tc hMerge="1">
                  <a:txBody>
                    <a:bodyPr/>
                    <a:lstStyle/>
                    <a:p>
                      <a:endParaRPr kumimoji="1" lang="ja-JP" altLang="en-US" dirty="0"/>
                    </a:p>
                  </a:txBody>
                  <a:tcPr/>
                </a:tc>
                <a:extLst>
                  <a:ext uri="{0D108BD9-81ED-4DB2-BD59-A6C34878D82A}">
                    <a16:rowId xmlns:a16="http://schemas.microsoft.com/office/drawing/2014/main" val="4101559998"/>
                  </a:ext>
                </a:extLst>
              </a:tr>
              <a:tr h="0">
                <a:tc>
                  <a:txBody>
                    <a:bodyPr/>
                    <a:lstStyle/>
                    <a:p>
                      <a:endParaRPr lang="ja-JP" altLang="en-US" sz="1600" dirty="0"/>
                    </a:p>
                  </a:txBody>
                  <a:tcPr/>
                </a:tc>
                <a:tc>
                  <a:txBody>
                    <a:bodyPr/>
                    <a:lstStyle/>
                    <a:p>
                      <a:r>
                        <a:rPr kumimoji="1" lang="en-US" altLang="ja-JP" sz="1600" dirty="0"/>
                        <a:t>(</a:t>
                      </a:r>
                      <a:r>
                        <a:rPr kumimoji="1" lang="en-US" altLang="ja-JP" sz="1600" b="1" dirty="0">
                          <a:solidFill>
                            <a:srgbClr val="FF0000"/>
                          </a:solidFill>
                        </a:rPr>
                        <a:t>580.6KL</a:t>
                      </a:r>
                      <a:r>
                        <a:rPr kumimoji="1" lang="en-US" altLang="ja-JP" sz="1600" dirty="0"/>
                        <a:t> – (279.8KL + 10.0KL)) * ( 100% - 50%) </a:t>
                      </a:r>
                      <a:endParaRPr kumimoji="1" lang="ja-JP" altLang="en-US" sz="1600" dirty="0"/>
                    </a:p>
                  </a:txBody>
                  <a:tcPr/>
                </a:tc>
                <a:tc>
                  <a:txBody>
                    <a:bodyPr/>
                    <a:lstStyle/>
                    <a:p>
                      <a:pPr algn="r"/>
                      <a:r>
                        <a:rPr kumimoji="1" lang="en-US" altLang="ja-JP" b="1" dirty="0">
                          <a:solidFill>
                            <a:schemeClr val="accent2"/>
                          </a:solidFill>
                        </a:rPr>
                        <a:t>145.4KL</a:t>
                      </a:r>
                      <a:endParaRPr kumimoji="1" lang="ja-JP" altLang="en-US" b="1" dirty="0">
                        <a:solidFill>
                          <a:schemeClr val="accent2"/>
                        </a:solidFill>
                      </a:endParaRPr>
                    </a:p>
                  </a:txBody>
                  <a:tcPr/>
                </a:tc>
                <a:extLst>
                  <a:ext uri="{0D108BD9-81ED-4DB2-BD59-A6C34878D82A}">
                    <a16:rowId xmlns:a16="http://schemas.microsoft.com/office/drawing/2014/main" val="2881584145"/>
                  </a:ext>
                </a:extLst>
              </a:tr>
              <a:tr h="0">
                <a:tc>
                  <a:txBody>
                    <a:bodyPr/>
                    <a:lstStyle/>
                    <a:p>
                      <a:pPr marL="0" marR="0" lvl="0" indent="0" algn="l" defTabSz="844062" rtl="0" eaLnBrk="1" fontAlgn="auto" latinLnBrk="1" hangingPunct="1">
                        <a:lnSpc>
                          <a:spcPct val="100000"/>
                        </a:lnSpc>
                        <a:spcBef>
                          <a:spcPts val="0"/>
                        </a:spcBef>
                        <a:spcAft>
                          <a:spcPts val="0"/>
                        </a:spcAft>
                        <a:buClrTx/>
                        <a:buSzTx/>
                        <a:buFontTx/>
                        <a:buNone/>
                        <a:tabLst/>
                        <a:defRPr/>
                      </a:pPr>
                      <a:r>
                        <a:rPr lang="ja-JP" altLang="en-US" sz="1600" dirty="0"/>
                        <a:t>＜</a:t>
                      </a:r>
                      <a:r>
                        <a:rPr kumimoji="1" lang="en-US" altLang="ja-JP" sz="1600" dirty="0" err="1">
                          <a:solidFill>
                            <a:schemeClr val="tx1"/>
                          </a:solidFill>
                        </a:rPr>
                        <a:t>To</a:t>
                      </a:r>
                      <a:r>
                        <a:rPr kumimoji="1" lang="en-US" altLang="ja-JP" sz="1600" dirty="0" err="1"/>
                        <a:t>Be</a:t>
                      </a:r>
                      <a:r>
                        <a:rPr kumimoji="1" lang="ja-JP" altLang="en-US" sz="1600" dirty="0"/>
                        <a:t>製造単体工数</a:t>
                      </a:r>
                      <a:r>
                        <a:rPr lang="ja-JP" altLang="en-US" sz="1600" dirty="0"/>
                        <a:t>＞</a:t>
                      </a:r>
                    </a:p>
                  </a:txBody>
                  <a:tcPr/>
                </a:tc>
                <a:tc>
                  <a:txBody>
                    <a:bodyPr/>
                    <a:lstStyle/>
                    <a:p>
                      <a:r>
                        <a:rPr kumimoji="1" lang="en-US" altLang="ja-JP" sz="1600" dirty="0" err="1">
                          <a:solidFill>
                            <a:schemeClr val="tx1"/>
                          </a:solidFill>
                        </a:rPr>
                        <a:t>ToBe</a:t>
                      </a:r>
                      <a:r>
                        <a:rPr kumimoji="1" lang="ja-JP" altLang="en-US" sz="1600" dirty="0"/>
                        <a:t>ソース量 </a:t>
                      </a:r>
                      <a:r>
                        <a:rPr kumimoji="1" lang="en-US" altLang="ja-JP" sz="1600" dirty="0"/>
                        <a:t>/ EFW</a:t>
                      </a:r>
                      <a:r>
                        <a:rPr kumimoji="1" lang="ja-JP" altLang="en-US" sz="1600" dirty="0"/>
                        <a:t>製造単体人日生産性 </a:t>
                      </a:r>
                      <a:r>
                        <a:rPr kumimoji="1" lang="en-US" altLang="ja-JP" sz="1600" dirty="0"/>
                        <a:t>/</a:t>
                      </a:r>
                      <a:r>
                        <a:rPr kumimoji="1" lang="ja-JP" altLang="en-US" sz="1600" dirty="0"/>
                        <a:t> </a:t>
                      </a:r>
                      <a:r>
                        <a:rPr kumimoji="1" lang="en-US" altLang="ja-JP" sz="1600" dirty="0"/>
                        <a:t>20</a:t>
                      </a:r>
                      <a:endParaRPr kumimoji="1" lang="ja-JP" altLang="en-US" sz="1600" dirty="0"/>
                    </a:p>
                  </a:txBody>
                  <a:tcPr/>
                </a:tc>
                <a:tc>
                  <a:txBody>
                    <a:bodyPr/>
                    <a:lstStyle/>
                    <a:p>
                      <a:pPr algn="l"/>
                      <a:endParaRPr kumimoji="1" lang="ja-JP" altLang="en-US" dirty="0"/>
                    </a:p>
                  </a:txBody>
                  <a:tcPr/>
                </a:tc>
                <a:extLst>
                  <a:ext uri="{0D108BD9-81ED-4DB2-BD59-A6C34878D82A}">
                    <a16:rowId xmlns:a16="http://schemas.microsoft.com/office/drawing/2014/main" val="3156127585"/>
                  </a:ext>
                </a:extLst>
              </a:tr>
              <a:tr h="0">
                <a:tc>
                  <a:txBody>
                    <a:bodyPr/>
                    <a:lstStyle/>
                    <a:p>
                      <a:endParaRPr lang="ja-JP" altLang="en-US" sz="1600" dirty="0"/>
                    </a:p>
                  </a:txBody>
                  <a:tcPr/>
                </a:tc>
                <a:tc>
                  <a:txBody>
                    <a:bodyPr/>
                    <a:lstStyle/>
                    <a:p>
                      <a:r>
                        <a:rPr kumimoji="1" lang="en-US" altLang="ja-JP" sz="1600" dirty="0"/>
                        <a:t>145.4KL</a:t>
                      </a:r>
                      <a:r>
                        <a:rPr kumimoji="1" lang="ja-JP" altLang="en-US" sz="1600" dirty="0"/>
                        <a:t> </a:t>
                      </a:r>
                      <a:r>
                        <a:rPr kumimoji="1" lang="en-US" altLang="ja-JP" sz="1600" dirty="0"/>
                        <a:t>/</a:t>
                      </a:r>
                      <a:r>
                        <a:rPr kumimoji="1" lang="ja-JP" altLang="en-US" sz="1600" dirty="0"/>
                        <a:t> </a:t>
                      </a:r>
                      <a:r>
                        <a:rPr kumimoji="1" lang="en-US" altLang="ja-JP" sz="1600" dirty="0"/>
                        <a:t>142</a:t>
                      </a:r>
                      <a:r>
                        <a:rPr kumimoji="1" lang="ja-JP" altLang="en-US" sz="1600" dirty="0"/>
                        <a:t> </a:t>
                      </a:r>
                      <a:r>
                        <a:rPr kumimoji="1" lang="en-US" altLang="ja-JP" sz="1600" dirty="0"/>
                        <a:t>/ 20</a:t>
                      </a:r>
                      <a:endParaRPr kumimoji="1" lang="ja-JP" altLang="en-US" sz="1600" dirty="0"/>
                    </a:p>
                  </a:txBody>
                  <a:tcPr/>
                </a:tc>
                <a:tc>
                  <a:txBody>
                    <a:bodyPr/>
                    <a:lstStyle/>
                    <a:p>
                      <a:pPr algn="r"/>
                      <a:r>
                        <a:rPr kumimoji="1" lang="en-US" altLang="ja-JP" dirty="0"/>
                        <a:t>51.2</a:t>
                      </a:r>
                      <a:r>
                        <a:rPr kumimoji="1" lang="ja-JP" altLang="en-US" dirty="0"/>
                        <a:t>人月</a:t>
                      </a:r>
                    </a:p>
                  </a:txBody>
                  <a:tcPr/>
                </a:tc>
                <a:extLst>
                  <a:ext uri="{0D108BD9-81ED-4DB2-BD59-A6C34878D82A}">
                    <a16:rowId xmlns:a16="http://schemas.microsoft.com/office/drawing/2014/main" val="2774168706"/>
                  </a:ext>
                </a:extLst>
              </a:tr>
            </a:tbl>
          </a:graphicData>
        </a:graphic>
      </p:graphicFrame>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17</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a:t>
            </a:r>
            <a:r>
              <a:rPr lang="en-US" altLang="ja-JP" sz="2800" dirty="0">
                <a:solidFill>
                  <a:schemeClr val="tx2"/>
                </a:solidFill>
                <a:latin typeface="Meiryo UI" pitchFamily="50" charset="-128"/>
                <a:ea typeface="Meiryo UI" pitchFamily="50" charset="-128"/>
                <a:cs typeface="Meiryo UI" pitchFamily="50" charset="-128"/>
              </a:rPr>
              <a:t>Java</a:t>
            </a:r>
            <a:r>
              <a:rPr lang="ja-JP" altLang="en-US" sz="2800" dirty="0">
                <a:solidFill>
                  <a:schemeClr val="tx2"/>
                </a:solidFill>
                <a:latin typeface="Meiryo UI" pitchFamily="50" charset="-128"/>
                <a:ea typeface="Meiryo UI" pitchFamily="50" charset="-128"/>
                <a:cs typeface="Meiryo UI" pitchFamily="50" charset="-128"/>
              </a:rPr>
              <a:t>＆</a:t>
            </a:r>
            <a:r>
              <a:rPr lang="en-US" altLang="ja-JP" sz="2800" dirty="0">
                <a:solidFill>
                  <a:schemeClr val="tx2"/>
                </a:solidFill>
                <a:latin typeface="Meiryo UI" pitchFamily="50" charset="-128"/>
                <a:ea typeface="Meiryo UI" pitchFamily="50" charset="-128"/>
                <a:cs typeface="Meiryo UI" pitchFamily="50" charset="-128"/>
              </a:rPr>
              <a:t>Flex </a:t>
            </a:r>
            <a:r>
              <a:rPr lang="ja-JP" altLang="en-US" sz="2800" dirty="0">
                <a:solidFill>
                  <a:schemeClr val="tx2"/>
                </a:solidFill>
                <a:latin typeface="Meiryo UI" pitchFamily="50" charset="-128"/>
                <a:ea typeface="Meiryo UI" pitchFamily="50" charset="-128"/>
                <a:cs typeface="Meiryo UI" pitchFamily="50" charset="-128"/>
              </a:rPr>
              <a:t>システム</a:t>
            </a:r>
            <a:r>
              <a:rPr lang="ja-JP" altLang="en-US" sz="2800">
                <a:solidFill>
                  <a:schemeClr val="tx2"/>
                </a:solidFill>
                <a:latin typeface="Meiryo UI" pitchFamily="50" charset="-128"/>
                <a:ea typeface="Meiryo UI" pitchFamily="50" charset="-128"/>
                <a:cs typeface="Meiryo UI" pitchFamily="50" charset="-128"/>
              </a:rPr>
              <a:t>のコンバージョン提案</a:t>
            </a:r>
            <a:endParaRPr lang="ja-JP" altLang="en-US" sz="2800" dirty="0">
              <a:solidFill>
                <a:schemeClr val="tx2"/>
              </a:solidFill>
              <a:latin typeface="Meiryo UI" pitchFamily="50" charset="-128"/>
              <a:ea typeface="Meiryo UI" pitchFamily="50" charset="-128"/>
              <a:cs typeface="Meiryo UI" pitchFamily="50" charset="-128"/>
            </a:endParaRPr>
          </a:p>
        </p:txBody>
      </p:sp>
      <p:sp>
        <p:nvSpPr>
          <p:cNvPr id="8" name="テキスト ボックス 7">
            <a:extLst>
              <a:ext uri="{FF2B5EF4-FFF2-40B4-BE49-F238E27FC236}">
                <a16:creationId xmlns:a16="http://schemas.microsoft.com/office/drawing/2014/main" id="{4729228B-22B0-47B9-B1D0-A8F45CE4F8B9}"/>
              </a:ext>
            </a:extLst>
          </p:cNvPr>
          <p:cNvSpPr txBox="1"/>
          <p:nvPr/>
        </p:nvSpPr>
        <p:spPr>
          <a:xfrm>
            <a:off x="264014" y="2967335"/>
            <a:ext cx="8651385" cy="1200329"/>
          </a:xfrm>
          <a:prstGeom prst="rect">
            <a:avLst/>
          </a:prstGeom>
          <a:noFill/>
        </p:spPr>
        <p:txBody>
          <a:bodyPr wrap="square" rtlCol="0">
            <a:spAutoFit/>
          </a:bodyPr>
          <a:lstStyle/>
          <a:p>
            <a:r>
              <a:rPr lang="en-US" altLang="ja-JP" dirty="0"/>
              <a:t>※</a:t>
            </a:r>
            <a:r>
              <a:rPr lang="ja-JP" altLang="en-US" dirty="0"/>
              <a:t>当該システムは、</a:t>
            </a:r>
            <a:r>
              <a:rPr lang="en-US" altLang="ja-JP" dirty="0"/>
              <a:t>Java MVC</a:t>
            </a:r>
            <a:r>
              <a:rPr lang="ja-JP" altLang="en-US" dirty="0"/>
              <a:t>および</a:t>
            </a:r>
            <a:r>
              <a:rPr lang="en-US" altLang="ja-JP" dirty="0"/>
              <a:t>Flex</a:t>
            </a:r>
            <a:r>
              <a:rPr lang="ja-JP" altLang="en-US" dirty="0"/>
              <a:t>のそれぞれに</a:t>
            </a:r>
            <a:r>
              <a:rPr lang="en-US" altLang="ja-JP" dirty="0"/>
              <a:t>2</a:t>
            </a:r>
            <a:r>
              <a:rPr lang="ja-JP" altLang="en-US" dirty="0"/>
              <a:t>重のデータ層を備えた構造となっています。この特異なアーキテクチャにより、</a:t>
            </a:r>
            <a:r>
              <a:rPr lang="en-US" altLang="ja-JP" dirty="0"/>
              <a:t>EFW</a:t>
            </a:r>
            <a:r>
              <a:rPr lang="ja-JP" altLang="en-US" dirty="0"/>
              <a:t>コンバージョン時の工数を大幅に削減できるため、弊社（エスコ）の見積額は他社平均の約</a:t>
            </a:r>
            <a:r>
              <a:rPr lang="en-US" altLang="ja-JP" dirty="0"/>
              <a:t>50%</a:t>
            </a:r>
            <a:r>
              <a:rPr lang="ja-JP" altLang="en-US" dirty="0"/>
              <a:t>という高いコストパフォーマンスを実現しています。</a:t>
            </a:r>
            <a:endParaRPr kumimoji="1" lang="ja-JP" altLang="en-US" dirty="0"/>
          </a:p>
        </p:txBody>
      </p:sp>
    </p:spTree>
    <p:custDataLst>
      <p:tags r:id="rId1"/>
    </p:custDataLst>
    <p:extLst>
      <p:ext uri="{BB962C8B-B14F-4D97-AF65-F5344CB8AC3E}">
        <p14:creationId xmlns:p14="http://schemas.microsoft.com/office/powerpoint/2010/main" val="11647527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FIRST_PUBLISH" val="1"/>
  <p:tag name="ISPRING_LMS_API_VERSION" val="SCORM 1.2"/>
  <p:tag name="ISPRING_ULTRA_SCORM_COURSE_ID" val="2FB98E69-29C4-4A6B-85DC-5AA21706F4F0"/>
  <p:tag name="ISPRING_CMI5_LAUNCH_METHOD" val="any window"/>
  <p:tag name="ISPRING_SCORM_RATE_SLIDES" val="1"/>
  <p:tag name="ISPRINGCLOUDFOLDERID" val="1"/>
  <p:tag name="ISPRINGONLINEFOLDERID" val="1"/>
  <p:tag name="ISPRING_SCORM_PASSING_SCORE" val="100.000000"/>
  <p:tag name="ISPRING_ULTRA_SCORM_COURCE_TITLE" val="EFW紹介v2.0"/>
  <p:tag name="ISPRING_SCORM_ENDPOINT" val="&lt;endpoint&gt;&lt;enable&gt;0&lt;/enable&gt;&lt;lrs&gt;http://&lt;/lrs&gt;&lt;auth&gt;0&lt;/auth&gt;&lt;login&gt;&lt;/login&gt;&lt;password&gt;&lt;/password&gt;&lt;key&gt;&lt;/key&gt;&lt;name&gt;&lt;/name&gt;&lt;email&gt;&lt;/email&gt;&lt;/endpoint&gt;&#10;"/>
  <p:tag name="ISPRING_OUTPUT_FOLDER" val="[[&quot;f\uFFFD_\u0000{F3869DA2-F2D5-46CF-899A-5B1CA6DA96AF}&quot;,&quot;C:\\Users\\kejun.chang\\Documents\\GitHub\\efw4_online_ppt&quot;],[&quot;x6\&quot;T{0A1F2BAE-1CEA-4DCF-97F0-F7F7D714EBC9}&quot;,&quot;C:\\Users\\kejun.chang\\Documents\\GitHub\\efw4_online_ppt&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quot;studioSettings&quot;:{}}"/>
  <p:tag name="ISPRING_SCORM_RATE_QUIZZES" val="0"/>
  <p:tag name="ISPRING_PRESENTATION_TITLE" val="EFW紹介v2.0"/>
</p:tagLst>
</file>

<file path=ppt/tags/tag2.xml><?xml version="1.0" encoding="utf-8"?>
<p:tagLst xmlns:a="http://schemas.openxmlformats.org/drawingml/2006/main" xmlns:r="http://schemas.openxmlformats.org/officeDocument/2006/relationships" xmlns:p="http://schemas.openxmlformats.org/presentationml/2006/main">
  <p:tag name="GENSWF_SLIDE_UID" val="{EC7C33A8-C2B1-4682-89A6-1A361AE1F6B3}:392"/>
</p:tagLst>
</file>

<file path=ppt/tags/tag3.xml><?xml version="1.0" encoding="utf-8"?>
<p:tagLst xmlns:a="http://schemas.openxmlformats.org/drawingml/2006/main" xmlns:r="http://schemas.openxmlformats.org/officeDocument/2006/relationships" xmlns:p="http://schemas.openxmlformats.org/presentationml/2006/main">
  <p:tag name="GENSWF_SLIDE_UID" val="{00B6E1A9-799C-460A-9A45-18F5DC7CF044}:417"/>
</p:tagLst>
</file>

<file path=ppt/tags/tag4.xml><?xml version="1.0" encoding="utf-8"?>
<p:tagLst xmlns:a="http://schemas.openxmlformats.org/drawingml/2006/main" xmlns:r="http://schemas.openxmlformats.org/officeDocument/2006/relationships" xmlns:p="http://schemas.openxmlformats.org/presentationml/2006/main">
  <p:tag name="GENSWF_SLIDE_UID" val="{19EC2CAA-27FA-4803-8294-09CA3B62CEEE}:410"/>
</p:tagLst>
</file>

<file path=ppt/tags/tag5.xml><?xml version="1.0" encoding="utf-8"?>
<p:tagLst xmlns:a="http://schemas.openxmlformats.org/drawingml/2006/main" xmlns:r="http://schemas.openxmlformats.org/officeDocument/2006/relationships" xmlns:p="http://schemas.openxmlformats.org/presentationml/2006/main">
  <p:tag name="GENSWF_SLIDE_UID" val="{C1FF5DDD-56CF-4800-A719-9A613A1D7B02}:431"/>
</p:tagLst>
</file>

<file path=ppt/tags/tag6.xml><?xml version="1.0" encoding="utf-8"?>
<p:tagLst xmlns:a="http://schemas.openxmlformats.org/drawingml/2006/main" xmlns:r="http://schemas.openxmlformats.org/officeDocument/2006/relationships" xmlns:p="http://schemas.openxmlformats.org/presentationml/2006/main">
  <p:tag name="GENSWF_SLIDE_UID" val="{8A75CF2B-B70A-4D06-B37C-99B8EF9C48ED}:406"/>
</p:tagLst>
</file>

<file path=ppt/tags/tag7.xml><?xml version="1.0" encoding="utf-8"?>
<p:tagLst xmlns:a="http://schemas.openxmlformats.org/drawingml/2006/main" xmlns:r="http://schemas.openxmlformats.org/officeDocument/2006/relationships" xmlns:p="http://schemas.openxmlformats.org/presentationml/2006/main">
  <p:tag name="GENSWF_SLIDE_UID" val="{557556E6-AF0F-4732-9EA1-A80B93FF9617}:422"/>
</p:tagLst>
</file>

<file path=ppt/tags/tag8.xml><?xml version="1.0" encoding="utf-8"?>
<p:tagLst xmlns:a="http://schemas.openxmlformats.org/drawingml/2006/main" xmlns:r="http://schemas.openxmlformats.org/officeDocument/2006/relationships" xmlns:p="http://schemas.openxmlformats.org/presentationml/2006/main">
  <p:tag name="GENSWF_SLIDE_UID" val="{CE0768C8-6551-410F-A40A-358A63710479}:425"/>
</p:tagLst>
</file>

<file path=ppt/tags/tag9.xml><?xml version="1.0" encoding="utf-8"?>
<p:tagLst xmlns:a="http://schemas.openxmlformats.org/drawingml/2006/main" xmlns:r="http://schemas.openxmlformats.org/officeDocument/2006/relationships" xmlns:p="http://schemas.openxmlformats.org/presentationml/2006/main">
  <p:tag name="GENSWF_SLIDE_UID" val="{4F7106E5-B841-48E4-B9E0-E34E18492151}:415"/>
</p:tagLst>
</file>

<file path=ppt/tags/tag10.xml><?xml version="1.0" encoding="utf-8"?>
<p:tagLst xmlns:a="http://schemas.openxmlformats.org/drawingml/2006/main" xmlns:r="http://schemas.openxmlformats.org/officeDocument/2006/relationships" xmlns:p="http://schemas.openxmlformats.org/presentationml/2006/main">
  <p:tag name="GENSWF_SLIDE_UID" val="{67DC0CAD-A455-4B70-85A7-D82CA6B7593A}:426"/>
</p:tagLst>
</file>

<file path=ppt/tags/tag11.xml><?xml version="1.0" encoding="utf-8"?>
<p:tagLst xmlns:a="http://schemas.openxmlformats.org/drawingml/2006/main" xmlns:r="http://schemas.openxmlformats.org/officeDocument/2006/relationships" xmlns:p="http://schemas.openxmlformats.org/presentationml/2006/main">
  <p:tag name="GENSWF_SLIDE_UID" val="{C3FAC2B9-75B1-48A1-AE25-7FB343AA9C3D}:428"/>
</p:tagLst>
</file>

<file path=ppt/tags/tag12.xml><?xml version="1.0" encoding="utf-8"?>
<p:tagLst xmlns:a="http://schemas.openxmlformats.org/drawingml/2006/main" xmlns:r="http://schemas.openxmlformats.org/officeDocument/2006/relationships" xmlns:p="http://schemas.openxmlformats.org/presentationml/2006/main">
  <p:tag name="GENSWF_SLIDE_UID" val="{37D5BAAD-4CF5-4F5E-8C0C-E837EDA2B3A0}:427"/>
</p:tagLst>
</file>

<file path=ppt/tags/tag13.xml><?xml version="1.0" encoding="utf-8"?>
<p:tagLst xmlns:a="http://schemas.openxmlformats.org/drawingml/2006/main" xmlns:r="http://schemas.openxmlformats.org/officeDocument/2006/relationships" xmlns:p="http://schemas.openxmlformats.org/presentationml/2006/main">
  <p:tag name="GENSWF_SLIDE_UID" val="{CAFD183A-4EDB-426F-9A89-E5CC2061713D}:433"/>
</p:tagLst>
</file>

<file path=ppt/tags/tag14.xml><?xml version="1.0" encoding="utf-8"?>
<p:tagLst xmlns:a="http://schemas.openxmlformats.org/drawingml/2006/main" xmlns:r="http://schemas.openxmlformats.org/officeDocument/2006/relationships" xmlns:p="http://schemas.openxmlformats.org/presentationml/2006/main">
  <p:tag name="GENSWF_SLIDE_UID" val="{2D78D125-9F24-4BAD-A56D-DAD2A792B701}:416"/>
</p:tagLst>
</file>

<file path=ppt/tags/tag15.xml><?xml version="1.0" encoding="utf-8"?>
<p:tagLst xmlns:a="http://schemas.openxmlformats.org/drawingml/2006/main" xmlns:r="http://schemas.openxmlformats.org/officeDocument/2006/relationships" xmlns:p="http://schemas.openxmlformats.org/presentationml/2006/main">
  <p:tag name="GENSWF_SLIDE_UID" val="{6D12EAC1-3493-425A-9FEC-59B2BFFB73AB}:430"/>
</p:tagLst>
</file>

<file path=ppt/tags/tag16.xml><?xml version="1.0" encoding="utf-8"?>
<p:tagLst xmlns:a="http://schemas.openxmlformats.org/drawingml/2006/main" xmlns:r="http://schemas.openxmlformats.org/officeDocument/2006/relationships" xmlns:p="http://schemas.openxmlformats.org/presentationml/2006/main">
  <p:tag name="GENSWF_SLIDE_UID" val="{2183A879-1FB3-43D9-8488-7216FA33F4B9}:436"/>
</p:tagLst>
</file>

<file path=ppt/tags/tag17.xml><?xml version="1.0" encoding="utf-8"?>
<p:tagLst xmlns:a="http://schemas.openxmlformats.org/drawingml/2006/main" xmlns:r="http://schemas.openxmlformats.org/officeDocument/2006/relationships" xmlns:p="http://schemas.openxmlformats.org/presentationml/2006/main">
  <p:tag name="GENSWF_SLIDE_UID" val="{05CF7497-A58C-4057-A1F7-1724DB42F005}:432"/>
</p:tagLst>
</file>

<file path=ppt/tags/tag18.xml><?xml version="1.0" encoding="utf-8"?>
<p:tagLst xmlns:a="http://schemas.openxmlformats.org/drawingml/2006/main" xmlns:r="http://schemas.openxmlformats.org/officeDocument/2006/relationships" xmlns:p="http://schemas.openxmlformats.org/presentationml/2006/main">
  <p:tag name="GENSWF_SLIDE_UID" val="{C2477989-1F2B-4794-99DD-E24E3AEF2227}:431"/>
</p:tagLst>
</file>

<file path=ppt/tags/tag19.xml><?xml version="1.0" encoding="utf-8"?>
<p:tagLst xmlns:a="http://schemas.openxmlformats.org/drawingml/2006/main" xmlns:r="http://schemas.openxmlformats.org/officeDocument/2006/relationships" xmlns:p="http://schemas.openxmlformats.org/presentationml/2006/main">
  <p:tag name="GENSWF_SLIDE_UID" val="{05CF7497-A58C-4057-A1F7-1724DB42F005}:432"/>
</p:tagLst>
</file>

<file path=ppt/theme/theme1.xml><?xml version="1.0" encoding="utf-8"?>
<a:theme xmlns:a="http://schemas.openxmlformats.org/drawingml/2006/main" name="1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1_Office ​​テーマ">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rtlCol="0" anchor="ctr"/>
      <a:lstStyle>
        <a:defPPr algn="ctr">
          <a:defRPr kumimoji="1" sz="1400"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defRPr>
        </a:defPPr>
      </a:lstStyle>
      <a:style>
        <a:lnRef idx="3">
          <a:schemeClr val="lt1"/>
        </a:lnRef>
        <a:fillRef idx="1">
          <a:schemeClr val="accent5"/>
        </a:fillRef>
        <a:effectRef idx="1">
          <a:schemeClr val="accent5"/>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37424</TotalTime>
  <Words>2762</Words>
  <Application>Microsoft Office PowerPoint</Application>
  <PresentationFormat>画面に合わせる (4:3)</PresentationFormat>
  <Paragraphs>622</Paragraphs>
  <Slides>18</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Meiryo UI</vt:lpstr>
      <vt:lpstr>ＭＳ Ｐゴシック</vt:lpstr>
      <vt:lpstr>MS UI Gothic</vt:lpstr>
      <vt:lpstr>Arial</vt:lpstr>
      <vt:lpstr>Calibri</vt:lpstr>
      <vt:lpstr>Wingdings</vt:lpstr>
      <vt:lpstr>1_Office ​​テーマ</vt:lpstr>
      <vt:lpstr>PowerPoint プレゼンテーション</vt:lpstr>
      <vt:lpstr>目次</vt:lpstr>
      <vt:lpstr>１．EFWとは</vt:lpstr>
      <vt:lpstr>２．EFWの生産性とコスト削減効果</vt:lpstr>
      <vt:lpstr>３．プログラムの可読性</vt:lpstr>
      <vt:lpstr>４－１．従来のWEB開発における問題1</vt:lpstr>
      <vt:lpstr>４－２．従来のWEB開発における問題2</vt:lpstr>
      <vt:lpstr>５－１．従来問題１の解決</vt:lpstr>
      <vt:lpstr>５－２．従来問題２の解決</vt:lpstr>
      <vt:lpstr>６．EFWの資材</vt:lpstr>
      <vt:lpstr>７．実績一覧</vt:lpstr>
      <vt:lpstr>７．実績一覧（ページ数情報）</vt:lpstr>
      <vt:lpstr>８．EFW導入の効果</vt:lpstr>
      <vt:lpstr>８．利用者からの褒め言葉</vt:lpstr>
      <vt:lpstr>添付．EFWとMVCの比較（テストプログラム）</vt:lpstr>
      <vt:lpstr>添付．営業システム（EFW開発）の分析</vt:lpstr>
      <vt:lpstr>添付．要件定義システムの新旧比較(コンバージョン事例)</vt:lpstr>
      <vt:lpstr>添付．Java＆Flex システムのコンバージョン提案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EFW紹介v2.0</dc:title>
  <dc:creator>常 珂軍</dc:creator>
  <cp:lastModifiedBy>常 珂軍</cp:lastModifiedBy>
  <cp:revision>4494</cp:revision>
  <cp:lastPrinted>2012-10-25T09:56:50Z</cp:lastPrinted>
  <dcterms:modified xsi:type="dcterms:W3CDTF">2026-01-16T01:15:13Z</dcterms:modified>
</cp:coreProperties>
</file>